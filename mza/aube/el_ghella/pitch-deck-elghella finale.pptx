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Default Extension="png" ContentType="image/png"/>
  <Override PartName="/ppt/notesSlides/notesSlide1.xml" ContentType="application/vnd.openxmlformats-officedocument.presentationml.notesSlide+xml"/>
  <Default Extension="svg" ContentType="image/svg+xml"/>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Default Extension="fntdata" ContentType="application/x-fontdata"/>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20"/>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3" r:id="rId17"/>
    <p:sldId id="271" r:id="rId18"/>
    <p:sldId id="272" r:id="rId19"/>
  </p:sldIdLst>
  <p:sldSz cx="18288000" cy="10287000"/>
  <p:notesSz cx="6858000" cy="9144000"/>
  <p:embeddedFontLst>
    <p:embeddedFont>
      <p:font typeface="Calibri" pitchFamily="34" charset="0"/>
      <p:regular r:id="rId21"/>
      <p:bold r:id="rId22"/>
      <p:italic r:id="rId23"/>
      <p:boldItalic r:id="rId24"/>
    </p:embeddedFont>
    <p:embeddedFont>
      <p:font typeface="Poppins Bold" charset="0"/>
      <p:regular r:id="rId25"/>
    </p:embeddedFont>
    <p:embeddedFont>
      <p:font typeface="Poppins" charset="0"/>
      <p:regular r:id="rId26"/>
      <p:bold r:id="rId27"/>
      <p:italic r:id="rId28"/>
      <p:boldItalic r:id="rId29"/>
    </p:embeddedFont>
    <p:embeddedFont>
      <p:font typeface="Arimo" charset="0"/>
      <p:regular r:id="rId30"/>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xmlns="">
          <a:srgbClr val="FF0000"/>
        </p14:laserClr>
      </p:ext>
      <p:ext uri="{2FDB2607-1784-4EEB-B798-7EB5836EED8A}">
        <p14:showMediaCtrls xmlns:p14="http://schemas.microsoft.com/office/powerpoint/2010/main" xmlns="" val="1"/>
      </p:ext>
    </p:extLst>
  </p:showPr>
  <p:clrMru>
    <a:srgbClr val="358F5C"/>
  </p:clrMru>
  <p:extLst>
    <p:ext uri="{E76CE94A-603C-4142-B9EB-6D1370010A27}">
      <p14:discardImageEditData xmlns:p14="http://schemas.microsoft.com/office/powerpoint/2010/main" xmlns="" val="0"/>
    </p:ext>
    <p:ext uri="{D31A062A-798A-4329-ABDD-BBA856620510}">
      <p14:defaultImageDpi xmlns:p14="http://schemas.microsoft.com/office/powerpoint/2010/main" xmlns="" val="220"/>
    </p:ext>
    <p:ext uri="{FD5EFAAD-0ECE-453E-9831-46B23BE46B34}">
      <p15:chartTrackingRefBased xmlns:p15="http://schemas.microsoft.com/office/powerpoint/2012/main" xmlns=""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showOutlineIcons="0">
    <p:restoredLeft sz="15620" autoAdjust="0"/>
    <p:restoredTop sz="94622" autoAdjust="0"/>
  </p:normalViewPr>
  <p:slideViewPr>
    <p:cSldViewPr>
      <p:cViewPr varScale="1">
        <p:scale>
          <a:sx n="74" d="100"/>
          <a:sy n="74" d="100"/>
        </p:scale>
        <p:origin x="-528" y="-86"/>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6.fntdata"/><Relationship Id="rId3" Type="http://schemas.openxmlformats.org/officeDocument/2006/relationships/slide" Target="slides/slide2.xml"/><Relationship Id="rId21" Type="http://schemas.openxmlformats.org/officeDocument/2006/relationships/font" Target="fonts/font1.fntdata"/><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5.fntdata"/><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29" Type="http://schemas.openxmlformats.org/officeDocument/2006/relationships/font" Target="fonts/font9.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4.fntdata"/><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3.fntdata"/><Relationship Id="rId28" Type="http://schemas.openxmlformats.org/officeDocument/2006/relationships/font" Target="fonts/font8.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2.fntdata"/><Relationship Id="rId27" Type="http://schemas.openxmlformats.org/officeDocument/2006/relationships/font" Target="fonts/font7.fntdata"/><Relationship Id="rId30" Type="http://schemas.openxmlformats.org/officeDocument/2006/relationships/font" Target="fonts/font10.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EC12B2D-CDC2-4EFE-AC19-CB0184EE598E}" type="datetimeFigureOut">
              <a:rPr lang="fr-FR" smtClean="0"/>
              <a:pPr/>
              <a:t>20/12/2025</a:t>
            </a:fld>
            <a:endParaRPr lang="fr-FR"/>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r-FR"/>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r-F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9089EB6-27C9-4D75-BE39-7C3F2627B348}" type="slidenum">
              <a:rPr lang="fr-FR" smtClean="0"/>
              <a:pPr/>
              <a:t>‹N°›</a:t>
            </a:fld>
            <a:endParaRPr lang="fr-FR"/>
          </a:p>
        </p:txBody>
      </p:sp>
    </p:spTree>
    <p:extLst>
      <p:ext uri="{BB962C8B-B14F-4D97-AF65-F5344CB8AC3E}">
        <p14:creationId xmlns:p14="http://schemas.microsoft.com/office/powerpoint/2010/main" xmlns="" val="328845190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fr-FR" dirty="0"/>
          </a:p>
        </p:txBody>
      </p:sp>
      <p:sp>
        <p:nvSpPr>
          <p:cNvPr id="4" name="Slide Number Placeholder 3"/>
          <p:cNvSpPr>
            <a:spLocks noGrp="1"/>
          </p:cNvSpPr>
          <p:nvPr>
            <p:ph type="sldNum" sz="quarter" idx="5"/>
          </p:nvPr>
        </p:nvSpPr>
        <p:spPr/>
        <p:txBody>
          <a:bodyPr/>
          <a:lstStyle/>
          <a:p>
            <a:fld id="{C9089EB6-27C9-4D75-BE39-7C3F2627B348}" type="slidenum">
              <a:rPr lang="fr-FR" smtClean="0"/>
              <a:pPr/>
              <a:t>3</a:t>
            </a:fld>
            <a:endParaRPr lang="fr-FR"/>
          </a:p>
        </p:txBody>
      </p:sp>
    </p:spTree>
    <p:extLst>
      <p:ext uri="{BB962C8B-B14F-4D97-AF65-F5344CB8AC3E}">
        <p14:creationId xmlns:p14="http://schemas.microsoft.com/office/powerpoint/2010/main" xmlns="" val="420605704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12/20/2025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‹N°›</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12/20/2025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‹N°›</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12/20/2025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‹N°›</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12/20/2025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B6F15528-21DE-4FAA-801E-634DDDAF4B2B}" type="slidenum">
              <a:rPr lang="en-US" smtClean="0"/>
              <a:pPr/>
              <a:t>‹N°›</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12/20/2025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B6F15528-21DE-4FAA-801E-634DDDAF4B2B}" type="slidenum">
              <a:rPr lang="en-US" smtClean="0"/>
              <a:pPr/>
              <a:t>‹N°›</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12/20/2025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B6F15528-21DE-4FAA-801E-634DDDAF4B2B}" type="slidenum">
              <a:rPr lang="en-US" smtClean="0"/>
              <a:pPr/>
              <a:t>‹N°›</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12/20/2025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‹N°›</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12/20/2025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B6F15528-21DE-4FAA-801E-634DDDAF4B2B}" type="slidenum">
              <a:rPr lang="en-US" smtClean="0"/>
              <a:pPr/>
              <a:t>‹N°›</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12/20/2025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B6F15528-21DE-4FAA-801E-634DDDAF4B2B}" type="slidenum">
              <a:rPr lang="en-US" smtClean="0"/>
              <a:pPr/>
              <a:t>‹N°›</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12/20/2025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‹N°›</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12/20/2025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‹N°›</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12/20/2025</a:t>
            </a:fld>
            <a:endParaRPr lang="en-US" dirty="0"/>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‹N°›</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5.pn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3.svg"/></Relationships>
</file>

<file path=ppt/slides/_rels/slide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6.jpeg"/></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7.xml"/><Relationship Id="rId4" Type="http://schemas.openxmlformats.org/officeDocument/2006/relationships/image" Target="../media/image3.svg"/></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7.png"/><Relationship Id="rId1" Type="http://schemas.openxmlformats.org/officeDocument/2006/relationships/slideLayout" Target="../slideLayouts/slideLayout7.xml"/><Relationship Id="rId4" Type="http://schemas.openxmlformats.org/officeDocument/2006/relationships/image" Target="../media/image3.svg"/></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8.jpeg"/><Relationship Id="rId1" Type="http://schemas.openxmlformats.org/officeDocument/2006/relationships/slideLayout" Target="../slideLayouts/slideLayout7.xml"/><Relationship Id="rId6" Type="http://schemas.openxmlformats.org/officeDocument/2006/relationships/image" Target="../media/image10.jpeg"/><Relationship Id="rId5" Type="http://schemas.openxmlformats.org/officeDocument/2006/relationships/image" Target="../media/image9.jpeg"/><Relationship Id="rId4" Type="http://schemas.openxmlformats.org/officeDocument/2006/relationships/image" Target="../media/image3.svg"/></Relationships>
</file>

<file path=ppt/slides/_rels/slide6.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 Id="rId5" Type="http://schemas.openxmlformats.org/officeDocument/2006/relationships/image" Target="../media/image13.svg"/><Relationship Id="rId4" Type="http://schemas.openxmlformats.org/officeDocument/2006/relationships/image" Target="../media/image11.png"/></Relationships>
</file>

<file path=ppt/slides/_rels/slide7.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12.png"/></Relationships>
</file>

<file path=ppt/slides/_rels/slide8.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13.png"/></Relationships>
</file>

<file path=ppt/slides/_rels/slide9.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 Id="rId5" Type="http://schemas.openxmlformats.org/officeDocument/2006/relationships/image" Target="../media/image14.png"/><Relationship Id="rId4" Type="http://schemas.openxmlformats.org/officeDocument/2006/relationships/hyperlink" Target="http://www.elghella.com" TargetMode="External"/></Relationships>
</file>

<file path=ppt/slides/_rels/slide10.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18.svg"/><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18.svg"/><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image" Target="../media/image4.png"/><Relationship Id="rId5" Type="http://schemas.openxmlformats.org/officeDocument/2006/relationships/image" Target="../media/image20.svg"/><Relationship Id="rId4" Type="http://schemas.openxmlformats.org/officeDocument/2006/relationships/image" Target="../media/image16.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333" b="-9333"/>
            </a:stretch>
          </a:blipFill>
        </p:spPr>
      </p:sp>
      <p:grpSp>
        <p:nvGrpSpPr>
          <p:cNvPr id="3" name="Group 3"/>
          <p:cNvGrpSpPr/>
          <p:nvPr/>
        </p:nvGrpSpPr>
        <p:grpSpPr>
          <a:xfrm>
            <a:off x="323050" y="3529986"/>
            <a:ext cx="14143798" cy="2838683"/>
            <a:chOff x="0" y="0"/>
            <a:chExt cx="3725115" cy="747637"/>
          </a:xfrm>
        </p:grpSpPr>
        <p:sp>
          <p:nvSpPr>
            <p:cNvPr id="4" name="Freeform 4"/>
            <p:cNvSpPr/>
            <p:nvPr/>
          </p:nvSpPr>
          <p:spPr>
            <a:xfrm>
              <a:off x="0" y="0"/>
              <a:ext cx="3725116" cy="747637"/>
            </a:xfrm>
            <a:custGeom>
              <a:avLst/>
              <a:gdLst/>
              <a:ahLst/>
              <a:cxnLst/>
              <a:rect l="l" t="t" r="r" b="b"/>
              <a:pathLst>
                <a:path w="3725116" h="747637">
                  <a:moveTo>
                    <a:pt x="0" y="0"/>
                  </a:moveTo>
                  <a:lnTo>
                    <a:pt x="3725116" y="0"/>
                  </a:lnTo>
                  <a:lnTo>
                    <a:pt x="3725116" y="747637"/>
                  </a:lnTo>
                  <a:lnTo>
                    <a:pt x="0" y="747637"/>
                  </a:lnTo>
                  <a:close/>
                </a:path>
              </a:pathLst>
            </a:custGeom>
            <a:solidFill>
              <a:srgbClr val="1E7042">
                <a:alpha val="89804"/>
              </a:srgbClr>
            </a:solidFill>
          </p:spPr>
        </p:sp>
        <p:sp>
          <p:nvSpPr>
            <p:cNvPr id="5" name="TextBox 5"/>
            <p:cNvSpPr txBox="1"/>
            <p:nvPr/>
          </p:nvSpPr>
          <p:spPr>
            <a:xfrm>
              <a:off x="0" y="-66675"/>
              <a:ext cx="3725115" cy="814312"/>
            </a:xfrm>
            <a:prstGeom prst="rect">
              <a:avLst/>
            </a:prstGeom>
          </p:spPr>
          <p:txBody>
            <a:bodyPr lIns="50800" tIns="50800" rIns="50800" bIns="50800" rtlCol="0" anchor="ctr"/>
            <a:lstStyle/>
            <a:p>
              <a:pPr algn="ctr">
                <a:lnSpc>
                  <a:spcPts val="2520"/>
                </a:lnSpc>
              </a:pPr>
              <a:endParaRPr dirty="0"/>
            </a:p>
          </p:txBody>
        </p:sp>
      </p:grpSp>
      <p:sp>
        <p:nvSpPr>
          <p:cNvPr id="6" name="Freeform 6"/>
          <p:cNvSpPr/>
          <p:nvPr/>
        </p:nvSpPr>
        <p:spPr>
          <a:xfrm rot="-1199392">
            <a:off x="-4855332" y="-2605340"/>
            <a:ext cx="16883865" cy="9539384"/>
          </a:xfrm>
          <a:custGeom>
            <a:avLst/>
            <a:gdLst/>
            <a:ahLst/>
            <a:cxnLst/>
            <a:rect l="l" t="t" r="r" b="b"/>
            <a:pathLst>
              <a:path w="16883865" h="9539384">
                <a:moveTo>
                  <a:pt x="0" y="0"/>
                </a:moveTo>
                <a:lnTo>
                  <a:pt x="16883865" y="0"/>
                </a:lnTo>
                <a:lnTo>
                  <a:pt x="16883865" y="9539384"/>
                </a:lnTo>
                <a:lnTo>
                  <a:pt x="0" y="9539384"/>
                </a:lnTo>
                <a:lnTo>
                  <a:pt x="0" y="0"/>
                </a:lnTo>
                <a:close/>
              </a:path>
            </a:pathLst>
          </a:custGeom>
          <a:blipFill>
            <a:blip r:embed="rId3">
              <a:alphaModFix amt="10999"/>
              <a:extLst>
                <a:ext uri="{96DAC541-7B7A-43D3-8B79-37D633B846F1}">
                  <asvg:svgBlip xmlns:asvg="http://schemas.microsoft.com/office/drawing/2016/SVG/main" xmlns="" r:embed="rId4"/>
                </a:ext>
              </a:extLst>
            </a:blip>
            <a:stretch>
              <a:fillRect/>
            </a:stretch>
          </a:blipFill>
        </p:spPr>
      </p:sp>
      <p:sp>
        <p:nvSpPr>
          <p:cNvPr id="7" name="Freeform 7"/>
          <p:cNvSpPr/>
          <p:nvPr/>
        </p:nvSpPr>
        <p:spPr>
          <a:xfrm>
            <a:off x="8230726" y="136745"/>
            <a:ext cx="1826547" cy="1818465"/>
          </a:xfrm>
          <a:custGeom>
            <a:avLst/>
            <a:gdLst/>
            <a:ahLst/>
            <a:cxnLst/>
            <a:rect l="l" t="t" r="r" b="b"/>
            <a:pathLst>
              <a:path w="1826547" h="1818465">
                <a:moveTo>
                  <a:pt x="0" y="0"/>
                </a:moveTo>
                <a:lnTo>
                  <a:pt x="1826548" y="0"/>
                </a:lnTo>
                <a:lnTo>
                  <a:pt x="1826548" y="1818465"/>
                </a:lnTo>
                <a:lnTo>
                  <a:pt x="0" y="1818465"/>
                </a:lnTo>
                <a:lnTo>
                  <a:pt x="0" y="0"/>
                </a:lnTo>
                <a:close/>
              </a:path>
            </a:pathLst>
          </a:custGeom>
          <a:blipFill>
            <a:blip r:embed="rId5"/>
            <a:stretch>
              <a:fillRect/>
            </a:stretch>
          </a:blipFill>
        </p:spPr>
      </p:sp>
      <p:sp>
        <p:nvSpPr>
          <p:cNvPr id="8" name="Freeform 8"/>
          <p:cNvSpPr/>
          <p:nvPr/>
        </p:nvSpPr>
        <p:spPr>
          <a:xfrm>
            <a:off x="15494348" y="6368669"/>
            <a:ext cx="2407317" cy="2407317"/>
          </a:xfrm>
          <a:custGeom>
            <a:avLst/>
            <a:gdLst/>
            <a:ahLst/>
            <a:cxnLst/>
            <a:rect l="l" t="t" r="r" b="b"/>
            <a:pathLst>
              <a:path w="2407317" h="2407317">
                <a:moveTo>
                  <a:pt x="0" y="0"/>
                </a:moveTo>
                <a:lnTo>
                  <a:pt x="2407318" y="0"/>
                </a:lnTo>
                <a:lnTo>
                  <a:pt x="2407318" y="2407317"/>
                </a:lnTo>
                <a:lnTo>
                  <a:pt x="0" y="2407317"/>
                </a:lnTo>
                <a:lnTo>
                  <a:pt x="0" y="0"/>
                </a:lnTo>
                <a:close/>
              </a:path>
            </a:pathLst>
          </a:custGeom>
          <a:blipFill>
            <a:blip r:embed="rId6"/>
            <a:stretch>
              <a:fillRect/>
            </a:stretch>
          </a:blipFill>
        </p:spPr>
      </p:sp>
      <p:sp>
        <p:nvSpPr>
          <p:cNvPr id="9" name="Freeform 9"/>
          <p:cNvSpPr/>
          <p:nvPr/>
        </p:nvSpPr>
        <p:spPr>
          <a:xfrm>
            <a:off x="9454522" y="3640098"/>
            <a:ext cx="4797265" cy="3006805"/>
          </a:xfrm>
          <a:custGeom>
            <a:avLst/>
            <a:gdLst/>
            <a:ahLst/>
            <a:cxnLst/>
            <a:rect l="l" t="t" r="r" b="b"/>
            <a:pathLst>
              <a:path w="4797265" h="3006805">
                <a:moveTo>
                  <a:pt x="0" y="0"/>
                </a:moveTo>
                <a:lnTo>
                  <a:pt x="4797265" y="0"/>
                </a:lnTo>
                <a:lnTo>
                  <a:pt x="4797265" y="3006804"/>
                </a:lnTo>
                <a:lnTo>
                  <a:pt x="0" y="3006804"/>
                </a:lnTo>
                <a:lnTo>
                  <a:pt x="0" y="0"/>
                </a:lnTo>
                <a:close/>
              </a:path>
            </a:pathLst>
          </a:custGeom>
          <a:blipFill>
            <a:blip r:embed="rId7"/>
            <a:stretch>
              <a:fillRect/>
            </a:stretch>
          </a:blipFill>
        </p:spPr>
      </p:sp>
      <p:sp>
        <p:nvSpPr>
          <p:cNvPr id="10" name="TextBox 10"/>
          <p:cNvSpPr txBox="1"/>
          <p:nvPr/>
        </p:nvSpPr>
        <p:spPr>
          <a:xfrm>
            <a:off x="2162067" y="2069102"/>
            <a:ext cx="13963865" cy="1048951"/>
          </a:xfrm>
          <a:prstGeom prst="rect">
            <a:avLst/>
          </a:prstGeom>
        </p:spPr>
        <p:txBody>
          <a:bodyPr lIns="0" tIns="0" rIns="0" bIns="0" rtlCol="0" anchor="t">
            <a:spAutoFit/>
          </a:bodyPr>
          <a:lstStyle/>
          <a:p>
            <a:pPr algn="l">
              <a:lnSpc>
                <a:spcPts val="3981"/>
              </a:lnSpc>
              <a:spcBef>
                <a:spcPct val="0"/>
              </a:spcBef>
            </a:pPr>
            <a:r>
              <a:rPr lang="en-US" sz="2844" b="1" dirty="0">
                <a:solidFill>
                  <a:srgbClr val="FAFAFA"/>
                </a:solidFill>
                <a:latin typeface="Telegraf Bold"/>
                <a:ea typeface="Telegraf Bold"/>
                <a:cs typeface="Telegraf Bold"/>
                <a:sym typeface="Telegraf Bold"/>
              </a:rPr>
              <a:t>Ministere de l’éconmie de la connaissance, startups et Micro-entreprises</a:t>
            </a:r>
          </a:p>
          <a:p>
            <a:pPr algn="l">
              <a:lnSpc>
                <a:spcPts val="4185"/>
              </a:lnSpc>
              <a:spcBef>
                <a:spcPct val="0"/>
              </a:spcBef>
            </a:pPr>
            <a:endParaRPr lang="en-US" sz="2844" b="1" dirty="0">
              <a:solidFill>
                <a:srgbClr val="FAFAFA"/>
              </a:solidFill>
              <a:latin typeface="Telegraf Bold"/>
              <a:ea typeface="Telegraf Bold"/>
              <a:cs typeface="Telegraf Bold"/>
              <a:sym typeface="Telegraf Bold"/>
            </a:endParaRPr>
          </a:p>
        </p:txBody>
      </p:sp>
      <p:sp>
        <p:nvSpPr>
          <p:cNvPr id="11" name="TextBox 11"/>
          <p:cNvSpPr txBox="1"/>
          <p:nvPr/>
        </p:nvSpPr>
        <p:spPr>
          <a:xfrm>
            <a:off x="561370" y="6515321"/>
            <a:ext cx="13215033" cy="1467461"/>
          </a:xfrm>
          <a:prstGeom prst="rect">
            <a:avLst/>
          </a:prstGeom>
        </p:spPr>
        <p:txBody>
          <a:bodyPr lIns="0" tIns="0" rIns="0" bIns="0" rtlCol="0" anchor="t">
            <a:spAutoFit/>
          </a:bodyPr>
          <a:lstStyle/>
          <a:p>
            <a:pPr algn="l">
              <a:lnSpc>
                <a:spcPts val="5741"/>
              </a:lnSpc>
            </a:pPr>
            <a:r>
              <a:rPr lang="en-US" sz="4100" b="1" dirty="0">
                <a:solidFill>
                  <a:srgbClr val="FAFAFA"/>
                </a:solidFill>
                <a:latin typeface="Telegraf Bold"/>
                <a:ea typeface="Telegraf Bold"/>
                <a:cs typeface="Telegraf Bold"/>
                <a:sym typeface="Telegraf Bold"/>
              </a:rPr>
              <a:t>PRÉSENTATION DU PROJET INNOVANT</a:t>
            </a:r>
          </a:p>
          <a:p>
            <a:pPr algn="l">
              <a:lnSpc>
                <a:spcPts val="5741"/>
              </a:lnSpc>
              <a:spcBef>
                <a:spcPct val="0"/>
              </a:spcBef>
            </a:pPr>
            <a:endParaRPr lang="en-US" sz="4100" b="1" dirty="0">
              <a:solidFill>
                <a:srgbClr val="FAFAFA"/>
              </a:solidFill>
              <a:latin typeface="Telegraf Bold"/>
              <a:ea typeface="Telegraf Bold"/>
              <a:cs typeface="Telegraf Bold"/>
              <a:sym typeface="Telegraf Bold"/>
            </a:endParaRPr>
          </a:p>
        </p:txBody>
      </p:sp>
      <p:sp>
        <p:nvSpPr>
          <p:cNvPr id="12" name="TextBox 12"/>
          <p:cNvSpPr txBox="1"/>
          <p:nvPr/>
        </p:nvSpPr>
        <p:spPr>
          <a:xfrm>
            <a:off x="561370" y="3878030"/>
            <a:ext cx="12589101" cy="1812926"/>
          </a:xfrm>
          <a:prstGeom prst="rect">
            <a:avLst/>
          </a:prstGeom>
        </p:spPr>
        <p:txBody>
          <a:bodyPr lIns="0" tIns="0" rIns="0" bIns="0" rtlCol="0" anchor="t">
            <a:spAutoFit/>
          </a:bodyPr>
          <a:lstStyle/>
          <a:p>
            <a:pPr algn="l">
              <a:lnSpc>
                <a:spcPts val="13999"/>
              </a:lnSpc>
              <a:spcBef>
                <a:spcPct val="0"/>
              </a:spcBef>
            </a:pPr>
            <a:r>
              <a:rPr lang="en-US" sz="9999" b="1" dirty="0">
                <a:solidFill>
                  <a:srgbClr val="FAFAFA"/>
                </a:solidFill>
                <a:latin typeface="Telegraf Bold"/>
                <a:ea typeface="Telegraf Bold"/>
                <a:cs typeface="Telegraf Bold"/>
                <a:sym typeface="Telegraf Bold"/>
              </a:rPr>
              <a:t>PITCH DECK </a:t>
            </a:r>
          </a:p>
        </p:txBody>
      </p:sp>
      <p:sp>
        <p:nvSpPr>
          <p:cNvPr id="13" name="TextBox 13"/>
          <p:cNvSpPr txBox="1"/>
          <p:nvPr/>
        </p:nvSpPr>
        <p:spPr>
          <a:xfrm>
            <a:off x="8001000" y="8886972"/>
            <a:ext cx="9110564" cy="934085"/>
          </a:xfrm>
          <a:prstGeom prst="rect">
            <a:avLst/>
          </a:prstGeom>
        </p:spPr>
        <p:txBody>
          <a:bodyPr lIns="0" tIns="0" rIns="0" bIns="0" rtlCol="0" anchor="t">
            <a:spAutoFit/>
          </a:bodyPr>
          <a:lstStyle/>
          <a:p>
            <a:pPr algn="ctr">
              <a:lnSpc>
                <a:spcPts val="3640"/>
              </a:lnSpc>
              <a:spcBef>
                <a:spcPct val="0"/>
              </a:spcBef>
            </a:pPr>
            <a:r>
              <a:rPr lang="en-US" sz="2600" b="1" dirty="0">
                <a:solidFill>
                  <a:srgbClr val="FAFAFA"/>
                </a:solidFill>
                <a:latin typeface="Telegraf Bold"/>
                <a:ea typeface="Telegraf Bold"/>
                <a:cs typeface="Telegraf Bold"/>
                <a:sym typeface="Telegraf Bold"/>
              </a:rPr>
              <a:t>COMITE NATIONAL DE LABÉLISATION </a:t>
            </a:r>
          </a:p>
          <a:p>
            <a:pPr algn="ctr">
              <a:lnSpc>
                <a:spcPts val="3640"/>
              </a:lnSpc>
              <a:spcBef>
                <a:spcPct val="0"/>
              </a:spcBef>
            </a:pPr>
            <a:r>
              <a:rPr lang="en-US" sz="2600" b="1" dirty="0">
                <a:solidFill>
                  <a:srgbClr val="FAFAFA"/>
                </a:solidFill>
                <a:latin typeface="Telegraf Bold"/>
                <a:ea typeface="Telegraf Bold"/>
                <a:cs typeface="Telegraf Bold"/>
                <a:sym typeface="Telegraf Bold"/>
              </a:rPr>
              <a:t>DES PROJETS INNOVANTS, STARTUPS ET INCUBATEURS</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AFAFA"/>
        </a:solidFill>
        <a:effectLst/>
      </p:bgPr>
    </p:bg>
    <p:spTree>
      <p:nvGrpSpPr>
        <p:cNvPr id="1" name=""/>
        <p:cNvGrpSpPr/>
        <p:nvPr/>
      </p:nvGrpSpPr>
      <p:grpSpPr>
        <a:xfrm>
          <a:off x="0" y="0"/>
          <a:ext cx="0" cy="0"/>
          <a:chOff x="0" y="0"/>
          <a:chExt cx="0" cy="0"/>
        </a:xfrm>
      </p:grpSpPr>
      <p:sp>
        <p:nvSpPr>
          <p:cNvPr id="2" name="AutoShape 2"/>
          <p:cNvSpPr/>
          <p:nvPr/>
        </p:nvSpPr>
        <p:spPr>
          <a:xfrm>
            <a:off x="1993387" y="9349232"/>
            <a:ext cx="0" cy="317498"/>
          </a:xfrm>
          <a:prstGeom prst="line">
            <a:avLst/>
          </a:prstGeom>
          <a:ln w="38100" cap="flat">
            <a:solidFill>
              <a:srgbClr val="9CC453"/>
            </a:solidFill>
            <a:prstDash val="solid"/>
            <a:headEnd type="none" w="sm" len="sm"/>
            <a:tailEnd type="none" w="sm" len="sm"/>
          </a:ln>
        </p:spPr>
      </p:sp>
      <p:grpSp>
        <p:nvGrpSpPr>
          <p:cNvPr id="3" name="Group 3"/>
          <p:cNvGrpSpPr/>
          <p:nvPr/>
        </p:nvGrpSpPr>
        <p:grpSpPr>
          <a:xfrm>
            <a:off x="1028700" y="468372"/>
            <a:ext cx="122392" cy="429165"/>
            <a:chOff x="0" y="0"/>
            <a:chExt cx="159850" cy="560512"/>
          </a:xfrm>
        </p:grpSpPr>
        <p:sp>
          <p:nvSpPr>
            <p:cNvPr id="4" name="Freeform 4"/>
            <p:cNvSpPr/>
            <p:nvPr/>
          </p:nvSpPr>
          <p:spPr>
            <a:xfrm>
              <a:off x="0" y="0"/>
              <a:ext cx="159850" cy="560512"/>
            </a:xfrm>
            <a:custGeom>
              <a:avLst/>
              <a:gdLst/>
              <a:ahLst/>
              <a:cxnLst/>
              <a:rect l="l" t="t" r="r" b="b"/>
              <a:pathLst>
                <a:path w="159850" h="560512">
                  <a:moveTo>
                    <a:pt x="0" y="0"/>
                  </a:moveTo>
                  <a:lnTo>
                    <a:pt x="159850" y="0"/>
                  </a:lnTo>
                  <a:lnTo>
                    <a:pt x="159850" y="560512"/>
                  </a:lnTo>
                  <a:lnTo>
                    <a:pt x="0" y="560512"/>
                  </a:lnTo>
                  <a:close/>
                </a:path>
              </a:pathLst>
            </a:custGeom>
            <a:solidFill>
              <a:srgbClr val="9CC453"/>
            </a:solidFill>
          </p:spPr>
        </p:sp>
        <p:sp>
          <p:nvSpPr>
            <p:cNvPr id="5" name="TextBox 5"/>
            <p:cNvSpPr txBox="1"/>
            <p:nvPr/>
          </p:nvSpPr>
          <p:spPr>
            <a:xfrm>
              <a:off x="0" y="-66675"/>
              <a:ext cx="159850" cy="627187"/>
            </a:xfrm>
            <a:prstGeom prst="rect">
              <a:avLst/>
            </a:prstGeom>
          </p:spPr>
          <p:txBody>
            <a:bodyPr lIns="50800" tIns="50800" rIns="50800" bIns="50800" rtlCol="0" anchor="ctr"/>
            <a:lstStyle/>
            <a:p>
              <a:pPr algn="ctr">
                <a:lnSpc>
                  <a:spcPts val="2520"/>
                </a:lnSpc>
              </a:pPr>
              <a:endParaRPr dirty="0"/>
            </a:p>
          </p:txBody>
        </p:sp>
      </p:grpSp>
      <p:sp>
        <p:nvSpPr>
          <p:cNvPr id="6" name="Freeform 6"/>
          <p:cNvSpPr/>
          <p:nvPr/>
        </p:nvSpPr>
        <p:spPr>
          <a:xfrm rot="-1199392">
            <a:off x="5173522" y="5537399"/>
            <a:ext cx="13171332" cy="7441803"/>
          </a:xfrm>
          <a:custGeom>
            <a:avLst/>
            <a:gdLst/>
            <a:ahLst/>
            <a:cxnLst/>
            <a:rect l="l" t="t" r="r" b="b"/>
            <a:pathLst>
              <a:path w="13171332" h="7441803">
                <a:moveTo>
                  <a:pt x="0" y="0"/>
                </a:moveTo>
                <a:lnTo>
                  <a:pt x="13171333" y="0"/>
                </a:lnTo>
                <a:lnTo>
                  <a:pt x="13171333" y="7441802"/>
                </a:lnTo>
                <a:lnTo>
                  <a:pt x="0" y="7441802"/>
                </a:lnTo>
                <a:lnTo>
                  <a:pt x="0" y="0"/>
                </a:lnTo>
                <a:close/>
              </a:path>
            </a:pathLst>
          </a:custGeom>
          <a:blipFill>
            <a:blip r:embed="rId2">
              <a:alphaModFix amt="10999"/>
              <a:extLst>
                <a:ext uri="{96DAC541-7B7A-43D3-8B79-37D633B846F1}">
                  <asvg:svgBlip xmlns:asvg="http://schemas.microsoft.com/office/drawing/2016/SVG/main" xmlns="" r:embed="rId3"/>
                </a:ext>
              </a:extLst>
            </a:blip>
            <a:stretch>
              <a:fillRect/>
            </a:stretch>
          </a:blipFill>
        </p:spPr>
      </p:sp>
      <p:sp>
        <p:nvSpPr>
          <p:cNvPr id="7" name="AutoShape 7"/>
          <p:cNvSpPr/>
          <p:nvPr/>
        </p:nvSpPr>
        <p:spPr>
          <a:xfrm>
            <a:off x="2552019" y="9657839"/>
            <a:ext cx="5152590" cy="8890"/>
          </a:xfrm>
          <a:prstGeom prst="line">
            <a:avLst/>
          </a:prstGeom>
          <a:ln w="9525" cap="flat">
            <a:solidFill>
              <a:srgbClr val="000000"/>
            </a:solidFill>
            <a:prstDash val="solid"/>
            <a:headEnd type="none" w="sm" len="sm"/>
            <a:tailEnd type="none" w="sm" len="sm"/>
          </a:ln>
        </p:spPr>
      </p:sp>
      <p:grpSp>
        <p:nvGrpSpPr>
          <p:cNvPr id="8" name="Group 8"/>
          <p:cNvGrpSpPr>
            <a:grpSpLocks noChangeAspect="1"/>
          </p:cNvGrpSpPr>
          <p:nvPr/>
        </p:nvGrpSpPr>
        <p:grpSpPr>
          <a:xfrm>
            <a:off x="12705684" y="2367428"/>
            <a:ext cx="4901290" cy="4901270"/>
            <a:chOff x="0" y="0"/>
            <a:chExt cx="6350000" cy="6349975"/>
          </a:xfrm>
        </p:grpSpPr>
        <p:sp>
          <p:nvSpPr>
            <p:cNvPr id="9" name="Freeform 9"/>
            <p:cNvSpPr/>
            <p:nvPr/>
          </p:nvSpPr>
          <p:spPr>
            <a:xfrm>
              <a:off x="0" y="0"/>
              <a:ext cx="6350000" cy="6349974"/>
            </a:xfrm>
            <a:custGeom>
              <a:avLst/>
              <a:gdLst/>
              <a:ahLst/>
              <a:cxnLst/>
              <a:rect l="l" t="t" r="r" b="b"/>
              <a:pathLst>
                <a:path w="6350000" h="6349974">
                  <a:moveTo>
                    <a:pt x="6350000" y="3175025"/>
                  </a:moveTo>
                  <a:cubicBezTo>
                    <a:pt x="6350000" y="4928451"/>
                    <a:pt x="4928476" y="6349974"/>
                    <a:pt x="3175000" y="6349974"/>
                  </a:cubicBezTo>
                  <a:cubicBezTo>
                    <a:pt x="1421498" y="6349974"/>
                    <a:pt x="0" y="4928451"/>
                    <a:pt x="0" y="3175025"/>
                  </a:cubicBezTo>
                  <a:cubicBezTo>
                    <a:pt x="0" y="1421511"/>
                    <a:pt x="1421498" y="0"/>
                    <a:pt x="3175000" y="0"/>
                  </a:cubicBezTo>
                  <a:cubicBezTo>
                    <a:pt x="4928501" y="0"/>
                    <a:pt x="6350000" y="1421511"/>
                    <a:pt x="6350000" y="3175025"/>
                  </a:cubicBezTo>
                  <a:close/>
                </a:path>
              </a:pathLst>
            </a:custGeom>
            <a:blipFill>
              <a:blip r:embed="rId4"/>
              <a:stretch>
                <a:fillRect/>
              </a:stretch>
            </a:blipFill>
          </p:spPr>
        </p:sp>
      </p:grpSp>
      <p:sp>
        <p:nvSpPr>
          <p:cNvPr id="10" name="TextBox 10"/>
          <p:cNvSpPr txBox="1"/>
          <p:nvPr/>
        </p:nvSpPr>
        <p:spPr>
          <a:xfrm>
            <a:off x="1323562" y="205752"/>
            <a:ext cx="8630183" cy="1512546"/>
          </a:xfrm>
          <a:prstGeom prst="rect">
            <a:avLst/>
          </a:prstGeom>
        </p:spPr>
        <p:txBody>
          <a:bodyPr lIns="0" tIns="0" rIns="0" bIns="0" rtlCol="0" anchor="t">
            <a:spAutoFit/>
          </a:bodyPr>
          <a:lstStyle/>
          <a:p>
            <a:pPr marL="0" lvl="0" indent="0" algn="l">
              <a:lnSpc>
                <a:spcPts val="5881"/>
              </a:lnSpc>
              <a:spcBef>
                <a:spcPct val="0"/>
              </a:spcBef>
            </a:pPr>
            <a:r>
              <a:rPr lang="en-US" sz="4200" b="1" u="none" strike="noStrike" dirty="0">
                <a:solidFill>
                  <a:srgbClr val="358F5C"/>
                </a:solidFill>
                <a:latin typeface="Telegraf Bold"/>
                <a:ea typeface="Telegraf Bold"/>
                <a:cs typeface="Telegraf Bold"/>
                <a:sym typeface="Telegraf Bold"/>
              </a:rPr>
              <a:t>PRÉSENTATION GÉNÉRALE</a:t>
            </a:r>
          </a:p>
          <a:p>
            <a:pPr marL="0" lvl="0" indent="0" algn="l">
              <a:lnSpc>
                <a:spcPts val="5881"/>
              </a:lnSpc>
              <a:spcBef>
                <a:spcPct val="0"/>
              </a:spcBef>
            </a:pPr>
            <a:endParaRPr lang="en-US" sz="4200" b="1" u="none" strike="noStrike" dirty="0">
              <a:solidFill>
                <a:srgbClr val="358F5C"/>
              </a:solidFill>
              <a:latin typeface="Telegraf Bold"/>
              <a:ea typeface="Telegraf Bold"/>
              <a:cs typeface="Telegraf Bold"/>
              <a:sym typeface="Telegraf Bold"/>
            </a:endParaRPr>
          </a:p>
        </p:txBody>
      </p:sp>
      <p:sp>
        <p:nvSpPr>
          <p:cNvPr id="11" name="TextBox 11"/>
          <p:cNvSpPr txBox="1"/>
          <p:nvPr/>
        </p:nvSpPr>
        <p:spPr>
          <a:xfrm>
            <a:off x="1151092" y="1283185"/>
            <a:ext cx="2877741" cy="476885"/>
          </a:xfrm>
          <a:prstGeom prst="rect">
            <a:avLst/>
          </a:prstGeom>
        </p:spPr>
        <p:txBody>
          <a:bodyPr lIns="0" tIns="0" rIns="0" bIns="0" rtlCol="0" anchor="t">
            <a:spAutoFit/>
          </a:bodyPr>
          <a:lstStyle/>
          <a:p>
            <a:pPr algn="ctr">
              <a:lnSpc>
                <a:spcPts val="3640"/>
              </a:lnSpc>
              <a:spcBef>
                <a:spcPct val="0"/>
              </a:spcBef>
            </a:pPr>
            <a:r>
              <a:rPr lang="en-US" sz="2600" b="1" dirty="0">
                <a:solidFill>
                  <a:srgbClr val="358F5C"/>
                </a:solidFill>
                <a:latin typeface="Telegraf Bold"/>
                <a:ea typeface="Telegraf Bold"/>
                <a:cs typeface="Telegraf Bold"/>
                <a:sym typeface="Telegraf Bold"/>
              </a:rPr>
              <a:t>TITRE DU PROJET</a:t>
            </a:r>
          </a:p>
        </p:txBody>
      </p:sp>
      <p:sp>
        <p:nvSpPr>
          <p:cNvPr id="12" name="TextBox 12"/>
          <p:cNvSpPr txBox="1"/>
          <p:nvPr/>
        </p:nvSpPr>
        <p:spPr>
          <a:xfrm>
            <a:off x="634422" y="2281703"/>
            <a:ext cx="10730489" cy="934085"/>
          </a:xfrm>
          <a:prstGeom prst="rect">
            <a:avLst/>
          </a:prstGeom>
        </p:spPr>
        <p:txBody>
          <a:bodyPr lIns="0" tIns="0" rIns="0" bIns="0" rtlCol="0" anchor="t">
            <a:spAutoFit/>
          </a:bodyPr>
          <a:lstStyle/>
          <a:p>
            <a:pPr algn="ctr">
              <a:lnSpc>
                <a:spcPts val="3640"/>
              </a:lnSpc>
              <a:spcBef>
                <a:spcPct val="0"/>
              </a:spcBef>
            </a:pPr>
            <a:r>
              <a:rPr lang="en-US" sz="2600" b="1" dirty="0">
                <a:solidFill>
                  <a:srgbClr val="000000"/>
                </a:solidFill>
                <a:latin typeface="Telegraf Bold"/>
                <a:ea typeface="Telegraf Bold"/>
                <a:cs typeface="Telegraf Bold"/>
                <a:sym typeface="Telegraf Bold"/>
              </a:rPr>
              <a:t>El Ghella – Plateforme numérique pour moderniser et organiser le secteur agricole en Algérie.</a:t>
            </a:r>
          </a:p>
        </p:txBody>
      </p:sp>
      <p:sp>
        <p:nvSpPr>
          <p:cNvPr id="13" name="TextBox 13"/>
          <p:cNvSpPr txBox="1"/>
          <p:nvPr/>
        </p:nvSpPr>
        <p:spPr>
          <a:xfrm>
            <a:off x="1189043" y="3320563"/>
            <a:ext cx="2801838" cy="476885"/>
          </a:xfrm>
          <a:prstGeom prst="rect">
            <a:avLst/>
          </a:prstGeom>
        </p:spPr>
        <p:txBody>
          <a:bodyPr lIns="0" tIns="0" rIns="0" bIns="0" rtlCol="0" anchor="t">
            <a:spAutoFit/>
          </a:bodyPr>
          <a:lstStyle/>
          <a:p>
            <a:pPr marL="0" lvl="0" indent="0" algn="ctr">
              <a:lnSpc>
                <a:spcPts val="3640"/>
              </a:lnSpc>
              <a:spcBef>
                <a:spcPct val="0"/>
              </a:spcBef>
            </a:pPr>
            <a:r>
              <a:rPr lang="en-US" sz="2600" b="1" u="none" strike="noStrike" dirty="0">
                <a:solidFill>
                  <a:srgbClr val="358F5C"/>
                </a:solidFill>
                <a:latin typeface="Telegraf Bold"/>
                <a:ea typeface="Telegraf Bold"/>
                <a:cs typeface="Telegraf Bold"/>
                <a:sym typeface="Telegraf Bold"/>
              </a:rPr>
              <a:t>LOGO DU PROJET</a:t>
            </a:r>
          </a:p>
        </p:txBody>
      </p:sp>
      <p:sp>
        <p:nvSpPr>
          <p:cNvPr id="14" name="TextBox 14"/>
          <p:cNvSpPr txBox="1"/>
          <p:nvPr/>
        </p:nvSpPr>
        <p:spPr>
          <a:xfrm>
            <a:off x="634422" y="4353953"/>
            <a:ext cx="11499265" cy="3220085"/>
          </a:xfrm>
          <a:prstGeom prst="rect">
            <a:avLst/>
          </a:prstGeom>
        </p:spPr>
        <p:txBody>
          <a:bodyPr lIns="0" tIns="0" rIns="0" bIns="0" rtlCol="0" anchor="t">
            <a:spAutoFit/>
          </a:bodyPr>
          <a:lstStyle/>
          <a:p>
            <a:pPr algn="l">
              <a:lnSpc>
                <a:spcPts val="3640"/>
              </a:lnSpc>
              <a:spcBef>
                <a:spcPct val="0"/>
              </a:spcBef>
            </a:pPr>
            <a:r>
              <a:rPr lang="en-US" sz="2600" dirty="0">
                <a:solidFill>
                  <a:srgbClr val="000000"/>
                </a:solidFill>
                <a:latin typeface="Telegraf"/>
                <a:ea typeface="Telegraf"/>
                <a:cs typeface="Telegraf"/>
                <a:sym typeface="Telegraf"/>
              </a:rPr>
              <a:t>Éléments du logo et leurs significations : Épi de blé Symbolise la production agricole et l’abondance Tracteur Représente la location d’équipements et les services agricoles modernes Mains échangeant un panier de plantes Représente l’achat, la vente et la coopération entre agriculteurs Panier de plantes Représente les produits agricoles naturels Couleur verte Symbole de croissance, de vie et de durabilité Couleur marron/dorée Évoque la terre, la richesse et la fertilité</a:t>
            </a:r>
          </a:p>
        </p:txBody>
      </p:sp>
      <p:sp>
        <p:nvSpPr>
          <p:cNvPr id="15" name="TextBox 15"/>
          <p:cNvSpPr txBox="1"/>
          <p:nvPr/>
        </p:nvSpPr>
        <p:spPr>
          <a:xfrm>
            <a:off x="1089896" y="7612138"/>
            <a:ext cx="4438253" cy="476885"/>
          </a:xfrm>
          <a:prstGeom prst="rect">
            <a:avLst/>
          </a:prstGeom>
        </p:spPr>
        <p:txBody>
          <a:bodyPr lIns="0" tIns="0" rIns="0" bIns="0" rtlCol="0" anchor="t">
            <a:spAutoFit/>
          </a:bodyPr>
          <a:lstStyle/>
          <a:p>
            <a:pPr marL="0" lvl="0" indent="0" algn="ctr">
              <a:lnSpc>
                <a:spcPts val="3640"/>
              </a:lnSpc>
              <a:spcBef>
                <a:spcPct val="0"/>
              </a:spcBef>
            </a:pPr>
            <a:r>
              <a:rPr lang="en-US" sz="2600" b="1" u="none" strike="noStrike" dirty="0">
                <a:solidFill>
                  <a:srgbClr val="358F5C"/>
                </a:solidFill>
                <a:latin typeface="Telegraf Bold"/>
                <a:ea typeface="Telegraf Bold"/>
                <a:cs typeface="Telegraf Bold"/>
                <a:sym typeface="Telegraf Bold"/>
              </a:rPr>
              <a:t>SOUS-TITRE OU TAGLINE : </a:t>
            </a:r>
          </a:p>
        </p:txBody>
      </p:sp>
      <p:sp>
        <p:nvSpPr>
          <p:cNvPr id="16" name="TextBox 16"/>
          <p:cNvSpPr txBox="1"/>
          <p:nvPr/>
        </p:nvSpPr>
        <p:spPr>
          <a:xfrm>
            <a:off x="721050" y="8260473"/>
            <a:ext cx="7154466" cy="476885"/>
          </a:xfrm>
          <a:prstGeom prst="rect">
            <a:avLst/>
          </a:prstGeom>
        </p:spPr>
        <p:txBody>
          <a:bodyPr lIns="0" tIns="0" rIns="0" bIns="0" rtlCol="0" anchor="t">
            <a:spAutoFit/>
          </a:bodyPr>
          <a:lstStyle/>
          <a:p>
            <a:pPr algn="ctr">
              <a:lnSpc>
                <a:spcPts val="3640"/>
              </a:lnSpc>
              <a:spcBef>
                <a:spcPct val="0"/>
              </a:spcBef>
            </a:pPr>
            <a:r>
              <a:rPr lang="en-US" sz="2600" b="1" dirty="0">
                <a:solidFill>
                  <a:srgbClr val="000000"/>
                </a:solidFill>
                <a:latin typeface="Telegraf Bold"/>
                <a:ea typeface="Telegraf Bold"/>
                <a:cs typeface="Telegraf Bold"/>
                <a:sym typeface="Telegraf Bold"/>
              </a:rPr>
              <a:t>L’agriculture algérienne à l’ère du numérique</a:t>
            </a:r>
          </a:p>
        </p:txBody>
      </p:sp>
      <p:sp>
        <p:nvSpPr>
          <p:cNvPr id="17" name="TextBox 17"/>
          <p:cNvSpPr txBox="1"/>
          <p:nvPr/>
        </p:nvSpPr>
        <p:spPr>
          <a:xfrm>
            <a:off x="2170574" y="9331449"/>
            <a:ext cx="381437" cy="335280"/>
          </a:xfrm>
          <a:prstGeom prst="rect">
            <a:avLst/>
          </a:prstGeom>
        </p:spPr>
        <p:txBody>
          <a:bodyPr lIns="0" tIns="0" rIns="0" bIns="0" rtlCol="0" anchor="t">
            <a:spAutoFit/>
          </a:bodyPr>
          <a:lstStyle/>
          <a:p>
            <a:pPr algn="just">
              <a:lnSpc>
                <a:spcPts val="2520"/>
              </a:lnSpc>
              <a:spcBef>
                <a:spcPct val="0"/>
              </a:spcBef>
            </a:pPr>
            <a:r>
              <a:rPr lang="en-US" sz="1800" b="1" dirty="0">
                <a:solidFill>
                  <a:srgbClr val="0D0A1E"/>
                </a:solidFill>
                <a:latin typeface="Telegraf Bold"/>
                <a:ea typeface="Telegraf Bold"/>
                <a:cs typeface="Telegraf Bold"/>
                <a:sym typeface="Telegraf Bold"/>
              </a:rPr>
              <a:t>01</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AFAFA"/>
        </a:solidFill>
        <a:effectLst/>
      </p:bgPr>
    </p:bg>
    <p:spTree>
      <p:nvGrpSpPr>
        <p:cNvPr id="1" name=""/>
        <p:cNvGrpSpPr/>
        <p:nvPr/>
      </p:nvGrpSpPr>
      <p:grpSpPr>
        <a:xfrm>
          <a:off x="0" y="0"/>
          <a:ext cx="0" cy="0"/>
          <a:chOff x="0" y="0"/>
          <a:chExt cx="0" cy="0"/>
        </a:xfrm>
      </p:grpSpPr>
      <p:sp>
        <p:nvSpPr>
          <p:cNvPr id="2" name="Freeform 2"/>
          <p:cNvSpPr/>
          <p:nvPr/>
        </p:nvSpPr>
        <p:spPr>
          <a:xfrm rot="-1199392">
            <a:off x="11913439" y="5537399"/>
            <a:ext cx="13171332" cy="7441803"/>
          </a:xfrm>
          <a:custGeom>
            <a:avLst/>
            <a:gdLst/>
            <a:ahLst/>
            <a:cxnLst/>
            <a:rect l="l" t="t" r="r" b="b"/>
            <a:pathLst>
              <a:path w="13171332" h="7441803">
                <a:moveTo>
                  <a:pt x="0" y="0"/>
                </a:moveTo>
                <a:lnTo>
                  <a:pt x="13171332" y="0"/>
                </a:lnTo>
                <a:lnTo>
                  <a:pt x="13171332" y="7441802"/>
                </a:lnTo>
                <a:lnTo>
                  <a:pt x="0" y="7441802"/>
                </a:lnTo>
                <a:lnTo>
                  <a:pt x="0" y="0"/>
                </a:lnTo>
                <a:close/>
              </a:path>
            </a:pathLst>
          </a:custGeom>
          <a:blipFill>
            <a:blip r:embed="rId3">
              <a:alphaModFix amt="10999"/>
              <a:extLst>
                <a:ext uri="{96DAC541-7B7A-43D3-8B79-37D633B846F1}">
                  <asvg:svgBlip xmlns:asvg="http://schemas.microsoft.com/office/drawing/2016/SVG/main" xmlns="" r:embed="rId4"/>
                </a:ext>
              </a:extLst>
            </a:blip>
            <a:stretch>
              <a:fillRect/>
            </a:stretch>
          </a:blipFill>
        </p:spPr>
      </p:sp>
      <p:sp>
        <p:nvSpPr>
          <p:cNvPr id="3" name="TextBox 3"/>
          <p:cNvSpPr txBox="1"/>
          <p:nvPr/>
        </p:nvSpPr>
        <p:spPr>
          <a:xfrm>
            <a:off x="2129081" y="8790624"/>
            <a:ext cx="3010909" cy="276225"/>
          </a:xfrm>
          <a:prstGeom prst="rect">
            <a:avLst/>
          </a:prstGeom>
        </p:spPr>
        <p:txBody>
          <a:bodyPr lIns="0" tIns="0" rIns="0" bIns="0" rtlCol="0" anchor="t">
            <a:spAutoFit/>
          </a:bodyPr>
          <a:lstStyle/>
          <a:p>
            <a:pPr algn="l">
              <a:lnSpc>
                <a:spcPts val="2100"/>
              </a:lnSpc>
              <a:spcBef>
                <a:spcPct val="0"/>
              </a:spcBef>
            </a:pPr>
            <a:r>
              <a:rPr lang="en-US" sz="1500" dirty="0">
                <a:solidFill>
                  <a:srgbClr val="0D0A1E"/>
                </a:solidFill>
                <a:latin typeface="Telegraf"/>
                <a:ea typeface="Telegraf"/>
                <a:cs typeface="Telegraf"/>
                <a:sym typeface="Telegraf"/>
              </a:rPr>
              <a:t>INFORMATIONS DE CONTACT</a:t>
            </a:r>
          </a:p>
        </p:txBody>
      </p:sp>
      <p:sp>
        <p:nvSpPr>
          <p:cNvPr id="4" name="AutoShape 4"/>
          <p:cNvSpPr/>
          <p:nvPr/>
        </p:nvSpPr>
        <p:spPr>
          <a:xfrm rot="5400000">
            <a:off x="1834638" y="8937626"/>
            <a:ext cx="317498" cy="0"/>
          </a:xfrm>
          <a:prstGeom prst="line">
            <a:avLst/>
          </a:prstGeom>
          <a:ln w="38100" cap="flat">
            <a:solidFill>
              <a:srgbClr val="9CC453"/>
            </a:solidFill>
            <a:prstDash val="solid"/>
            <a:headEnd type="none" w="sm" len="sm"/>
            <a:tailEnd type="none" w="sm" len="sm"/>
          </a:ln>
        </p:spPr>
      </p:sp>
      <p:sp>
        <p:nvSpPr>
          <p:cNvPr id="5" name="AutoShape 5"/>
          <p:cNvSpPr/>
          <p:nvPr/>
        </p:nvSpPr>
        <p:spPr>
          <a:xfrm>
            <a:off x="5139990" y="8952549"/>
            <a:ext cx="11382361" cy="0"/>
          </a:xfrm>
          <a:prstGeom prst="line">
            <a:avLst/>
          </a:prstGeom>
          <a:ln w="9525" cap="flat">
            <a:solidFill>
              <a:srgbClr val="000000"/>
            </a:solidFill>
            <a:prstDash val="solid"/>
            <a:headEnd type="none" w="sm" len="sm"/>
            <a:tailEnd type="none" w="sm" len="sm"/>
          </a:ln>
        </p:spPr>
      </p:sp>
      <p:sp>
        <p:nvSpPr>
          <p:cNvPr id="6" name="TextBox 6"/>
          <p:cNvSpPr txBox="1"/>
          <p:nvPr/>
        </p:nvSpPr>
        <p:spPr>
          <a:xfrm>
            <a:off x="1602677" y="1263923"/>
            <a:ext cx="10287563" cy="1512570"/>
          </a:xfrm>
          <a:prstGeom prst="rect">
            <a:avLst/>
          </a:prstGeom>
        </p:spPr>
        <p:txBody>
          <a:bodyPr lIns="0" tIns="0" rIns="0" bIns="0" rtlCol="0" anchor="t">
            <a:spAutoFit/>
          </a:bodyPr>
          <a:lstStyle/>
          <a:p>
            <a:pPr algn="l">
              <a:lnSpc>
                <a:spcPts val="5880"/>
              </a:lnSpc>
            </a:pPr>
            <a:r>
              <a:rPr lang="en-US" sz="4200" b="1" dirty="0">
                <a:solidFill>
                  <a:srgbClr val="0D0A1E"/>
                </a:solidFill>
                <a:latin typeface="Telegraf Bold"/>
                <a:ea typeface="Telegraf Bold"/>
                <a:cs typeface="Telegraf Bold"/>
                <a:sym typeface="Telegraf Bold"/>
              </a:rPr>
              <a:t>INFORMATIONS DE CONTACT</a:t>
            </a:r>
          </a:p>
          <a:p>
            <a:pPr algn="l">
              <a:lnSpc>
                <a:spcPts val="5880"/>
              </a:lnSpc>
              <a:spcBef>
                <a:spcPct val="0"/>
              </a:spcBef>
            </a:pPr>
            <a:endParaRPr lang="en-US" sz="4200" b="1" dirty="0">
              <a:solidFill>
                <a:srgbClr val="0D0A1E"/>
              </a:solidFill>
              <a:latin typeface="Telegraf Bold"/>
              <a:ea typeface="Telegraf Bold"/>
              <a:cs typeface="Telegraf Bold"/>
              <a:sym typeface="Telegraf Bold"/>
            </a:endParaRPr>
          </a:p>
        </p:txBody>
      </p:sp>
      <p:sp>
        <p:nvSpPr>
          <p:cNvPr id="7" name="TextBox 7"/>
          <p:cNvSpPr txBox="1"/>
          <p:nvPr/>
        </p:nvSpPr>
        <p:spPr>
          <a:xfrm>
            <a:off x="1592900" y="8751571"/>
            <a:ext cx="381437" cy="335280"/>
          </a:xfrm>
          <a:prstGeom prst="rect">
            <a:avLst/>
          </a:prstGeom>
        </p:spPr>
        <p:txBody>
          <a:bodyPr lIns="0" tIns="0" rIns="0" bIns="0" rtlCol="0" anchor="t">
            <a:spAutoFit/>
          </a:bodyPr>
          <a:lstStyle/>
          <a:p>
            <a:pPr algn="just">
              <a:lnSpc>
                <a:spcPts val="2520"/>
              </a:lnSpc>
              <a:spcBef>
                <a:spcPct val="0"/>
              </a:spcBef>
            </a:pPr>
            <a:r>
              <a:rPr lang="en-US" sz="1800" b="1" dirty="0">
                <a:solidFill>
                  <a:srgbClr val="0D0A1E"/>
                </a:solidFill>
                <a:latin typeface="Telegraf Bold"/>
                <a:ea typeface="Telegraf Bold"/>
                <a:cs typeface="Telegraf Bold"/>
                <a:sym typeface="Telegraf Bold"/>
              </a:rPr>
              <a:t>02</a:t>
            </a:r>
          </a:p>
        </p:txBody>
      </p:sp>
      <p:sp>
        <p:nvSpPr>
          <p:cNvPr id="8" name="TextBox 8"/>
          <p:cNvSpPr txBox="1"/>
          <p:nvPr/>
        </p:nvSpPr>
        <p:spPr>
          <a:xfrm>
            <a:off x="2129081" y="1987042"/>
            <a:ext cx="12947836" cy="6349873"/>
          </a:xfrm>
          <a:prstGeom prst="rect">
            <a:avLst/>
          </a:prstGeom>
        </p:spPr>
        <p:txBody>
          <a:bodyPr lIns="0" tIns="0" rIns="0" bIns="0" rtlCol="0" anchor="t">
            <a:spAutoFit/>
          </a:bodyPr>
          <a:lstStyle/>
          <a:p>
            <a:pPr marL="0" lvl="0" indent="0" algn="l">
              <a:lnSpc>
                <a:spcPts val="5095"/>
              </a:lnSpc>
            </a:pPr>
            <a:r>
              <a:rPr lang="en-US" sz="2599" b="1" u="none" strike="noStrike" dirty="0">
                <a:solidFill>
                  <a:srgbClr val="0D0A1E"/>
                </a:solidFill>
                <a:latin typeface="Telegraf Bold"/>
                <a:ea typeface="Telegraf Bold"/>
                <a:cs typeface="Telegraf Bold"/>
                <a:sym typeface="Telegraf Bold"/>
              </a:rPr>
              <a:t>Noms du responsables:</a:t>
            </a:r>
          </a:p>
          <a:p>
            <a:pPr marL="0" lvl="0" indent="0" algn="l">
              <a:lnSpc>
                <a:spcPts val="5095"/>
              </a:lnSpc>
            </a:pPr>
            <a:r>
              <a:rPr lang="en-US" sz="2599" u="none" strike="noStrike" dirty="0">
                <a:solidFill>
                  <a:srgbClr val="0D0A1E"/>
                </a:solidFill>
                <a:latin typeface="Telegraf"/>
                <a:ea typeface="Telegraf"/>
                <a:cs typeface="Telegraf"/>
                <a:sym typeface="Telegraf"/>
              </a:rPr>
              <a:t> Zellag Islam </a:t>
            </a:r>
          </a:p>
          <a:p>
            <a:pPr marL="0" lvl="0" indent="0" algn="l">
              <a:lnSpc>
                <a:spcPts val="5095"/>
              </a:lnSpc>
            </a:pPr>
            <a:r>
              <a:rPr lang="en-US" sz="2599" u="none" strike="noStrike" dirty="0">
                <a:solidFill>
                  <a:srgbClr val="0D0A1E"/>
                </a:solidFill>
                <a:latin typeface="Telegraf"/>
                <a:ea typeface="Telegraf"/>
                <a:cs typeface="Telegraf"/>
                <a:sym typeface="Telegraf"/>
              </a:rPr>
              <a:t> Eddouaouda Islam eddin </a:t>
            </a:r>
          </a:p>
          <a:p>
            <a:pPr marL="0" lvl="0" indent="0" algn="l">
              <a:lnSpc>
                <a:spcPts val="5095"/>
              </a:lnSpc>
            </a:pPr>
            <a:r>
              <a:rPr lang="en-US" sz="2599" u="none" strike="noStrike" dirty="0">
                <a:solidFill>
                  <a:srgbClr val="0D0A1E"/>
                </a:solidFill>
                <a:latin typeface="Telegraf"/>
                <a:ea typeface="Telegraf"/>
                <a:cs typeface="Telegraf"/>
                <a:sym typeface="Telegraf"/>
              </a:rPr>
              <a:t> Aissani Abdenour </a:t>
            </a:r>
          </a:p>
          <a:p>
            <a:pPr marL="0" lvl="0" indent="0" algn="l">
              <a:lnSpc>
                <a:spcPts val="5095"/>
              </a:lnSpc>
            </a:pPr>
            <a:r>
              <a:rPr lang="en-US" sz="2599" u="none" strike="noStrike" dirty="0">
                <a:solidFill>
                  <a:srgbClr val="0D0A1E"/>
                </a:solidFill>
                <a:latin typeface="Telegraf"/>
                <a:ea typeface="Telegraf"/>
                <a:cs typeface="Telegraf"/>
                <a:sym typeface="Telegraf"/>
              </a:rPr>
              <a:t>Fonction: Co-fondateurs</a:t>
            </a:r>
          </a:p>
          <a:p>
            <a:pPr marL="0" lvl="0" indent="0" algn="l">
              <a:lnSpc>
                <a:spcPts val="5095"/>
              </a:lnSpc>
            </a:pPr>
            <a:r>
              <a:rPr lang="en-US" sz="2599" u="none" strike="noStrike" dirty="0">
                <a:solidFill>
                  <a:srgbClr val="0D0A1E"/>
                </a:solidFill>
                <a:latin typeface="Telegraf"/>
                <a:ea typeface="Telegraf"/>
                <a:cs typeface="Telegraf"/>
                <a:sym typeface="Telegraf"/>
              </a:rPr>
              <a:t>Email: islam.zellag@univ-bouira.dz</a:t>
            </a:r>
          </a:p>
          <a:p>
            <a:pPr marL="0" lvl="0" indent="0" algn="l">
              <a:lnSpc>
                <a:spcPts val="5095"/>
              </a:lnSpc>
            </a:pPr>
            <a:r>
              <a:rPr lang="en-US" sz="2599" u="none" strike="noStrike" dirty="0">
                <a:solidFill>
                  <a:srgbClr val="0D0A1E"/>
                </a:solidFill>
                <a:latin typeface="Telegraf"/>
                <a:ea typeface="Telegraf"/>
                <a:cs typeface="Telegraf"/>
                <a:sym typeface="Telegraf"/>
              </a:rPr>
              <a:t>Numéro de téléphone: +213798700447</a:t>
            </a:r>
          </a:p>
          <a:p>
            <a:pPr marL="0" lvl="0" indent="0" algn="l">
              <a:lnSpc>
                <a:spcPts val="5095"/>
              </a:lnSpc>
            </a:pPr>
            <a:r>
              <a:rPr lang="en-US" sz="2599" u="none" strike="noStrike" dirty="0">
                <a:solidFill>
                  <a:srgbClr val="0D0A1E"/>
                </a:solidFill>
                <a:latin typeface="Telegraf"/>
                <a:ea typeface="Telegraf"/>
                <a:cs typeface="Telegraf"/>
                <a:sym typeface="Telegraf"/>
              </a:rPr>
              <a:t>Site web : </a:t>
            </a:r>
            <a:r>
              <a:rPr lang="en-US" sz="2599" b="1" u="none" strike="noStrike" dirty="0">
                <a:solidFill>
                  <a:srgbClr val="0D0A1E"/>
                </a:solidFill>
                <a:latin typeface="Telegraf Bold"/>
                <a:ea typeface="Telegraf Bold"/>
                <a:cs typeface="Telegraf Bold"/>
                <a:sym typeface="Telegraf Bold"/>
              </a:rPr>
              <a:t>www.elghella.com</a:t>
            </a:r>
          </a:p>
          <a:p>
            <a:pPr marL="0" lvl="0" indent="0" algn="l">
              <a:lnSpc>
                <a:spcPts val="5095"/>
              </a:lnSpc>
            </a:pPr>
            <a:r>
              <a:rPr lang="en-US" sz="2599" u="none" strike="noStrike" dirty="0">
                <a:solidFill>
                  <a:srgbClr val="0D0A1E"/>
                </a:solidFill>
                <a:latin typeface="Telegraf"/>
                <a:ea typeface="Telegraf"/>
                <a:cs typeface="Telegraf"/>
                <a:sym typeface="Telegraf"/>
              </a:rPr>
              <a:t>Réseaux sociaux : Instagram : (</a:t>
            </a:r>
            <a:r>
              <a:rPr lang="en-US" sz="2599" b="1" u="none" strike="noStrike" dirty="0">
                <a:solidFill>
                  <a:srgbClr val="0D0A1E"/>
                </a:solidFill>
                <a:latin typeface="Telegraf Bold"/>
                <a:ea typeface="Telegraf Bold"/>
                <a:cs typeface="Telegraf Bold"/>
                <a:sym typeface="Telegraf Bold"/>
              </a:rPr>
              <a:t>el_ghella_</a:t>
            </a:r>
            <a:r>
              <a:rPr lang="en-US" sz="2599" u="none" strike="noStrike" dirty="0">
                <a:solidFill>
                  <a:srgbClr val="0D0A1E"/>
                </a:solidFill>
                <a:latin typeface="Telegraf"/>
                <a:ea typeface="Telegraf"/>
                <a:cs typeface="Telegraf"/>
                <a:sym typeface="Telegraf"/>
              </a:rPr>
              <a:t>)</a:t>
            </a:r>
          </a:p>
          <a:p>
            <a:pPr marL="0" lvl="0" indent="0" algn="l">
              <a:lnSpc>
                <a:spcPts val="5095"/>
              </a:lnSpc>
            </a:pPr>
            <a:endParaRPr lang="en-US" sz="2599" u="none" strike="noStrike" dirty="0">
              <a:solidFill>
                <a:srgbClr val="0D0A1E"/>
              </a:solidFill>
              <a:latin typeface="Telegraf"/>
              <a:ea typeface="Telegraf"/>
              <a:cs typeface="Telegraf"/>
              <a:sym typeface="Telegraf"/>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AFAFA"/>
        </a:solidFill>
        <a:effectLst/>
      </p:bgPr>
    </p:bg>
    <p:spTree>
      <p:nvGrpSpPr>
        <p:cNvPr id="1" name=""/>
        <p:cNvGrpSpPr/>
        <p:nvPr/>
      </p:nvGrpSpPr>
      <p:grpSpPr>
        <a:xfrm>
          <a:off x="0" y="0"/>
          <a:ext cx="0" cy="0"/>
          <a:chOff x="0" y="0"/>
          <a:chExt cx="0" cy="0"/>
        </a:xfrm>
      </p:grpSpPr>
      <p:sp>
        <p:nvSpPr>
          <p:cNvPr id="2" name="TextBox 2"/>
          <p:cNvSpPr txBox="1"/>
          <p:nvPr/>
        </p:nvSpPr>
        <p:spPr>
          <a:xfrm>
            <a:off x="2129081" y="8769351"/>
            <a:ext cx="2169202" cy="309245"/>
          </a:xfrm>
          <a:prstGeom prst="rect">
            <a:avLst/>
          </a:prstGeom>
        </p:spPr>
        <p:txBody>
          <a:bodyPr lIns="0" tIns="0" rIns="0" bIns="0" rtlCol="0" anchor="t">
            <a:spAutoFit/>
          </a:bodyPr>
          <a:lstStyle/>
          <a:p>
            <a:pPr algn="l">
              <a:lnSpc>
                <a:spcPts val="2380"/>
              </a:lnSpc>
              <a:spcBef>
                <a:spcPct val="0"/>
              </a:spcBef>
            </a:pPr>
            <a:r>
              <a:rPr lang="en-US" sz="1700" dirty="0">
                <a:solidFill>
                  <a:srgbClr val="0D0A1E"/>
                </a:solidFill>
                <a:latin typeface="Telegraf"/>
                <a:ea typeface="Telegraf"/>
                <a:cs typeface="Telegraf"/>
                <a:sym typeface="Telegraf"/>
              </a:rPr>
              <a:t>RÉSUMÉ DU PROJET</a:t>
            </a:r>
          </a:p>
        </p:txBody>
      </p:sp>
      <p:sp>
        <p:nvSpPr>
          <p:cNvPr id="3" name="AutoShape 3"/>
          <p:cNvSpPr/>
          <p:nvPr/>
        </p:nvSpPr>
        <p:spPr>
          <a:xfrm rot="5400000">
            <a:off x="1834638" y="8937626"/>
            <a:ext cx="317498" cy="0"/>
          </a:xfrm>
          <a:prstGeom prst="line">
            <a:avLst/>
          </a:prstGeom>
          <a:ln w="38100" cap="flat">
            <a:solidFill>
              <a:srgbClr val="9CC453"/>
            </a:solidFill>
            <a:prstDash val="solid"/>
            <a:headEnd type="none" w="sm" len="sm"/>
            <a:tailEnd type="none" w="sm" len="sm"/>
          </a:ln>
        </p:spPr>
      </p:sp>
      <p:grpSp>
        <p:nvGrpSpPr>
          <p:cNvPr id="4" name="Group 4"/>
          <p:cNvGrpSpPr/>
          <p:nvPr/>
        </p:nvGrpSpPr>
        <p:grpSpPr>
          <a:xfrm>
            <a:off x="1585396" y="1157970"/>
            <a:ext cx="122392" cy="429165"/>
            <a:chOff x="0" y="0"/>
            <a:chExt cx="159850" cy="560512"/>
          </a:xfrm>
        </p:grpSpPr>
        <p:sp>
          <p:nvSpPr>
            <p:cNvPr id="5" name="Freeform 5"/>
            <p:cNvSpPr/>
            <p:nvPr/>
          </p:nvSpPr>
          <p:spPr>
            <a:xfrm>
              <a:off x="0" y="0"/>
              <a:ext cx="159850" cy="560512"/>
            </a:xfrm>
            <a:custGeom>
              <a:avLst/>
              <a:gdLst/>
              <a:ahLst/>
              <a:cxnLst/>
              <a:rect l="l" t="t" r="r" b="b"/>
              <a:pathLst>
                <a:path w="159850" h="560512">
                  <a:moveTo>
                    <a:pt x="0" y="0"/>
                  </a:moveTo>
                  <a:lnTo>
                    <a:pt x="159850" y="0"/>
                  </a:lnTo>
                  <a:lnTo>
                    <a:pt x="159850" y="560512"/>
                  </a:lnTo>
                  <a:lnTo>
                    <a:pt x="0" y="560512"/>
                  </a:lnTo>
                  <a:close/>
                </a:path>
              </a:pathLst>
            </a:custGeom>
            <a:solidFill>
              <a:srgbClr val="9CC453"/>
            </a:solidFill>
          </p:spPr>
        </p:sp>
        <p:sp>
          <p:nvSpPr>
            <p:cNvPr id="6" name="TextBox 6"/>
            <p:cNvSpPr txBox="1"/>
            <p:nvPr/>
          </p:nvSpPr>
          <p:spPr>
            <a:xfrm>
              <a:off x="0" y="-66675"/>
              <a:ext cx="159850" cy="627187"/>
            </a:xfrm>
            <a:prstGeom prst="rect">
              <a:avLst/>
            </a:prstGeom>
          </p:spPr>
          <p:txBody>
            <a:bodyPr lIns="50800" tIns="50800" rIns="50800" bIns="50800" rtlCol="0" anchor="ctr"/>
            <a:lstStyle/>
            <a:p>
              <a:pPr algn="ctr">
                <a:lnSpc>
                  <a:spcPts val="2520"/>
                </a:lnSpc>
              </a:pPr>
              <a:endParaRPr dirty="0"/>
            </a:p>
          </p:txBody>
        </p:sp>
      </p:grpSp>
      <p:sp>
        <p:nvSpPr>
          <p:cNvPr id="7" name="TextBox 7"/>
          <p:cNvSpPr txBox="1"/>
          <p:nvPr/>
        </p:nvSpPr>
        <p:spPr>
          <a:xfrm>
            <a:off x="1592900" y="8751571"/>
            <a:ext cx="381437" cy="335280"/>
          </a:xfrm>
          <a:prstGeom prst="rect">
            <a:avLst/>
          </a:prstGeom>
        </p:spPr>
        <p:txBody>
          <a:bodyPr lIns="0" tIns="0" rIns="0" bIns="0" rtlCol="0" anchor="t">
            <a:spAutoFit/>
          </a:bodyPr>
          <a:lstStyle/>
          <a:p>
            <a:pPr algn="just">
              <a:lnSpc>
                <a:spcPts val="2520"/>
              </a:lnSpc>
              <a:spcBef>
                <a:spcPct val="0"/>
              </a:spcBef>
            </a:pPr>
            <a:r>
              <a:rPr lang="en-US" sz="1800" b="1" dirty="0">
                <a:solidFill>
                  <a:srgbClr val="0D0A1E"/>
                </a:solidFill>
                <a:latin typeface="Telegraf Bold"/>
                <a:ea typeface="Telegraf Bold"/>
                <a:cs typeface="Telegraf Bold"/>
                <a:sym typeface="Telegraf Bold"/>
              </a:rPr>
              <a:t>03</a:t>
            </a:r>
          </a:p>
        </p:txBody>
      </p:sp>
      <p:sp>
        <p:nvSpPr>
          <p:cNvPr id="8" name="Freeform 8"/>
          <p:cNvSpPr/>
          <p:nvPr/>
        </p:nvSpPr>
        <p:spPr>
          <a:xfrm>
            <a:off x="10333476" y="2390159"/>
            <a:ext cx="11435132" cy="8847933"/>
          </a:xfrm>
          <a:custGeom>
            <a:avLst/>
            <a:gdLst/>
            <a:ahLst/>
            <a:cxnLst/>
            <a:rect l="l" t="t" r="r" b="b"/>
            <a:pathLst>
              <a:path w="11435132" h="8847933">
                <a:moveTo>
                  <a:pt x="0" y="0"/>
                </a:moveTo>
                <a:lnTo>
                  <a:pt x="11435132" y="0"/>
                </a:lnTo>
                <a:lnTo>
                  <a:pt x="11435132" y="8847933"/>
                </a:lnTo>
                <a:lnTo>
                  <a:pt x="0" y="8847933"/>
                </a:lnTo>
                <a:lnTo>
                  <a:pt x="0" y="0"/>
                </a:lnTo>
                <a:close/>
              </a:path>
            </a:pathLst>
          </a:custGeom>
          <a:blipFill>
            <a:blip r:embed="rId2"/>
            <a:stretch>
              <a:fillRect/>
            </a:stretch>
          </a:blipFill>
        </p:spPr>
      </p:sp>
      <p:sp>
        <p:nvSpPr>
          <p:cNvPr id="9" name="TextBox 9"/>
          <p:cNvSpPr txBox="1"/>
          <p:nvPr/>
        </p:nvSpPr>
        <p:spPr>
          <a:xfrm>
            <a:off x="10946792" y="-3644508"/>
            <a:ext cx="8860328" cy="9130231"/>
          </a:xfrm>
          <a:prstGeom prst="rect">
            <a:avLst/>
          </a:prstGeom>
        </p:spPr>
        <p:txBody>
          <a:bodyPr lIns="0" tIns="0" rIns="0" bIns="0" rtlCol="0" anchor="t">
            <a:spAutoFit/>
          </a:bodyPr>
          <a:lstStyle/>
          <a:p>
            <a:pPr algn="l">
              <a:lnSpc>
                <a:spcPts val="70583"/>
              </a:lnSpc>
              <a:spcBef>
                <a:spcPct val="0"/>
              </a:spcBef>
            </a:pPr>
            <a:r>
              <a:rPr lang="en-US" sz="50417" b="1" dirty="0">
                <a:solidFill>
                  <a:srgbClr val="0D0A1E">
                    <a:alpha val="4706"/>
                  </a:srgbClr>
                </a:solidFill>
                <a:latin typeface="Telegraf Ultra-Bold"/>
                <a:ea typeface="Telegraf Ultra-Bold"/>
                <a:cs typeface="Telegraf Ultra-Bold"/>
                <a:sym typeface="Telegraf Ultra-Bold"/>
              </a:rPr>
              <a:t>01</a:t>
            </a:r>
          </a:p>
        </p:txBody>
      </p:sp>
      <p:sp>
        <p:nvSpPr>
          <p:cNvPr id="10" name="Freeform 10"/>
          <p:cNvSpPr/>
          <p:nvPr/>
        </p:nvSpPr>
        <p:spPr>
          <a:xfrm rot="-1199392">
            <a:off x="5173522" y="5537399"/>
            <a:ext cx="13171332" cy="7441803"/>
          </a:xfrm>
          <a:custGeom>
            <a:avLst/>
            <a:gdLst/>
            <a:ahLst/>
            <a:cxnLst/>
            <a:rect l="l" t="t" r="r" b="b"/>
            <a:pathLst>
              <a:path w="13171332" h="7441803">
                <a:moveTo>
                  <a:pt x="0" y="0"/>
                </a:moveTo>
                <a:lnTo>
                  <a:pt x="13171333" y="0"/>
                </a:lnTo>
                <a:lnTo>
                  <a:pt x="13171333" y="7441802"/>
                </a:lnTo>
                <a:lnTo>
                  <a:pt x="0" y="7441802"/>
                </a:lnTo>
                <a:lnTo>
                  <a:pt x="0" y="0"/>
                </a:lnTo>
                <a:close/>
              </a:path>
            </a:pathLst>
          </a:custGeom>
          <a:blipFill>
            <a:blip r:embed="rId3">
              <a:alphaModFix amt="10999"/>
              <a:extLst>
                <a:ext uri="{96DAC541-7B7A-43D3-8B79-37D633B846F1}">
                  <asvg:svgBlip xmlns:asvg="http://schemas.microsoft.com/office/drawing/2016/SVG/main" xmlns="" r:embed="rId4"/>
                </a:ext>
              </a:extLst>
            </a:blip>
            <a:stretch>
              <a:fillRect/>
            </a:stretch>
          </a:blipFill>
        </p:spPr>
      </p:sp>
      <p:sp>
        <p:nvSpPr>
          <p:cNvPr id="11" name="TextBox 11"/>
          <p:cNvSpPr txBox="1"/>
          <p:nvPr/>
        </p:nvSpPr>
        <p:spPr>
          <a:xfrm>
            <a:off x="1298654" y="2156778"/>
            <a:ext cx="12988713" cy="6877685"/>
          </a:xfrm>
          <a:prstGeom prst="rect">
            <a:avLst/>
          </a:prstGeom>
        </p:spPr>
        <p:txBody>
          <a:bodyPr lIns="0" tIns="0" rIns="0" bIns="0" rtlCol="0" anchor="t">
            <a:spAutoFit/>
          </a:bodyPr>
          <a:lstStyle/>
          <a:p>
            <a:pPr marL="0" lvl="0" indent="0" algn="l">
              <a:lnSpc>
                <a:spcPts val="3640"/>
              </a:lnSpc>
              <a:spcBef>
                <a:spcPct val="0"/>
              </a:spcBef>
            </a:pPr>
            <a:r>
              <a:rPr lang="en-US" sz="2600" u="none" strike="noStrike" dirty="0">
                <a:solidFill>
                  <a:srgbClr val="000000"/>
                </a:solidFill>
                <a:latin typeface="Telegraf"/>
                <a:ea typeface="Telegraf"/>
                <a:cs typeface="Telegraf"/>
                <a:sym typeface="Telegraf"/>
              </a:rPr>
              <a:t>Le secteur agricole algérien est freiné par un manque d’organisation, des pratiques monopolistiques, un accès limité aux services techniques, et une faible valorisation des produits sur les marchés.</a:t>
            </a:r>
          </a:p>
          <a:p>
            <a:pPr marL="0" lvl="0" indent="0" algn="l">
              <a:lnSpc>
                <a:spcPts val="3640"/>
              </a:lnSpc>
              <a:spcBef>
                <a:spcPct val="0"/>
              </a:spcBef>
            </a:pPr>
            <a:r>
              <a:rPr lang="en-US" sz="2600" u="none" strike="noStrike" dirty="0">
                <a:solidFill>
                  <a:srgbClr val="000000"/>
                </a:solidFill>
                <a:latin typeface="Telegraf"/>
                <a:ea typeface="Telegraf"/>
                <a:cs typeface="Telegraf"/>
                <a:sym typeface="Telegraf"/>
              </a:rPr>
              <a:t>El Ghella est une plateforme numérique qui connecte les agriculteurs aux marchés, aux prestataires, à la logistique et à des experts qualifiés. Elle permet aussi aux vendeurs d’accéder facilement à des marchés nationaux et internationaux, tout en offrant aux experts un espace pour proposer leurs services et accompagner les agriculteurs.</a:t>
            </a:r>
          </a:p>
          <a:p>
            <a:pPr marL="0" lvl="0" indent="0" algn="l">
              <a:lnSpc>
                <a:spcPts val="3640"/>
              </a:lnSpc>
              <a:spcBef>
                <a:spcPct val="0"/>
              </a:spcBef>
            </a:pPr>
            <a:r>
              <a:rPr lang="en-US" sz="2600" u="none" strike="noStrike" dirty="0">
                <a:solidFill>
                  <a:srgbClr val="000000"/>
                </a:solidFill>
                <a:latin typeface="Telegraf"/>
                <a:ea typeface="Telegraf"/>
                <a:cs typeface="Telegraf"/>
                <a:sym typeface="Telegraf"/>
              </a:rPr>
              <a:t>En structurant les échanges, en éliminant les intermédiaires abusifs et </a:t>
            </a:r>
          </a:p>
          <a:p>
            <a:pPr marL="0" lvl="0" indent="0" algn="l">
              <a:lnSpc>
                <a:spcPts val="3640"/>
              </a:lnSpc>
              <a:spcBef>
                <a:spcPct val="0"/>
              </a:spcBef>
            </a:pPr>
            <a:r>
              <a:rPr lang="en-US" sz="2600" u="none" strike="noStrike" dirty="0">
                <a:solidFill>
                  <a:srgbClr val="000000"/>
                </a:solidFill>
                <a:latin typeface="Telegraf"/>
                <a:ea typeface="Telegraf"/>
                <a:cs typeface="Telegraf"/>
                <a:sym typeface="Telegraf"/>
              </a:rPr>
              <a:t>en améliorant la qualité des produits agricoles, El Ghella contribue à :</a:t>
            </a:r>
          </a:p>
          <a:p>
            <a:pPr marL="561341" lvl="1" indent="-280670" algn="l">
              <a:lnSpc>
                <a:spcPts val="3640"/>
              </a:lnSpc>
              <a:buFont typeface="Arial"/>
              <a:buChar char="•"/>
            </a:pPr>
            <a:r>
              <a:rPr lang="en-US" sz="2600" b="1" u="none" strike="noStrike" dirty="0">
                <a:solidFill>
                  <a:srgbClr val="1E7042"/>
                </a:solidFill>
                <a:latin typeface="Telegraf Bold"/>
                <a:ea typeface="Telegraf Bold"/>
                <a:cs typeface="Telegraf Bold"/>
                <a:sym typeface="Telegraf Bold"/>
              </a:rPr>
              <a:t>Stabiliser le marché</a:t>
            </a:r>
          </a:p>
          <a:p>
            <a:pPr marL="561341" lvl="1" indent="-280670" algn="l">
              <a:lnSpc>
                <a:spcPts val="3640"/>
              </a:lnSpc>
              <a:buFont typeface="Arial"/>
              <a:buChar char="•"/>
            </a:pPr>
            <a:r>
              <a:rPr lang="en-US" sz="2600" b="1" u="none" strike="noStrike" dirty="0">
                <a:solidFill>
                  <a:srgbClr val="1E7042"/>
                </a:solidFill>
                <a:latin typeface="Telegraf Bold"/>
                <a:ea typeface="Telegraf Bold"/>
                <a:cs typeface="Telegraf Bold"/>
                <a:sym typeface="Telegraf Bold"/>
              </a:rPr>
              <a:t>Renforcer l’export</a:t>
            </a:r>
          </a:p>
          <a:p>
            <a:pPr marL="561341" lvl="1" indent="-280670" algn="l">
              <a:lnSpc>
                <a:spcPts val="3640"/>
              </a:lnSpc>
              <a:buFont typeface="Arial"/>
              <a:buChar char="•"/>
            </a:pPr>
            <a:r>
              <a:rPr lang="en-US" sz="2600" b="1" u="none" strike="noStrike" dirty="0">
                <a:solidFill>
                  <a:srgbClr val="1E7042"/>
                </a:solidFill>
                <a:latin typeface="Telegraf Bold"/>
                <a:ea typeface="Telegraf Bold"/>
                <a:cs typeface="Telegraf Bold"/>
                <a:sym typeface="Telegraf Bold"/>
              </a:rPr>
              <a:t>améliorer la santé des consommateurs algériens </a:t>
            </a:r>
          </a:p>
          <a:p>
            <a:pPr algn="l">
              <a:lnSpc>
                <a:spcPts val="3640"/>
              </a:lnSpc>
            </a:pPr>
            <a:r>
              <a:rPr lang="en-US" sz="2600" b="1" u="none" strike="noStrike" dirty="0">
                <a:solidFill>
                  <a:srgbClr val="1E7042"/>
                </a:solidFill>
                <a:latin typeface="Telegraf Bold"/>
                <a:ea typeface="Telegraf Bold"/>
                <a:cs typeface="Telegraf Bold"/>
                <a:sym typeface="Telegraf Bold"/>
              </a:rPr>
              <a:t>grâce à des produits mieux encadrés et suivis.</a:t>
            </a:r>
          </a:p>
          <a:p>
            <a:pPr marL="0" lvl="0" indent="0" algn="l">
              <a:lnSpc>
                <a:spcPts val="3640"/>
              </a:lnSpc>
              <a:spcBef>
                <a:spcPct val="0"/>
              </a:spcBef>
            </a:pPr>
            <a:endParaRPr lang="en-US" sz="2600" b="1" u="none" strike="noStrike" dirty="0">
              <a:solidFill>
                <a:srgbClr val="1E7042"/>
              </a:solidFill>
              <a:latin typeface="Telegraf Bold"/>
              <a:ea typeface="Telegraf Bold"/>
              <a:cs typeface="Telegraf Bold"/>
              <a:sym typeface="Telegraf Bold"/>
            </a:endParaRPr>
          </a:p>
        </p:txBody>
      </p:sp>
      <p:sp>
        <p:nvSpPr>
          <p:cNvPr id="12" name="TextBox 12"/>
          <p:cNvSpPr txBox="1"/>
          <p:nvPr/>
        </p:nvSpPr>
        <p:spPr>
          <a:xfrm>
            <a:off x="1880258" y="876300"/>
            <a:ext cx="7263742" cy="1725930"/>
          </a:xfrm>
          <a:prstGeom prst="rect">
            <a:avLst/>
          </a:prstGeom>
        </p:spPr>
        <p:txBody>
          <a:bodyPr lIns="0" tIns="0" rIns="0" bIns="0" rtlCol="0" anchor="t">
            <a:spAutoFit/>
          </a:bodyPr>
          <a:lstStyle/>
          <a:p>
            <a:pPr algn="l">
              <a:lnSpc>
                <a:spcPts val="6719"/>
              </a:lnSpc>
            </a:pPr>
            <a:r>
              <a:rPr lang="en-US" sz="4800" b="1" dirty="0">
                <a:solidFill>
                  <a:srgbClr val="0D0A1E"/>
                </a:solidFill>
                <a:latin typeface="Telegraf Bold"/>
                <a:ea typeface="Telegraf Bold"/>
                <a:cs typeface="Telegraf Bold"/>
                <a:sym typeface="Telegraf Bold"/>
              </a:rPr>
              <a:t>RÉSUMÉ DU PROJET</a:t>
            </a:r>
          </a:p>
          <a:p>
            <a:pPr algn="l">
              <a:lnSpc>
                <a:spcPts val="6719"/>
              </a:lnSpc>
              <a:spcBef>
                <a:spcPct val="0"/>
              </a:spcBef>
            </a:pPr>
            <a:endParaRPr lang="en-US" sz="4800" b="1" dirty="0">
              <a:solidFill>
                <a:srgbClr val="0D0A1E"/>
              </a:solidFill>
              <a:latin typeface="Telegraf Bold"/>
              <a:ea typeface="Telegraf Bold"/>
              <a:cs typeface="Telegraf Bold"/>
              <a:sym typeface="Telegraf Bold"/>
            </a:endParaRPr>
          </a:p>
        </p:txBody>
      </p:sp>
      <p:sp>
        <p:nvSpPr>
          <p:cNvPr id="13" name="AutoShape 13"/>
          <p:cNvSpPr/>
          <p:nvPr/>
        </p:nvSpPr>
        <p:spPr>
          <a:xfrm>
            <a:off x="4298283" y="8952549"/>
            <a:ext cx="5152590" cy="8890"/>
          </a:xfrm>
          <a:prstGeom prst="line">
            <a:avLst/>
          </a:prstGeom>
          <a:ln w="9525" cap="flat">
            <a:solidFill>
              <a:srgbClr val="000000"/>
            </a:solidFill>
            <a:prstDash val="solid"/>
            <a:headEnd type="none" w="sm" len="sm"/>
            <a:tailEnd type="none" w="sm" len="sm"/>
          </a:ln>
        </p:spPr>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AFAFA"/>
        </a:solidFill>
        <a:effectLst/>
      </p:bgPr>
    </p:bg>
    <p:spTree>
      <p:nvGrpSpPr>
        <p:cNvPr id="1" name=""/>
        <p:cNvGrpSpPr/>
        <p:nvPr/>
      </p:nvGrpSpPr>
      <p:grpSpPr>
        <a:xfrm>
          <a:off x="0" y="0"/>
          <a:ext cx="0" cy="0"/>
          <a:chOff x="0" y="0"/>
          <a:chExt cx="0" cy="0"/>
        </a:xfrm>
      </p:grpSpPr>
      <p:grpSp>
        <p:nvGrpSpPr>
          <p:cNvPr id="2" name="Group 2"/>
          <p:cNvGrpSpPr/>
          <p:nvPr/>
        </p:nvGrpSpPr>
        <p:grpSpPr>
          <a:xfrm>
            <a:off x="2129113" y="1509878"/>
            <a:ext cx="2134552" cy="2134544"/>
            <a:chOff x="0" y="0"/>
            <a:chExt cx="6350000" cy="6349975"/>
          </a:xfrm>
        </p:grpSpPr>
        <p:sp>
          <p:nvSpPr>
            <p:cNvPr id="3" name="Freeform 3"/>
            <p:cNvSpPr/>
            <p:nvPr/>
          </p:nvSpPr>
          <p:spPr>
            <a:xfrm>
              <a:off x="0" y="0"/>
              <a:ext cx="6350000" cy="6349975"/>
            </a:xfrm>
            <a:custGeom>
              <a:avLst/>
              <a:gdLst/>
              <a:ahLst/>
              <a:cxnLst/>
              <a:rect l="l" t="t" r="r" b="b"/>
              <a:pathLst>
                <a:path w="6350000" h="6349975">
                  <a:moveTo>
                    <a:pt x="6350000" y="3175025"/>
                  </a:moveTo>
                  <a:cubicBezTo>
                    <a:pt x="6350000" y="4928451"/>
                    <a:pt x="4928476" y="6349975"/>
                    <a:pt x="3175000" y="6349975"/>
                  </a:cubicBezTo>
                  <a:cubicBezTo>
                    <a:pt x="1421498" y="6349975"/>
                    <a:pt x="0" y="4928451"/>
                    <a:pt x="0" y="3175025"/>
                  </a:cubicBezTo>
                  <a:cubicBezTo>
                    <a:pt x="0" y="1421511"/>
                    <a:pt x="1421498" y="0"/>
                    <a:pt x="3175000" y="0"/>
                  </a:cubicBezTo>
                  <a:cubicBezTo>
                    <a:pt x="4928502" y="0"/>
                    <a:pt x="6350000" y="1421511"/>
                    <a:pt x="6350000" y="3175025"/>
                  </a:cubicBezTo>
                  <a:close/>
                </a:path>
              </a:pathLst>
            </a:custGeom>
            <a:blipFill>
              <a:blip r:embed="rId2" cstate="print"/>
              <a:stretch>
                <a:fillRect l="-116286" t="-79291" r="-94242" b="-233143"/>
              </a:stretch>
            </a:blipFill>
          </p:spPr>
        </p:sp>
      </p:grpSp>
      <p:sp>
        <p:nvSpPr>
          <p:cNvPr id="4" name="Freeform 4"/>
          <p:cNvSpPr/>
          <p:nvPr/>
        </p:nvSpPr>
        <p:spPr>
          <a:xfrm rot="-1199392">
            <a:off x="11913439" y="5537399"/>
            <a:ext cx="13171332" cy="7441803"/>
          </a:xfrm>
          <a:custGeom>
            <a:avLst/>
            <a:gdLst/>
            <a:ahLst/>
            <a:cxnLst/>
            <a:rect l="l" t="t" r="r" b="b"/>
            <a:pathLst>
              <a:path w="13171332" h="7441803">
                <a:moveTo>
                  <a:pt x="0" y="0"/>
                </a:moveTo>
                <a:lnTo>
                  <a:pt x="13171332" y="0"/>
                </a:lnTo>
                <a:lnTo>
                  <a:pt x="13171332" y="7441802"/>
                </a:lnTo>
                <a:lnTo>
                  <a:pt x="0" y="7441802"/>
                </a:lnTo>
                <a:lnTo>
                  <a:pt x="0" y="0"/>
                </a:lnTo>
                <a:close/>
              </a:path>
            </a:pathLst>
          </a:custGeom>
          <a:blipFill>
            <a:blip r:embed="rId3">
              <a:alphaModFix amt="10999"/>
              <a:extLst>
                <a:ext uri="{96DAC541-7B7A-43D3-8B79-37D633B846F1}">
                  <asvg:svgBlip xmlns:asvg="http://schemas.microsoft.com/office/drawing/2016/SVG/main" xmlns="" r:embed="rId4"/>
                </a:ext>
              </a:extLst>
            </a:blip>
            <a:stretch>
              <a:fillRect/>
            </a:stretch>
          </a:blipFill>
        </p:spPr>
      </p:sp>
      <p:sp>
        <p:nvSpPr>
          <p:cNvPr id="5" name="TextBox 5"/>
          <p:cNvSpPr txBox="1"/>
          <p:nvPr/>
        </p:nvSpPr>
        <p:spPr>
          <a:xfrm>
            <a:off x="2129081" y="8743316"/>
            <a:ext cx="1761102" cy="351790"/>
          </a:xfrm>
          <a:prstGeom prst="rect">
            <a:avLst/>
          </a:prstGeom>
        </p:spPr>
        <p:txBody>
          <a:bodyPr lIns="0" tIns="0" rIns="0" bIns="0" rtlCol="0" anchor="t">
            <a:spAutoFit/>
          </a:bodyPr>
          <a:lstStyle/>
          <a:p>
            <a:pPr algn="l">
              <a:lnSpc>
                <a:spcPts val="2659"/>
              </a:lnSpc>
              <a:spcBef>
                <a:spcPct val="0"/>
              </a:spcBef>
            </a:pPr>
            <a:r>
              <a:rPr lang="en-US" sz="1899" dirty="0">
                <a:solidFill>
                  <a:srgbClr val="0D0A1E"/>
                </a:solidFill>
                <a:latin typeface="Telegraf"/>
                <a:ea typeface="Telegraf"/>
                <a:cs typeface="Telegraf"/>
                <a:sym typeface="Telegraf"/>
              </a:rPr>
              <a:t>notre équipe</a:t>
            </a:r>
          </a:p>
        </p:txBody>
      </p:sp>
      <p:sp>
        <p:nvSpPr>
          <p:cNvPr id="6" name="AutoShape 6"/>
          <p:cNvSpPr/>
          <p:nvPr/>
        </p:nvSpPr>
        <p:spPr>
          <a:xfrm rot="5400000">
            <a:off x="1834638" y="8937626"/>
            <a:ext cx="317498" cy="0"/>
          </a:xfrm>
          <a:prstGeom prst="line">
            <a:avLst/>
          </a:prstGeom>
          <a:ln w="38100" cap="flat">
            <a:solidFill>
              <a:srgbClr val="9CC453"/>
            </a:solidFill>
            <a:prstDash val="solid"/>
            <a:headEnd type="none" w="sm" len="sm"/>
            <a:tailEnd type="none" w="sm" len="sm"/>
          </a:ln>
        </p:spPr>
      </p:sp>
      <p:sp>
        <p:nvSpPr>
          <p:cNvPr id="7" name="AutoShape 7"/>
          <p:cNvSpPr/>
          <p:nvPr/>
        </p:nvSpPr>
        <p:spPr>
          <a:xfrm>
            <a:off x="3890183" y="8952549"/>
            <a:ext cx="12632169" cy="0"/>
          </a:xfrm>
          <a:prstGeom prst="line">
            <a:avLst/>
          </a:prstGeom>
          <a:ln w="9525" cap="flat">
            <a:solidFill>
              <a:srgbClr val="000000"/>
            </a:solidFill>
            <a:prstDash val="solid"/>
            <a:headEnd type="none" w="sm" len="sm"/>
            <a:tailEnd type="none" w="sm" len="sm"/>
          </a:ln>
        </p:spPr>
      </p:sp>
      <p:grpSp>
        <p:nvGrpSpPr>
          <p:cNvPr id="8" name="Group 8"/>
          <p:cNvGrpSpPr/>
          <p:nvPr/>
        </p:nvGrpSpPr>
        <p:grpSpPr>
          <a:xfrm>
            <a:off x="7724629" y="1169668"/>
            <a:ext cx="2134552" cy="2134544"/>
            <a:chOff x="0" y="0"/>
            <a:chExt cx="6350000" cy="6349975"/>
          </a:xfrm>
        </p:grpSpPr>
        <p:sp>
          <p:nvSpPr>
            <p:cNvPr id="9" name="Freeform 9"/>
            <p:cNvSpPr/>
            <p:nvPr/>
          </p:nvSpPr>
          <p:spPr>
            <a:xfrm>
              <a:off x="0" y="0"/>
              <a:ext cx="6350000" cy="6349975"/>
            </a:xfrm>
            <a:custGeom>
              <a:avLst/>
              <a:gdLst/>
              <a:ahLst/>
              <a:cxnLst/>
              <a:rect l="l" t="t" r="r" b="b"/>
              <a:pathLst>
                <a:path w="6350000" h="6349975">
                  <a:moveTo>
                    <a:pt x="6350000" y="3175025"/>
                  </a:moveTo>
                  <a:cubicBezTo>
                    <a:pt x="6350000" y="4928451"/>
                    <a:pt x="4928476" y="6349975"/>
                    <a:pt x="3175000" y="6349975"/>
                  </a:cubicBezTo>
                  <a:cubicBezTo>
                    <a:pt x="1421498" y="6349975"/>
                    <a:pt x="0" y="4928451"/>
                    <a:pt x="0" y="3175025"/>
                  </a:cubicBezTo>
                  <a:cubicBezTo>
                    <a:pt x="0" y="1421511"/>
                    <a:pt x="1421498" y="0"/>
                    <a:pt x="3175000" y="0"/>
                  </a:cubicBezTo>
                  <a:cubicBezTo>
                    <a:pt x="4928502" y="0"/>
                    <a:pt x="6350000" y="1421511"/>
                    <a:pt x="6350000" y="3175025"/>
                  </a:cubicBezTo>
                  <a:close/>
                </a:path>
              </a:pathLst>
            </a:custGeom>
            <a:blipFill>
              <a:blip r:embed="rId5"/>
              <a:stretch>
                <a:fillRect l="-13433" t="-839" r="-20990" b="-33584"/>
              </a:stretch>
            </a:blipFill>
          </p:spPr>
        </p:sp>
      </p:grpSp>
      <p:grpSp>
        <p:nvGrpSpPr>
          <p:cNvPr id="10" name="Group 10"/>
          <p:cNvGrpSpPr/>
          <p:nvPr/>
        </p:nvGrpSpPr>
        <p:grpSpPr>
          <a:xfrm>
            <a:off x="13217765" y="1509878"/>
            <a:ext cx="2134552" cy="2134544"/>
            <a:chOff x="0" y="0"/>
            <a:chExt cx="6350000" cy="6349975"/>
          </a:xfrm>
        </p:grpSpPr>
        <p:sp>
          <p:nvSpPr>
            <p:cNvPr id="11" name="Freeform 11"/>
            <p:cNvSpPr/>
            <p:nvPr/>
          </p:nvSpPr>
          <p:spPr>
            <a:xfrm>
              <a:off x="0" y="0"/>
              <a:ext cx="6350000" cy="6349975"/>
            </a:xfrm>
            <a:custGeom>
              <a:avLst/>
              <a:gdLst/>
              <a:ahLst/>
              <a:cxnLst/>
              <a:rect l="l" t="t" r="r" b="b"/>
              <a:pathLst>
                <a:path w="6350000" h="6349975">
                  <a:moveTo>
                    <a:pt x="6350000" y="3175025"/>
                  </a:moveTo>
                  <a:cubicBezTo>
                    <a:pt x="6350000" y="4928451"/>
                    <a:pt x="4928476" y="6349975"/>
                    <a:pt x="3175000" y="6349975"/>
                  </a:cubicBezTo>
                  <a:cubicBezTo>
                    <a:pt x="1421498" y="6349975"/>
                    <a:pt x="0" y="4928451"/>
                    <a:pt x="0" y="3175025"/>
                  </a:cubicBezTo>
                  <a:cubicBezTo>
                    <a:pt x="0" y="1421511"/>
                    <a:pt x="1421498" y="0"/>
                    <a:pt x="3175000" y="0"/>
                  </a:cubicBezTo>
                  <a:cubicBezTo>
                    <a:pt x="4928502" y="0"/>
                    <a:pt x="6350000" y="1421511"/>
                    <a:pt x="6350000" y="3175025"/>
                  </a:cubicBezTo>
                  <a:close/>
                </a:path>
              </a:pathLst>
            </a:custGeom>
            <a:blipFill>
              <a:blip r:embed="rId6"/>
              <a:stretch>
                <a:fillRect l="-18471" r="-4198" b="-22669"/>
              </a:stretch>
            </a:blipFill>
          </p:spPr>
        </p:sp>
      </p:grpSp>
      <p:sp>
        <p:nvSpPr>
          <p:cNvPr id="12" name="TextBox 12"/>
          <p:cNvSpPr txBox="1"/>
          <p:nvPr/>
        </p:nvSpPr>
        <p:spPr>
          <a:xfrm>
            <a:off x="1777018" y="4012934"/>
            <a:ext cx="2838742" cy="476885"/>
          </a:xfrm>
          <a:prstGeom prst="rect">
            <a:avLst/>
          </a:prstGeom>
        </p:spPr>
        <p:txBody>
          <a:bodyPr lIns="0" tIns="0" rIns="0" bIns="0" rtlCol="0" anchor="t">
            <a:spAutoFit/>
          </a:bodyPr>
          <a:lstStyle/>
          <a:p>
            <a:pPr algn="l">
              <a:lnSpc>
                <a:spcPts val="3640"/>
              </a:lnSpc>
              <a:spcBef>
                <a:spcPct val="0"/>
              </a:spcBef>
            </a:pPr>
            <a:r>
              <a:rPr lang="en-US" sz="2600" b="1" dirty="0">
                <a:solidFill>
                  <a:srgbClr val="000000"/>
                </a:solidFill>
                <a:latin typeface="Telegraf Bold"/>
                <a:ea typeface="Telegraf Bold"/>
                <a:cs typeface="Telegraf Bold"/>
                <a:sym typeface="Telegraf Bold"/>
              </a:rPr>
              <a:t>ZELLAG ISLAM </a:t>
            </a:r>
          </a:p>
        </p:txBody>
      </p:sp>
      <p:sp>
        <p:nvSpPr>
          <p:cNvPr id="13" name="TextBox 13"/>
          <p:cNvSpPr txBox="1"/>
          <p:nvPr/>
        </p:nvSpPr>
        <p:spPr>
          <a:xfrm>
            <a:off x="1777018" y="4438944"/>
            <a:ext cx="2838742" cy="401320"/>
          </a:xfrm>
          <a:prstGeom prst="rect">
            <a:avLst/>
          </a:prstGeom>
        </p:spPr>
        <p:txBody>
          <a:bodyPr lIns="0" tIns="0" rIns="0" bIns="0" rtlCol="0" anchor="t">
            <a:spAutoFit/>
          </a:bodyPr>
          <a:lstStyle/>
          <a:p>
            <a:pPr algn="l">
              <a:lnSpc>
                <a:spcPts val="3079"/>
              </a:lnSpc>
              <a:spcBef>
                <a:spcPct val="0"/>
              </a:spcBef>
            </a:pPr>
            <a:r>
              <a:rPr lang="en-US" sz="2199" b="1" dirty="0">
                <a:solidFill>
                  <a:srgbClr val="358F5C"/>
                </a:solidFill>
                <a:latin typeface="Telegraf Bold"/>
                <a:ea typeface="Telegraf Bold"/>
                <a:cs typeface="Telegraf Bold"/>
                <a:sym typeface="Telegraf Bold"/>
              </a:rPr>
              <a:t>Directeur général</a:t>
            </a:r>
          </a:p>
        </p:txBody>
      </p:sp>
      <p:sp>
        <p:nvSpPr>
          <p:cNvPr id="14" name="TextBox 14"/>
          <p:cNvSpPr txBox="1"/>
          <p:nvPr/>
        </p:nvSpPr>
        <p:spPr>
          <a:xfrm>
            <a:off x="1592900" y="5293372"/>
            <a:ext cx="3386196" cy="604520"/>
          </a:xfrm>
          <a:prstGeom prst="rect">
            <a:avLst/>
          </a:prstGeom>
        </p:spPr>
        <p:txBody>
          <a:bodyPr lIns="0" tIns="0" rIns="0" bIns="0" rtlCol="0" anchor="t">
            <a:spAutoFit/>
          </a:bodyPr>
          <a:lstStyle/>
          <a:p>
            <a:pPr algn="ctr">
              <a:lnSpc>
                <a:spcPts val="2380"/>
              </a:lnSpc>
              <a:spcBef>
                <a:spcPct val="0"/>
              </a:spcBef>
            </a:pPr>
            <a:r>
              <a:rPr lang="en-US" sz="1700" dirty="0">
                <a:solidFill>
                  <a:srgbClr val="0D0A1E"/>
                </a:solidFill>
                <a:latin typeface="Telegraf"/>
                <a:ea typeface="Telegraf"/>
                <a:cs typeface="Telegraf"/>
                <a:sym typeface="Telegraf"/>
              </a:rPr>
              <a:t>Ingénieur agronome – spécialité Sciences du sol </a:t>
            </a:r>
          </a:p>
        </p:txBody>
      </p:sp>
      <p:sp>
        <p:nvSpPr>
          <p:cNvPr id="15" name="TextBox 15"/>
          <p:cNvSpPr txBox="1"/>
          <p:nvPr/>
        </p:nvSpPr>
        <p:spPr>
          <a:xfrm>
            <a:off x="1592900" y="400048"/>
            <a:ext cx="3868957" cy="769620"/>
          </a:xfrm>
          <a:prstGeom prst="rect">
            <a:avLst/>
          </a:prstGeom>
        </p:spPr>
        <p:txBody>
          <a:bodyPr lIns="0" tIns="0" rIns="0" bIns="0" rtlCol="0" anchor="t">
            <a:spAutoFit/>
          </a:bodyPr>
          <a:lstStyle/>
          <a:p>
            <a:pPr algn="l">
              <a:lnSpc>
                <a:spcPts val="5880"/>
              </a:lnSpc>
              <a:spcBef>
                <a:spcPct val="0"/>
              </a:spcBef>
            </a:pPr>
            <a:r>
              <a:rPr lang="en-US" sz="4200" b="1" dirty="0">
                <a:solidFill>
                  <a:srgbClr val="0D0A1E"/>
                </a:solidFill>
                <a:latin typeface="Telegraf Bold"/>
                <a:ea typeface="Telegraf Bold"/>
                <a:cs typeface="Telegraf Bold"/>
                <a:sym typeface="Telegraf Bold"/>
              </a:rPr>
              <a:t>notre équipe</a:t>
            </a:r>
          </a:p>
        </p:txBody>
      </p:sp>
      <p:sp>
        <p:nvSpPr>
          <p:cNvPr id="16" name="TextBox 16"/>
          <p:cNvSpPr txBox="1"/>
          <p:nvPr/>
        </p:nvSpPr>
        <p:spPr>
          <a:xfrm>
            <a:off x="1592900" y="8751571"/>
            <a:ext cx="381437" cy="335280"/>
          </a:xfrm>
          <a:prstGeom prst="rect">
            <a:avLst/>
          </a:prstGeom>
        </p:spPr>
        <p:txBody>
          <a:bodyPr lIns="0" tIns="0" rIns="0" bIns="0" rtlCol="0" anchor="t">
            <a:spAutoFit/>
          </a:bodyPr>
          <a:lstStyle/>
          <a:p>
            <a:pPr algn="just">
              <a:lnSpc>
                <a:spcPts val="2520"/>
              </a:lnSpc>
              <a:spcBef>
                <a:spcPct val="0"/>
              </a:spcBef>
            </a:pPr>
            <a:r>
              <a:rPr lang="en-US" sz="1800" b="1" dirty="0">
                <a:solidFill>
                  <a:srgbClr val="0D0A1E"/>
                </a:solidFill>
                <a:latin typeface="Telegraf Bold"/>
                <a:ea typeface="Telegraf Bold"/>
                <a:cs typeface="Telegraf Bold"/>
                <a:sym typeface="Telegraf Bold"/>
              </a:rPr>
              <a:t>04</a:t>
            </a:r>
          </a:p>
        </p:txBody>
      </p:sp>
      <p:sp>
        <p:nvSpPr>
          <p:cNvPr id="17" name="TextBox 17"/>
          <p:cNvSpPr txBox="1"/>
          <p:nvPr/>
        </p:nvSpPr>
        <p:spPr>
          <a:xfrm>
            <a:off x="7249800" y="3645904"/>
            <a:ext cx="4014136" cy="476885"/>
          </a:xfrm>
          <a:prstGeom prst="rect">
            <a:avLst/>
          </a:prstGeom>
        </p:spPr>
        <p:txBody>
          <a:bodyPr lIns="0" tIns="0" rIns="0" bIns="0" rtlCol="0" anchor="t">
            <a:spAutoFit/>
          </a:bodyPr>
          <a:lstStyle/>
          <a:p>
            <a:pPr algn="l">
              <a:lnSpc>
                <a:spcPts val="3640"/>
              </a:lnSpc>
              <a:spcBef>
                <a:spcPct val="0"/>
              </a:spcBef>
            </a:pPr>
            <a:r>
              <a:rPr lang="en-US" sz="2600" b="1" dirty="0">
                <a:solidFill>
                  <a:srgbClr val="000000"/>
                </a:solidFill>
                <a:latin typeface="Telegraf Bold"/>
                <a:ea typeface="Telegraf Bold"/>
                <a:cs typeface="Telegraf Bold"/>
                <a:sym typeface="Telegraf Bold"/>
              </a:rPr>
              <a:t>EDDOUAOUDA ISLAM</a:t>
            </a:r>
          </a:p>
        </p:txBody>
      </p:sp>
      <p:sp>
        <p:nvSpPr>
          <p:cNvPr id="18" name="TextBox 18"/>
          <p:cNvSpPr txBox="1"/>
          <p:nvPr/>
        </p:nvSpPr>
        <p:spPr>
          <a:xfrm>
            <a:off x="7249800" y="4227564"/>
            <a:ext cx="3901268" cy="791845"/>
          </a:xfrm>
          <a:prstGeom prst="rect">
            <a:avLst/>
          </a:prstGeom>
        </p:spPr>
        <p:txBody>
          <a:bodyPr lIns="0" tIns="0" rIns="0" bIns="0" rtlCol="0" anchor="t">
            <a:spAutoFit/>
          </a:bodyPr>
          <a:lstStyle/>
          <a:p>
            <a:pPr algn="ctr">
              <a:lnSpc>
                <a:spcPts val="3079"/>
              </a:lnSpc>
              <a:spcBef>
                <a:spcPct val="0"/>
              </a:spcBef>
            </a:pPr>
            <a:r>
              <a:rPr lang="en-US" sz="2199" b="1" dirty="0">
                <a:solidFill>
                  <a:srgbClr val="358F5C"/>
                </a:solidFill>
                <a:latin typeface="Telegraf Bold"/>
                <a:ea typeface="Telegraf Bold"/>
                <a:cs typeface="Telegraf Bold"/>
                <a:sym typeface="Telegraf Bold"/>
              </a:rPr>
              <a:t>Directeur des opérations agricoles</a:t>
            </a:r>
          </a:p>
        </p:txBody>
      </p:sp>
      <p:sp>
        <p:nvSpPr>
          <p:cNvPr id="19" name="TextBox 19"/>
          <p:cNvSpPr txBox="1"/>
          <p:nvPr/>
        </p:nvSpPr>
        <p:spPr>
          <a:xfrm>
            <a:off x="7540511" y="5145734"/>
            <a:ext cx="3497689" cy="899795"/>
          </a:xfrm>
          <a:prstGeom prst="rect">
            <a:avLst/>
          </a:prstGeom>
        </p:spPr>
        <p:txBody>
          <a:bodyPr lIns="0" tIns="0" rIns="0" bIns="0" rtlCol="0" anchor="t">
            <a:spAutoFit/>
          </a:bodyPr>
          <a:lstStyle/>
          <a:p>
            <a:pPr algn="ctr">
              <a:lnSpc>
                <a:spcPts val="2380"/>
              </a:lnSpc>
              <a:spcBef>
                <a:spcPct val="0"/>
              </a:spcBef>
            </a:pPr>
            <a:r>
              <a:rPr lang="en-US" sz="1700" dirty="0">
                <a:solidFill>
                  <a:srgbClr val="0D0A1E"/>
                </a:solidFill>
                <a:latin typeface="Telegraf"/>
                <a:ea typeface="Telegraf"/>
                <a:cs typeface="Telegraf"/>
                <a:sym typeface="Telegraf"/>
              </a:rPr>
              <a:t>Ingénieur agronome – spécialité Sciences du sol  et analyses spatiales </a:t>
            </a:r>
          </a:p>
        </p:txBody>
      </p:sp>
      <p:sp>
        <p:nvSpPr>
          <p:cNvPr id="20" name="TextBox 20"/>
          <p:cNvSpPr txBox="1"/>
          <p:nvPr/>
        </p:nvSpPr>
        <p:spPr>
          <a:xfrm>
            <a:off x="13217765" y="4012934"/>
            <a:ext cx="4686239" cy="476885"/>
          </a:xfrm>
          <a:prstGeom prst="rect">
            <a:avLst/>
          </a:prstGeom>
        </p:spPr>
        <p:txBody>
          <a:bodyPr lIns="0" tIns="0" rIns="0" bIns="0" rtlCol="0" anchor="t">
            <a:spAutoFit/>
          </a:bodyPr>
          <a:lstStyle/>
          <a:p>
            <a:pPr algn="l">
              <a:lnSpc>
                <a:spcPts val="3640"/>
              </a:lnSpc>
              <a:spcBef>
                <a:spcPct val="0"/>
              </a:spcBef>
            </a:pPr>
            <a:r>
              <a:rPr lang="en-US" sz="2600" b="1" dirty="0">
                <a:solidFill>
                  <a:srgbClr val="000000"/>
                </a:solidFill>
                <a:latin typeface="Telegraf Bold"/>
                <a:ea typeface="Telegraf Bold"/>
                <a:cs typeface="Telegraf Bold"/>
                <a:sym typeface="Telegraf Bold"/>
              </a:rPr>
              <a:t>AISSANI ABDENOUR</a:t>
            </a:r>
          </a:p>
        </p:txBody>
      </p:sp>
      <p:sp>
        <p:nvSpPr>
          <p:cNvPr id="21" name="TextBox 21"/>
          <p:cNvSpPr txBox="1"/>
          <p:nvPr/>
        </p:nvSpPr>
        <p:spPr>
          <a:xfrm>
            <a:off x="13217765" y="4438944"/>
            <a:ext cx="4686239" cy="401320"/>
          </a:xfrm>
          <a:prstGeom prst="rect">
            <a:avLst/>
          </a:prstGeom>
        </p:spPr>
        <p:txBody>
          <a:bodyPr lIns="0" tIns="0" rIns="0" bIns="0" rtlCol="0" anchor="t">
            <a:spAutoFit/>
          </a:bodyPr>
          <a:lstStyle/>
          <a:p>
            <a:pPr algn="l">
              <a:lnSpc>
                <a:spcPts val="3079"/>
              </a:lnSpc>
              <a:spcBef>
                <a:spcPct val="0"/>
              </a:spcBef>
            </a:pPr>
            <a:r>
              <a:rPr lang="en-US" sz="2199" b="1" dirty="0">
                <a:solidFill>
                  <a:srgbClr val="358F5C"/>
                </a:solidFill>
                <a:latin typeface="Telegraf Bold"/>
                <a:ea typeface="Telegraf Bold"/>
                <a:cs typeface="Telegraf Bold"/>
                <a:sym typeface="Telegraf Bold"/>
              </a:rPr>
              <a:t>Directeur commercial </a:t>
            </a:r>
          </a:p>
        </p:txBody>
      </p:sp>
      <p:sp>
        <p:nvSpPr>
          <p:cNvPr id="22" name="TextBox 22"/>
          <p:cNvSpPr txBox="1"/>
          <p:nvPr/>
        </p:nvSpPr>
        <p:spPr>
          <a:xfrm>
            <a:off x="13217765" y="5086350"/>
            <a:ext cx="3206979" cy="899795"/>
          </a:xfrm>
          <a:prstGeom prst="rect">
            <a:avLst/>
          </a:prstGeom>
        </p:spPr>
        <p:txBody>
          <a:bodyPr lIns="0" tIns="0" rIns="0" bIns="0" rtlCol="0" anchor="t">
            <a:spAutoFit/>
          </a:bodyPr>
          <a:lstStyle/>
          <a:p>
            <a:pPr algn="ctr">
              <a:lnSpc>
                <a:spcPts val="2380"/>
              </a:lnSpc>
              <a:spcBef>
                <a:spcPct val="0"/>
              </a:spcBef>
            </a:pPr>
            <a:r>
              <a:rPr lang="en-US" sz="1700" dirty="0">
                <a:solidFill>
                  <a:srgbClr val="0D0A1E"/>
                </a:solidFill>
                <a:latin typeface="Telegraf"/>
                <a:ea typeface="Telegraf"/>
                <a:cs typeface="Telegraf"/>
                <a:sym typeface="Telegraf"/>
              </a:rPr>
              <a:t>Ingénieur agronome – spécialité Sciences du sol  ,  commerce internationale </a:t>
            </a:r>
          </a:p>
        </p:txBody>
      </p:sp>
      <p:sp>
        <p:nvSpPr>
          <p:cNvPr id="23" name="TextBox 23"/>
          <p:cNvSpPr txBox="1"/>
          <p:nvPr/>
        </p:nvSpPr>
        <p:spPr>
          <a:xfrm>
            <a:off x="8079361" y="6044653"/>
            <a:ext cx="2377950" cy="434286"/>
          </a:xfrm>
          <a:prstGeom prst="rect">
            <a:avLst/>
          </a:prstGeom>
        </p:spPr>
        <p:txBody>
          <a:bodyPr wrap="square" lIns="0" tIns="0" rIns="0" bIns="0" rtlCol="0" anchor="t">
            <a:spAutoFit/>
          </a:bodyPr>
          <a:lstStyle/>
          <a:p>
            <a:pPr algn="ctr">
              <a:lnSpc>
                <a:spcPts val="3640"/>
              </a:lnSpc>
              <a:spcBef>
                <a:spcPct val="0"/>
              </a:spcBef>
            </a:pPr>
            <a:r>
              <a:rPr lang="en-US" sz="2600" b="1" dirty="0">
                <a:solidFill>
                  <a:srgbClr val="1E7042"/>
                </a:solidFill>
                <a:latin typeface="Telegraf Bold"/>
                <a:ea typeface="Telegraf Bold"/>
                <a:cs typeface="Telegraf Bold"/>
                <a:sym typeface="Telegraf Bold"/>
              </a:rPr>
              <a:t>Qualifications</a:t>
            </a:r>
          </a:p>
        </p:txBody>
      </p:sp>
      <p:sp>
        <p:nvSpPr>
          <p:cNvPr id="24" name="TextBox 24"/>
          <p:cNvSpPr txBox="1"/>
          <p:nvPr/>
        </p:nvSpPr>
        <p:spPr>
          <a:xfrm>
            <a:off x="1028700" y="6603848"/>
            <a:ext cx="4839412" cy="1785620"/>
          </a:xfrm>
          <a:prstGeom prst="rect">
            <a:avLst/>
          </a:prstGeom>
        </p:spPr>
        <p:txBody>
          <a:bodyPr lIns="0" tIns="0" rIns="0" bIns="0" rtlCol="0" anchor="t">
            <a:spAutoFit/>
          </a:bodyPr>
          <a:lstStyle/>
          <a:p>
            <a:pPr marL="0" lvl="0" indent="0" algn="ctr">
              <a:lnSpc>
                <a:spcPts val="2380"/>
              </a:lnSpc>
              <a:spcBef>
                <a:spcPct val="0"/>
              </a:spcBef>
            </a:pPr>
            <a:r>
              <a:rPr lang="en-US" sz="1700" u="none" strike="noStrike" dirty="0">
                <a:solidFill>
                  <a:srgbClr val="0D0A1E"/>
                </a:solidFill>
                <a:latin typeface="Telegraf"/>
                <a:ea typeface="Telegraf"/>
                <a:cs typeface="Telegraf"/>
                <a:sym typeface="Telegraf"/>
              </a:rPr>
              <a:t>Passionné par l’agriculture durable, il met son expertise scientifique au service du terrain. </a:t>
            </a:r>
          </a:p>
          <a:p>
            <a:pPr marL="0" lvl="0" indent="0" algn="ctr">
              <a:lnSpc>
                <a:spcPts val="2380"/>
              </a:lnSpc>
              <a:spcBef>
                <a:spcPct val="0"/>
              </a:spcBef>
            </a:pPr>
            <a:r>
              <a:rPr lang="en-US" sz="1700" u="none" strike="noStrike" dirty="0">
                <a:solidFill>
                  <a:srgbClr val="0D0A1E"/>
                </a:solidFill>
                <a:latin typeface="Telegraf"/>
                <a:ea typeface="Telegraf"/>
                <a:cs typeface="Telegraf"/>
                <a:sym typeface="Telegraf"/>
              </a:rPr>
              <a:t>Il conçoit des outils numériques pratiques </a:t>
            </a:r>
          </a:p>
          <a:p>
            <a:pPr marL="0" lvl="0" indent="0" algn="ctr">
              <a:lnSpc>
                <a:spcPts val="2380"/>
              </a:lnSpc>
              <a:spcBef>
                <a:spcPct val="0"/>
              </a:spcBef>
            </a:pPr>
            <a:r>
              <a:rPr lang="en-US" sz="1700" u="none" strike="noStrike" dirty="0">
                <a:solidFill>
                  <a:srgbClr val="0D0A1E"/>
                </a:solidFill>
                <a:latin typeface="Telegraf"/>
                <a:ea typeface="Telegraf"/>
                <a:cs typeface="Telegraf"/>
                <a:sym typeface="Telegraf"/>
              </a:rPr>
              <a:t>pour répondre aux vrais défis des agriculteurs, contribuant à faire d’El Ghella une solution innovante et proche du monde rural.</a:t>
            </a:r>
          </a:p>
        </p:txBody>
      </p:sp>
      <p:sp>
        <p:nvSpPr>
          <p:cNvPr id="25" name="TextBox 25"/>
          <p:cNvSpPr txBox="1"/>
          <p:nvPr/>
        </p:nvSpPr>
        <p:spPr>
          <a:xfrm>
            <a:off x="6656122" y="6603848"/>
            <a:ext cx="4975757" cy="2135072"/>
          </a:xfrm>
          <a:prstGeom prst="rect">
            <a:avLst/>
          </a:prstGeom>
        </p:spPr>
        <p:txBody>
          <a:bodyPr lIns="0" tIns="0" rIns="0" bIns="0" rtlCol="0" anchor="t">
            <a:spAutoFit/>
          </a:bodyPr>
          <a:lstStyle/>
          <a:p>
            <a:pPr marL="0" lvl="0" indent="0" algn="ctr">
              <a:lnSpc>
                <a:spcPts val="2380"/>
              </a:lnSpc>
              <a:spcBef>
                <a:spcPct val="0"/>
              </a:spcBef>
            </a:pPr>
            <a:r>
              <a:rPr lang="en-US" sz="1700" u="none" strike="noStrike" dirty="0">
                <a:solidFill>
                  <a:srgbClr val="0D0A1E"/>
                </a:solidFill>
                <a:latin typeface="Telegraf"/>
                <a:ea typeface="Telegraf"/>
                <a:cs typeface="Telegraf"/>
                <a:sym typeface="Telegraf"/>
              </a:rPr>
              <a:t>Fort d’une vision globale du monde agricole, </a:t>
            </a:r>
            <a:br>
              <a:rPr lang="en-US" sz="1700" u="none" strike="noStrike" dirty="0">
                <a:solidFill>
                  <a:srgbClr val="0D0A1E"/>
                </a:solidFill>
                <a:latin typeface="Telegraf"/>
                <a:ea typeface="Telegraf"/>
                <a:cs typeface="Telegraf"/>
                <a:sym typeface="Telegraf"/>
              </a:rPr>
            </a:br>
            <a:r>
              <a:rPr lang="en-US" sz="1700" u="none" strike="noStrike" dirty="0">
                <a:solidFill>
                  <a:srgbClr val="0D0A1E"/>
                </a:solidFill>
                <a:latin typeface="Telegraf"/>
                <a:ea typeface="Telegraf"/>
                <a:cs typeface="Telegraf"/>
                <a:sym typeface="Telegraf"/>
              </a:rPr>
              <a:t>il connaît les défis auxquels font face les agriculteurs sur le terrain. Il est en charge de connecter les besoins pratiques avec les solutions proposées par El Ghella. Son rôle est crucial pour construire un service pertinent, humain et utile.</a:t>
            </a:r>
          </a:p>
        </p:txBody>
      </p:sp>
      <p:sp>
        <p:nvSpPr>
          <p:cNvPr id="26" name="TextBox 26"/>
          <p:cNvSpPr txBox="1"/>
          <p:nvPr/>
        </p:nvSpPr>
        <p:spPr>
          <a:xfrm>
            <a:off x="12212768" y="6603848"/>
            <a:ext cx="5216974" cy="1490345"/>
          </a:xfrm>
          <a:prstGeom prst="rect">
            <a:avLst/>
          </a:prstGeom>
        </p:spPr>
        <p:txBody>
          <a:bodyPr lIns="0" tIns="0" rIns="0" bIns="0" rtlCol="0" anchor="t">
            <a:spAutoFit/>
          </a:bodyPr>
          <a:lstStyle/>
          <a:p>
            <a:pPr marL="0" lvl="0" indent="0" algn="ctr">
              <a:lnSpc>
                <a:spcPts val="2380"/>
              </a:lnSpc>
              <a:spcBef>
                <a:spcPct val="0"/>
              </a:spcBef>
            </a:pPr>
            <a:r>
              <a:rPr lang="en-US" sz="1700" u="none" strike="noStrike" dirty="0">
                <a:solidFill>
                  <a:srgbClr val="0D0A1E"/>
                </a:solidFill>
                <a:latin typeface="Telegraf"/>
                <a:ea typeface="Telegraf"/>
                <a:cs typeface="Telegraf"/>
                <a:sym typeface="Telegraf"/>
              </a:rPr>
              <a:t>homme de terrain qui connaît les réalités du secteur agricole. Il assure la relation avec les acteurs du marché, pilote la logistique et développe les partenariats pour garantir des services efficaces, rentables et bien intégrés au marché.</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AFAFA"/>
        </a:solidFill>
        <a:effectLst/>
      </p:bgPr>
    </p:bg>
    <p:spTree>
      <p:nvGrpSpPr>
        <p:cNvPr id="1" name=""/>
        <p:cNvGrpSpPr/>
        <p:nvPr/>
      </p:nvGrpSpPr>
      <p:grpSpPr>
        <a:xfrm>
          <a:off x="0" y="0"/>
          <a:ext cx="0" cy="0"/>
          <a:chOff x="0" y="0"/>
          <a:chExt cx="0" cy="0"/>
        </a:xfrm>
      </p:grpSpPr>
      <p:sp>
        <p:nvSpPr>
          <p:cNvPr id="2" name="Freeform 2"/>
          <p:cNvSpPr/>
          <p:nvPr/>
        </p:nvSpPr>
        <p:spPr>
          <a:xfrm rot="-1199392">
            <a:off x="7427971" y="5537399"/>
            <a:ext cx="13171332" cy="7441803"/>
          </a:xfrm>
          <a:custGeom>
            <a:avLst/>
            <a:gdLst/>
            <a:ahLst/>
            <a:cxnLst/>
            <a:rect l="l" t="t" r="r" b="b"/>
            <a:pathLst>
              <a:path w="13171332" h="7441803">
                <a:moveTo>
                  <a:pt x="0" y="0"/>
                </a:moveTo>
                <a:lnTo>
                  <a:pt x="13171333" y="0"/>
                </a:lnTo>
                <a:lnTo>
                  <a:pt x="13171333" y="7441802"/>
                </a:lnTo>
                <a:lnTo>
                  <a:pt x="0" y="7441802"/>
                </a:lnTo>
                <a:lnTo>
                  <a:pt x="0" y="0"/>
                </a:lnTo>
                <a:close/>
              </a:path>
            </a:pathLst>
          </a:custGeom>
          <a:blipFill>
            <a:blip r:embed="rId2">
              <a:alphaModFix amt="10999"/>
              <a:extLst>
                <a:ext uri="{96DAC541-7B7A-43D3-8B79-37D633B846F1}">
                  <asvg:svgBlip xmlns:asvg="http://schemas.microsoft.com/office/drawing/2016/SVG/main" xmlns="" r:embed="rId3"/>
                </a:ext>
              </a:extLst>
            </a:blip>
            <a:stretch>
              <a:fillRect/>
            </a:stretch>
          </a:blipFill>
        </p:spPr>
      </p:sp>
      <p:sp>
        <p:nvSpPr>
          <p:cNvPr id="3" name="TextBox 3"/>
          <p:cNvSpPr txBox="1"/>
          <p:nvPr/>
        </p:nvSpPr>
        <p:spPr>
          <a:xfrm>
            <a:off x="2129081" y="8769351"/>
            <a:ext cx="2806859" cy="309245"/>
          </a:xfrm>
          <a:prstGeom prst="rect">
            <a:avLst/>
          </a:prstGeom>
        </p:spPr>
        <p:txBody>
          <a:bodyPr lIns="0" tIns="0" rIns="0" bIns="0" rtlCol="0" anchor="t">
            <a:spAutoFit/>
          </a:bodyPr>
          <a:lstStyle/>
          <a:p>
            <a:pPr algn="l">
              <a:lnSpc>
                <a:spcPts val="2380"/>
              </a:lnSpc>
              <a:spcBef>
                <a:spcPct val="0"/>
              </a:spcBef>
            </a:pPr>
            <a:r>
              <a:rPr lang="en-US" sz="1700" dirty="0">
                <a:solidFill>
                  <a:srgbClr val="0D0A1E"/>
                </a:solidFill>
                <a:latin typeface="Telegraf"/>
                <a:ea typeface="Telegraf"/>
                <a:cs typeface="Telegraf"/>
                <a:sym typeface="Telegraf"/>
              </a:rPr>
              <a:t>PROBLÉMATIQUE CIBLÉE</a:t>
            </a:r>
          </a:p>
        </p:txBody>
      </p:sp>
      <p:sp>
        <p:nvSpPr>
          <p:cNvPr id="4" name="AutoShape 4"/>
          <p:cNvSpPr/>
          <p:nvPr/>
        </p:nvSpPr>
        <p:spPr>
          <a:xfrm rot="5400000">
            <a:off x="1834638" y="8937626"/>
            <a:ext cx="317498" cy="0"/>
          </a:xfrm>
          <a:prstGeom prst="line">
            <a:avLst/>
          </a:prstGeom>
          <a:ln w="38100" cap="flat">
            <a:solidFill>
              <a:srgbClr val="9CC453"/>
            </a:solidFill>
            <a:prstDash val="solid"/>
            <a:headEnd type="none" w="sm" len="sm"/>
            <a:tailEnd type="none" w="sm" len="sm"/>
          </a:ln>
        </p:spPr>
      </p:sp>
      <p:sp>
        <p:nvSpPr>
          <p:cNvPr id="5" name="AutoShape 5"/>
          <p:cNvSpPr/>
          <p:nvPr/>
        </p:nvSpPr>
        <p:spPr>
          <a:xfrm>
            <a:off x="4935940" y="8952549"/>
            <a:ext cx="4514933" cy="8890"/>
          </a:xfrm>
          <a:prstGeom prst="line">
            <a:avLst/>
          </a:prstGeom>
          <a:ln w="9525" cap="flat">
            <a:solidFill>
              <a:srgbClr val="000000"/>
            </a:solidFill>
            <a:prstDash val="solid"/>
            <a:headEnd type="none" w="sm" len="sm"/>
            <a:tailEnd type="none" w="sm" len="sm"/>
          </a:ln>
        </p:spPr>
      </p:sp>
      <p:grpSp>
        <p:nvGrpSpPr>
          <p:cNvPr id="6" name="Group 6"/>
          <p:cNvGrpSpPr/>
          <p:nvPr/>
        </p:nvGrpSpPr>
        <p:grpSpPr>
          <a:xfrm>
            <a:off x="1585396" y="371205"/>
            <a:ext cx="122392" cy="429165"/>
            <a:chOff x="0" y="0"/>
            <a:chExt cx="159850" cy="560512"/>
          </a:xfrm>
        </p:grpSpPr>
        <p:sp>
          <p:nvSpPr>
            <p:cNvPr id="7" name="Freeform 7"/>
            <p:cNvSpPr/>
            <p:nvPr/>
          </p:nvSpPr>
          <p:spPr>
            <a:xfrm>
              <a:off x="0" y="0"/>
              <a:ext cx="159850" cy="560512"/>
            </a:xfrm>
            <a:custGeom>
              <a:avLst/>
              <a:gdLst/>
              <a:ahLst/>
              <a:cxnLst/>
              <a:rect l="l" t="t" r="r" b="b"/>
              <a:pathLst>
                <a:path w="159850" h="560512">
                  <a:moveTo>
                    <a:pt x="0" y="0"/>
                  </a:moveTo>
                  <a:lnTo>
                    <a:pt x="159850" y="0"/>
                  </a:lnTo>
                  <a:lnTo>
                    <a:pt x="159850" y="560512"/>
                  </a:lnTo>
                  <a:lnTo>
                    <a:pt x="0" y="560512"/>
                  </a:lnTo>
                  <a:close/>
                </a:path>
              </a:pathLst>
            </a:custGeom>
            <a:solidFill>
              <a:srgbClr val="9CC453"/>
            </a:solidFill>
          </p:spPr>
        </p:sp>
        <p:sp>
          <p:nvSpPr>
            <p:cNvPr id="8" name="TextBox 8"/>
            <p:cNvSpPr txBox="1"/>
            <p:nvPr/>
          </p:nvSpPr>
          <p:spPr>
            <a:xfrm>
              <a:off x="0" y="-66675"/>
              <a:ext cx="159850" cy="627187"/>
            </a:xfrm>
            <a:prstGeom prst="rect">
              <a:avLst/>
            </a:prstGeom>
          </p:spPr>
          <p:txBody>
            <a:bodyPr lIns="50800" tIns="50800" rIns="50800" bIns="50800" rtlCol="0" anchor="ctr"/>
            <a:lstStyle/>
            <a:p>
              <a:pPr algn="ctr">
                <a:lnSpc>
                  <a:spcPts val="2520"/>
                </a:lnSpc>
              </a:pPr>
              <a:endParaRPr dirty="0"/>
            </a:p>
          </p:txBody>
        </p:sp>
      </p:grpSp>
      <p:sp>
        <p:nvSpPr>
          <p:cNvPr id="9" name="TextBox 9"/>
          <p:cNvSpPr txBox="1"/>
          <p:nvPr/>
        </p:nvSpPr>
        <p:spPr>
          <a:xfrm>
            <a:off x="1880258" y="89535"/>
            <a:ext cx="9066534" cy="1725930"/>
          </a:xfrm>
          <a:prstGeom prst="rect">
            <a:avLst/>
          </a:prstGeom>
        </p:spPr>
        <p:txBody>
          <a:bodyPr lIns="0" tIns="0" rIns="0" bIns="0" rtlCol="0" anchor="t">
            <a:spAutoFit/>
          </a:bodyPr>
          <a:lstStyle/>
          <a:p>
            <a:pPr algn="l">
              <a:lnSpc>
                <a:spcPts val="6719"/>
              </a:lnSpc>
            </a:pPr>
            <a:r>
              <a:rPr lang="en-US" sz="4800" b="1" dirty="0">
                <a:solidFill>
                  <a:srgbClr val="0D0A1E"/>
                </a:solidFill>
                <a:latin typeface="Telegraf Bold"/>
                <a:ea typeface="Telegraf Bold"/>
                <a:cs typeface="Telegraf Bold"/>
                <a:sym typeface="Telegraf Bold"/>
              </a:rPr>
              <a:t>PROBLÉMATIQUE CIBLÉE</a:t>
            </a:r>
          </a:p>
          <a:p>
            <a:pPr algn="l">
              <a:lnSpc>
                <a:spcPts val="6719"/>
              </a:lnSpc>
              <a:spcBef>
                <a:spcPct val="0"/>
              </a:spcBef>
            </a:pPr>
            <a:endParaRPr lang="en-US" sz="4800" b="1" dirty="0">
              <a:solidFill>
                <a:srgbClr val="0D0A1E"/>
              </a:solidFill>
              <a:latin typeface="Telegraf Bold"/>
              <a:ea typeface="Telegraf Bold"/>
              <a:cs typeface="Telegraf Bold"/>
              <a:sym typeface="Telegraf Bold"/>
            </a:endParaRPr>
          </a:p>
        </p:txBody>
      </p:sp>
      <p:sp>
        <p:nvSpPr>
          <p:cNvPr id="10" name="TextBox 10"/>
          <p:cNvSpPr txBox="1"/>
          <p:nvPr/>
        </p:nvSpPr>
        <p:spPr>
          <a:xfrm>
            <a:off x="1526452" y="1546044"/>
            <a:ext cx="12465233" cy="6420485"/>
          </a:xfrm>
          <a:prstGeom prst="rect">
            <a:avLst/>
          </a:prstGeom>
        </p:spPr>
        <p:txBody>
          <a:bodyPr lIns="0" tIns="0" rIns="0" bIns="0" rtlCol="0" anchor="t">
            <a:spAutoFit/>
          </a:bodyPr>
          <a:lstStyle/>
          <a:p>
            <a:pPr marL="0" lvl="0" indent="0" algn="l">
              <a:lnSpc>
                <a:spcPts val="3639"/>
              </a:lnSpc>
              <a:spcBef>
                <a:spcPct val="0"/>
              </a:spcBef>
            </a:pPr>
            <a:r>
              <a:rPr lang="en-US" sz="2599" u="none" strike="noStrike" dirty="0">
                <a:solidFill>
                  <a:srgbClr val="1E7042"/>
                </a:solidFill>
                <a:latin typeface="Telegraf"/>
                <a:ea typeface="Telegraf"/>
                <a:cs typeface="Telegraf"/>
                <a:sym typeface="Telegraf"/>
              </a:rPr>
              <a:t>1.Désorganisation du marché agricole : </a:t>
            </a:r>
            <a:r>
              <a:rPr lang="en-US" sz="2599" u="none" strike="noStrike" dirty="0">
                <a:solidFill>
                  <a:srgbClr val="0D0A1E"/>
                </a:solidFill>
                <a:latin typeface="Telegraf"/>
                <a:ea typeface="Telegraf"/>
                <a:cs typeface="Telegraf"/>
                <a:sym typeface="Telegraf"/>
              </a:rPr>
              <a:t>absence d’un système structuré pour fixer, suivre et harmoniser les prix.</a:t>
            </a:r>
          </a:p>
          <a:p>
            <a:pPr marL="0" lvl="0" indent="0" algn="l">
              <a:lnSpc>
                <a:spcPts val="3639"/>
              </a:lnSpc>
              <a:spcBef>
                <a:spcPct val="0"/>
              </a:spcBef>
            </a:pPr>
            <a:r>
              <a:rPr lang="en-US" sz="2599" u="none" strike="noStrike" dirty="0">
                <a:solidFill>
                  <a:srgbClr val="1E7042"/>
                </a:solidFill>
                <a:latin typeface="Telegraf"/>
                <a:ea typeface="Telegraf"/>
                <a:cs typeface="Telegraf"/>
                <a:sym typeface="Telegraf"/>
              </a:rPr>
              <a:t>2.Pratiques monopolistiques :</a:t>
            </a:r>
            <a:r>
              <a:rPr lang="en-US" sz="2599" u="none" strike="noStrike" dirty="0">
                <a:solidFill>
                  <a:srgbClr val="0D0A1E"/>
                </a:solidFill>
                <a:latin typeface="Telegraf"/>
                <a:ea typeface="Telegraf"/>
                <a:cs typeface="Telegraf"/>
                <a:sym typeface="Telegraf"/>
              </a:rPr>
              <a:t> contrôle du marché par quelques intermédiaires qui pénalisent producteurs et consommateurs.</a:t>
            </a:r>
          </a:p>
          <a:p>
            <a:pPr marL="0" lvl="0" indent="0" algn="l">
              <a:lnSpc>
                <a:spcPts val="3639"/>
              </a:lnSpc>
              <a:spcBef>
                <a:spcPct val="0"/>
              </a:spcBef>
            </a:pPr>
            <a:r>
              <a:rPr lang="en-US" sz="2599" u="none" strike="noStrike" dirty="0">
                <a:solidFill>
                  <a:srgbClr val="1E7042"/>
                </a:solidFill>
                <a:latin typeface="Telegraf"/>
                <a:ea typeface="Telegraf"/>
                <a:cs typeface="Telegraf"/>
                <a:sym typeface="Telegraf"/>
              </a:rPr>
              <a:t>3.Qualité insuffisante des produits agricoles :</a:t>
            </a:r>
            <a:r>
              <a:rPr lang="en-US" sz="2599" u="none" strike="noStrike" dirty="0">
                <a:solidFill>
                  <a:srgbClr val="0D0A1E"/>
                </a:solidFill>
                <a:latin typeface="Telegraf"/>
                <a:ea typeface="Telegraf"/>
                <a:cs typeface="Telegraf"/>
                <a:sym typeface="Telegraf"/>
              </a:rPr>
              <a:t> standards non respectés, pertes</a:t>
            </a:r>
          </a:p>
          <a:p>
            <a:pPr marL="0" lvl="0" indent="0" algn="l">
              <a:lnSpc>
                <a:spcPts val="3639"/>
              </a:lnSpc>
              <a:spcBef>
                <a:spcPct val="0"/>
              </a:spcBef>
            </a:pPr>
            <a:r>
              <a:rPr lang="en-US" sz="2599" u="none" strike="noStrike" dirty="0">
                <a:solidFill>
                  <a:srgbClr val="0D0A1E"/>
                </a:solidFill>
                <a:latin typeface="Telegraf"/>
                <a:ea typeface="Telegraf"/>
                <a:cs typeface="Telegraf"/>
                <a:sym typeface="Telegraf"/>
              </a:rPr>
              <a:t> de compétitivité à l’export et risques pour la santé.</a:t>
            </a:r>
          </a:p>
          <a:p>
            <a:pPr marL="0" lvl="0" indent="0" algn="l">
              <a:lnSpc>
                <a:spcPts val="3639"/>
              </a:lnSpc>
              <a:spcBef>
                <a:spcPct val="0"/>
              </a:spcBef>
            </a:pPr>
            <a:r>
              <a:rPr lang="en-US" sz="2599" u="none" strike="noStrike" dirty="0">
                <a:solidFill>
                  <a:srgbClr val="1E7042"/>
                </a:solidFill>
                <a:latin typeface="Telegraf"/>
                <a:ea typeface="Telegraf"/>
                <a:cs typeface="Telegraf"/>
                <a:sym typeface="Telegraf"/>
              </a:rPr>
              <a:t>4.Manque d’accès aux services techniques : </a:t>
            </a:r>
            <a:r>
              <a:rPr lang="en-US" sz="2599" u="none" strike="noStrike" dirty="0">
                <a:solidFill>
                  <a:srgbClr val="0D0A1E"/>
                </a:solidFill>
                <a:latin typeface="Telegraf"/>
                <a:ea typeface="Telegraf"/>
                <a:cs typeface="Telegraf"/>
                <a:sym typeface="Telegraf"/>
              </a:rPr>
              <a:t>difficultés pour obtenir conseils, analyses et expertises spécialisées.</a:t>
            </a:r>
          </a:p>
          <a:p>
            <a:pPr marL="0" lvl="0" indent="0" algn="l">
              <a:lnSpc>
                <a:spcPts val="3639"/>
              </a:lnSpc>
              <a:spcBef>
                <a:spcPct val="0"/>
              </a:spcBef>
            </a:pPr>
            <a:r>
              <a:rPr lang="en-US" sz="2599" u="none" strike="noStrike" dirty="0">
                <a:solidFill>
                  <a:srgbClr val="1E7042"/>
                </a:solidFill>
                <a:latin typeface="Telegraf"/>
                <a:ea typeface="Telegraf"/>
                <a:cs typeface="Telegraf"/>
                <a:sym typeface="Telegraf"/>
              </a:rPr>
              <a:t>5.Problèmes logistiques : </a:t>
            </a:r>
            <a:r>
              <a:rPr lang="en-US" sz="2599" u="none" strike="noStrike" dirty="0">
                <a:solidFill>
                  <a:srgbClr val="0D0A1E"/>
                </a:solidFill>
                <a:latin typeface="Telegraf"/>
                <a:ea typeface="Telegraf"/>
                <a:cs typeface="Telegraf"/>
                <a:sym typeface="Telegraf"/>
              </a:rPr>
              <a:t>absence de plateformes centralisées pour trouver main-d’œuvre, équipements ou transport.</a:t>
            </a:r>
          </a:p>
          <a:p>
            <a:pPr marL="0" lvl="0" indent="0" algn="l">
              <a:lnSpc>
                <a:spcPts val="3639"/>
              </a:lnSpc>
              <a:spcBef>
                <a:spcPct val="0"/>
              </a:spcBef>
            </a:pPr>
            <a:r>
              <a:rPr lang="en-US" sz="2599" u="none" strike="noStrike" dirty="0">
                <a:solidFill>
                  <a:srgbClr val="1E7042"/>
                </a:solidFill>
                <a:latin typeface="Telegraf"/>
                <a:ea typeface="Telegraf"/>
                <a:cs typeface="Telegraf"/>
                <a:sym typeface="Telegraf"/>
              </a:rPr>
              <a:t>6.Accès limité aux données agricoles fiables </a:t>
            </a:r>
            <a:r>
              <a:rPr lang="en-US" sz="2599" u="none" strike="noStrike" dirty="0">
                <a:solidFill>
                  <a:srgbClr val="0D0A1E"/>
                </a:solidFill>
                <a:latin typeface="Telegraf"/>
                <a:ea typeface="Telegraf"/>
                <a:cs typeface="Telegraf"/>
                <a:sym typeface="Telegraf"/>
              </a:rPr>
              <a:t>: manque d’outils pour prévoir</a:t>
            </a:r>
          </a:p>
          <a:p>
            <a:pPr marL="0" lvl="0" indent="0" algn="l">
              <a:lnSpc>
                <a:spcPts val="3639"/>
              </a:lnSpc>
              <a:spcBef>
                <a:spcPct val="0"/>
              </a:spcBef>
            </a:pPr>
            <a:r>
              <a:rPr lang="en-US" sz="2599" u="none" strike="noStrike" dirty="0">
                <a:solidFill>
                  <a:srgbClr val="0D0A1E"/>
                </a:solidFill>
                <a:latin typeface="Telegraf"/>
                <a:ea typeface="Telegraf"/>
                <a:cs typeface="Telegraf"/>
                <a:sym typeface="Telegraf"/>
              </a:rPr>
              <a:t> les rendements, optimiser les cultures et réduire les pertes.</a:t>
            </a:r>
          </a:p>
          <a:p>
            <a:pPr marL="0" lvl="0" indent="0" algn="l">
              <a:lnSpc>
                <a:spcPts val="3639"/>
              </a:lnSpc>
              <a:spcBef>
                <a:spcPct val="0"/>
              </a:spcBef>
            </a:pPr>
            <a:r>
              <a:rPr lang="en-US" sz="2599" u="none" strike="noStrike" dirty="0">
                <a:solidFill>
                  <a:srgbClr val="1E7042"/>
                </a:solidFill>
                <a:latin typeface="Telegraf"/>
                <a:ea typeface="Telegraf"/>
                <a:cs typeface="Telegraf"/>
                <a:sym typeface="Telegraf"/>
              </a:rPr>
              <a:t>7.Faible valorisation des produits :</a:t>
            </a:r>
            <a:r>
              <a:rPr lang="en-US" sz="2599" u="none" strike="noStrike" dirty="0">
                <a:solidFill>
                  <a:srgbClr val="0D0A1E"/>
                </a:solidFill>
                <a:latin typeface="Telegraf"/>
                <a:ea typeface="Telegraf"/>
                <a:cs typeface="Telegraf"/>
                <a:sym typeface="Telegraf"/>
              </a:rPr>
              <a:t> difficulté à atteindre des marchés nationaux</a:t>
            </a:r>
          </a:p>
          <a:p>
            <a:pPr marL="0" lvl="0" indent="0" algn="l">
              <a:lnSpc>
                <a:spcPts val="3639"/>
              </a:lnSpc>
              <a:spcBef>
                <a:spcPct val="0"/>
              </a:spcBef>
            </a:pPr>
            <a:r>
              <a:rPr lang="en-US" sz="2599" u="none" strike="noStrike" dirty="0">
                <a:solidFill>
                  <a:srgbClr val="0D0A1E"/>
                </a:solidFill>
                <a:latin typeface="Telegraf"/>
                <a:ea typeface="Telegraf"/>
                <a:cs typeface="Telegraf"/>
                <a:sym typeface="Telegraf"/>
              </a:rPr>
              <a:t> et internationaux à haute valeur ajoutée.</a:t>
            </a:r>
          </a:p>
        </p:txBody>
      </p:sp>
      <p:sp>
        <p:nvSpPr>
          <p:cNvPr id="11" name="Freeform 11"/>
          <p:cNvSpPr/>
          <p:nvPr/>
        </p:nvSpPr>
        <p:spPr>
          <a:xfrm>
            <a:off x="13991685" y="3086100"/>
            <a:ext cx="3986212" cy="4114800"/>
          </a:xfrm>
          <a:custGeom>
            <a:avLst/>
            <a:gdLst/>
            <a:ahLst/>
            <a:cxnLst/>
            <a:rect l="l" t="t" r="r" b="b"/>
            <a:pathLst>
              <a:path w="3986212" h="4114800">
                <a:moveTo>
                  <a:pt x="0" y="0"/>
                </a:moveTo>
                <a:lnTo>
                  <a:pt x="3986212" y="0"/>
                </a:lnTo>
                <a:lnTo>
                  <a:pt x="3986212" y="4114800"/>
                </a:lnTo>
                <a:lnTo>
                  <a:pt x="0" y="4114800"/>
                </a:lnTo>
                <a:lnTo>
                  <a:pt x="0" y="0"/>
                </a:lnTo>
                <a:close/>
              </a:path>
            </a:pathLst>
          </a:custGeom>
          <a:blipFill>
            <a:blip r:embed="rId4">
              <a:extLst>
                <a:ext uri="{96DAC541-7B7A-43D3-8B79-37D633B846F1}">
                  <asvg:svgBlip xmlns:asvg="http://schemas.microsoft.com/office/drawing/2016/SVG/main" xmlns="" r:embed="rId5"/>
                </a:ext>
              </a:extLst>
            </a:blip>
            <a:stretch>
              <a:fillRect/>
            </a:stretch>
          </a:blipFill>
        </p:spPr>
      </p:sp>
      <p:sp>
        <p:nvSpPr>
          <p:cNvPr id="12" name="TextBox 12"/>
          <p:cNvSpPr txBox="1"/>
          <p:nvPr/>
        </p:nvSpPr>
        <p:spPr>
          <a:xfrm>
            <a:off x="1592900" y="8751571"/>
            <a:ext cx="381437" cy="335280"/>
          </a:xfrm>
          <a:prstGeom prst="rect">
            <a:avLst/>
          </a:prstGeom>
        </p:spPr>
        <p:txBody>
          <a:bodyPr lIns="0" tIns="0" rIns="0" bIns="0" rtlCol="0" anchor="t">
            <a:spAutoFit/>
          </a:bodyPr>
          <a:lstStyle/>
          <a:p>
            <a:pPr algn="just">
              <a:lnSpc>
                <a:spcPts val="2520"/>
              </a:lnSpc>
              <a:spcBef>
                <a:spcPct val="0"/>
              </a:spcBef>
            </a:pPr>
            <a:r>
              <a:rPr lang="en-US" sz="1800" b="1" dirty="0">
                <a:solidFill>
                  <a:srgbClr val="0D0A1E"/>
                </a:solidFill>
                <a:latin typeface="Telegraf Bold"/>
                <a:ea typeface="Telegraf Bold"/>
                <a:cs typeface="Telegraf Bold"/>
                <a:sym typeface="Telegraf Bold"/>
              </a:rPr>
              <a:t>05</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AFAFA"/>
        </a:solidFill>
        <a:effectLst/>
      </p:bgPr>
    </p:bg>
    <p:spTree>
      <p:nvGrpSpPr>
        <p:cNvPr id="1" name=""/>
        <p:cNvGrpSpPr/>
        <p:nvPr/>
      </p:nvGrpSpPr>
      <p:grpSpPr>
        <a:xfrm>
          <a:off x="0" y="0"/>
          <a:ext cx="0" cy="0"/>
          <a:chOff x="0" y="0"/>
          <a:chExt cx="0" cy="0"/>
        </a:xfrm>
      </p:grpSpPr>
      <p:sp>
        <p:nvSpPr>
          <p:cNvPr id="2" name="TextBox 2"/>
          <p:cNvSpPr txBox="1"/>
          <p:nvPr/>
        </p:nvSpPr>
        <p:spPr>
          <a:xfrm>
            <a:off x="2129081" y="9575749"/>
            <a:ext cx="2832366" cy="309245"/>
          </a:xfrm>
          <a:prstGeom prst="rect">
            <a:avLst/>
          </a:prstGeom>
        </p:spPr>
        <p:txBody>
          <a:bodyPr lIns="0" tIns="0" rIns="0" bIns="0" rtlCol="0" anchor="t">
            <a:spAutoFit/>
          </a:bodyPr>
          <a:lstStyle/>
          <a:p>
            <a:pPr algn="l">
              <a:lnSpc>
                <a:spcPts val="2380"/>
              </a:lnSpc>
              <a:spcBef>
                <a:spcPct val="0"/>
              </a:spcBef>
            </a:pPr>
            <a:r>
              <a:rPr lang="en-US" sz="1700" dirty="0">
                <a:solidFill>
                  <a:srgbClr val="0D0A1E"/>
                </a:solidFill>
                <a:latin typeface="Telegraf"/>
                <a:ea typeface="Telegraf"/>
                <a:cs typeface="Telegraf"/>
                <a:sym typeface="Telegraf"/>
              </a:rPr>
              <a:t>PROBLÉMATIQUE CIBLÉE</a:t>
            </a:r>
          </a:p>
        </p:txBody>
      </p:sp>
      <p:sp>
        <p:nvSpPr>
          <p:cNvPr id="3" name="AutoShape 3"/>
          <p:cNvSpPr/>
          <p:nvPr/>
        </p:nvSpPr>
        <p:spPr>
          <a:xfrm>
            <a:off x="1993387" y="9604325"/>
            <a:ext cx="0" cy="317498"/>
          </a:xfrm>
          <a:prstGeom prst="line">
            <a:avLst/>
          </a:prstGeom>
          <a:ln w="38100" cap="flat">
            <a:solidFill>
              <a:srgbClr val="9CC453"/>
            </a:solidFill>
            <a:prstDash val="solid"/>
            <a:headEnd type="none" w="sm" len="sm"/>
            <a:tailEnd type="none" w="sm" len="sm"/>
          </a:ln>
        </p:spPr>
      </p:sp>
      <p:sp>
        <p:nvSpPr>
          <p:cNvPr id="4" name="AutoShape 4"/>
          <p:cNvSpPr/>
          <p:nvPr/>
        </p:nvSpPr>
        <p:spPr>
          <a:xfrm>
            <a:off x="4961446" y="9758947"/>
            <a:ext cx="11560905" cy="0"/>
          </a:xfrm>
          <a:prstGeom prst="line">
            <a:avLst/>
          </a:prstGeom>
          <a:ln w="9525" cap="flat">
            <a:solidFill>
              <a:srgbClr val="000000"/>
            </a:solidFill>
            <a:prstDash val="solid"/>
            <a:headEnd type="none" w="sm" len="sm"/>
            <a:tailEnd type="none" w="sm" len="sm"/>
          </a:ln>
        </p:spPr>
      </p:sp>
      <p:sp>
        <p:nvSpPr>
          <p:cNvPr id="5" name="TextBox 5"/>
          <p:cNvSpPr txBox="1"/>
          <p:nvPr/>
        </p:nvSpPr>
        <p:spPr>
          <a:xfrm>
            <a:off x="1592900" y="9557969"/>
            <a:ext cx="381437" cy="335280"/>
          </a:xfrm>
          <a:prstGeom prst="rect">
            <a:avLst/>
          </a:prstGeom>
        </p:spPr>
        <p:txBody>
          <a:bodyPr lIns="0" tIns="0" rIns="0" bIns="0" rtlCol="0" anchor="t">
            <a:spAutoFit/>
          </a:bodyPr>
          <a:lstStyle/>
          <a:p>
            <a:pPr algn="just">
              <a:lnSpc>
                <a:spcPts val="2520"/>
              </a:lnSpc>
              <a:spcBef>
                <a:spcPct val="0"/>
              </a:spcBef>
            </a:pPr>
            <a:r>
              <a:rPr lang="en-US" sz="1800" b="1" dirty="0">
                <a:solidFill>
                  <a:srgbClr val="0D0A1E"/>
                </a:solidFill>
                <a:latin typeface="Telegraf Bold"/>
                <a:ea typeface="Telegraf Bold"/>
                <a:cs typeface="Telegraf Bold"/>
                <a:sym typeface="Telegraf Bold"/>
              </a:rPr>
              <a:t>06</a:t>
            </a:r>
          </a:p>
        </p:txBody>
      </p:sp>
      <p:sp>
        <p:nvSpPr>
          <p:cNvPr id="6" name="TextBox 6"/>
          <p:cNvSpPr txBox="1"/>
          <p:nvPr/>
        </p:nvSpPr>
        <p:spPr>
          <a:xfrm>
            <a:off x="366544" y="164847"/>
            <a:ext cx="14654708" cy="1183077"/>
          </a:xfrm>
          <a:prstGeom prst="rect">
            <a:avLst/>
          </a:prstGeom>
        </p:spPr>
        <p:txBody>
          <a:bodyPr lIns="0" tIns="0" rIns="0" bIns="0" rtlCol="0" anchor="t">
            <a:spAutoFit/>
          </a:bodyPr>
          <a:lstStyle/>
          <a:p>
            <a:pPr marL="0" lvl="0" indent="0" algn="l">
              <a:lnSpc>
                <a:spcPts val="4620"/>
              </a:lnSpc>
              <a:spcBef>
                <a:spcPct val="0"/>
              </a:spcBef>
            </a:pPr>
            <a:r>
              <a:rPr lang="en-US" sz="3300" b="1" u="none" strike="noStrike" dirty="0">
                <a:solidFill>
                  <a:srgbClr val="000000"/>
                </a:solidFill>
                <a:latin typeface="Telegraf Bold"/>
                <a:ea typeface="Telegraf Bold"/>
                <a:cs typeface="Telegraf Bold"/>
                <a:sym typeface="Telegraf Bold"/>
              </a:rPr>
              <a:t>Combien de personnes sont concernées ou affectées par ce problème en Algérie  ?</a:t>
            </a:r>
          </a:p>
        </p:txBody>
      </p:sp>
      <p:sp>
        <p:nvSpPr>
          <p:cNvPr id="7" name="Freeform 7"/>
          <p:cNvSpPr/>
          <p:nvPr/>
        </p:nvSpPr>
        <p:spPr>
          <a:xfrm rot="-1199392">
            <a:off x="7427971" y="5537399"/>
            <a:ext cx="13171332" cy="7441803"/>
          </a:xfrm>
          <a:custGeom>
            <a:avLst/>
            <a:gdLst/>
            <a:ahLst/>
            <a:cxnLst/>
            <a:rect l="l" t="t" r="r" b="b"/>
            <a:pathLst>
              <a:path w="13171332" h="7441803">
                <a:moveTo>
                  <a:pt x="0" y="0"/>
                </a:moveTo>
                <a:lnTo>
                  <a:pt x="13171333" y="0"/>
                </a:lnTo>
                <a:lnTo>
                  <a:pt x="13171333" y="7441802"/>
                </a:lnTo>
                <a:lnTo>
                  <a:pt x="0" y="7441802"/>
                </a:lnTo>
                <a:lnTo>
                  <a:pt x="0" y="0"/>
                </a:lnTo>
                <a:close/>
              </a:path>
            </a:pathLst>
          </a:custGeom>
          <a:blipFill>
            <a:blip r:embed="rId2">
              <a:alphaModFix amt="10999"/>
              <a:extLst>
                <a:ext uri="{96DAC541-7B7A-43D3-8B79-37D633B846F1}">
                  <asvg:svgBlip xmlns:asvg="http://schemas.microsoft.com/office/drawing/2016/SVG/main" xmlns="" r:embed="rId3"/>
                </a:ext>
              </a:extLst>
            </a:blip>
            <a:stretch>
              <a:fillRect/>
            </a:stretch>
          </a:blipFill>
        </p:spPr>
      </p:sp>
      <p:pic>
        <p:nvPicPr>
          <p:cNvPr id="8" name="Picture 8"/>
          <p:cNvPicPr>
            <a:picLocks noChangeAspect="1"/>
          </p:cNvPicPr>
          <p:nvPr/>
        </p:nvPicPr>
        <p:blipFill>
          <a:blip r:embed="rId4"/>
          <a:stretch>
            <a:fillRect/>
          </a:stretch>
        </p:blipFill>
        <p:spPr>
          <a:xfrm>
            <a:off x="7246183" y="1051339"/>
            <a:ext cx="11530531" cy="7704645"/>
          </a:xfrm>
          <a:prstGeom prst="rect">
            <a:avLst/>
          </a:prstGeom>
        </p:spPr>
      </p:pic>
      <p:sp>
        <p:nvSpPr>
          <p:cNvPr id="9" name="TextBox 9"/>
          <p:cNvSpPr txBox="1"/>
          <p:nvPr/>
        </p:nvSpPr>
        <p:spPr>
          <a:xfrm>
            <a:off x="366544" y="1568165"/>
            <a:ext cx="7840516" cy="7759168"/>
          </a:xfrm>
          <a:prstGeom prst="rect">
            <a:avLst/>
          </a:prstGeom>
        </p:spPr>
        <p:txBody>
          <a:bodyPr lIns="0" tIns="0" rIns="0" bIns="0" rtlCol="0" anchor="t">
            <a:spAutoFit/>
          </a:bodyPr>
          <a:lstStyle/>
          <a:p>
            <a:pPr algn="just">
              <a:lnSpc>
                <a:spcPts val="2829"/>
              </a:lnSpc>
              <a:spcBef>
                <a:spcPct val="0"/>
              </a:spcBef>
            </a:pPr>
            <a:r>
              <a:rPr lang="en-US" sz="2020" b="1" dirty="0">
                <a:solidFill>
                  <a:srgbClr val="000000"/>
                </a:solidFill>
                <a:latin typeface="Poppins Bold"/>
                <a:ea typeface="Poppins Bold"/>
                <a:cs typeface="Poppins Bold"/>
                <a:sym typeface="Poppins Bold"/>
              </a:rPr>
              <a:t>Les agriculteurs/producteurs :</a:t>
            </a:r>
            <a:r>
              <a:rPr lang="en-US" sz="2020" dirty="0">
                <a:solidFill>
                  <a:srgbClr val="000000"/>
                </a:solidFill>
                <a:latin typeface="Poppins"/>
                <a:ea typeface="Poppins"/>
                <a:cs typeface="Poppins"/>
                <a:sym typeface="Poppins"/>
              </a:rPr>
              <a:t> confrontés à des difficultés d’accès au marché, aux intrants (équipements, plants, semences) et aux services techniques de qualité.</a:t>
            </a:r>
          </a:p>
          <a:p>
            <a:pPr algn="just">
              <a:lnSpc>
                <a:spcPts val="2829"/>
              </a:lnSpc>
              <a:spcBef>
                <a:spcPct val="0"/>
              </a:spcBef>
            </a:pPr>
            <a:endParaRPr lang="en-US" sz="2020" dirty="0">
              <a:solidFill>
                <a:srgbClr val="000000"/>
              </a:solidFill>
              <a:latin typeface="Poppins"/>
              <a:ea typeface="Poppins"/>
              <a:cs typeface="Poppins"/>
              <a:sym typeface="Poppins"/>
            </a:endParaRPr>
          </a:p>
          <a:p>
            <a:pPr algn="just">
              <a:lnSpc>
                <a:spcPts val="2829"/>
              </a:lnSpc>
              <a:spcBef>
                <a:spcPct val="0"/>
              </a:spcBef>
            </a:pPr>
            <a:r>
              <a:rPr lang="en-US" sz="2020" b="1" dirty="0">
                <a:solidFill>
                  <a:srgbClr val="000000"/>
                </a:solidFill>
                <a:latin typeface="Poppins Bold"/>
                <a:ea typeface="Poppins Bold"/>
                <a:cs typeface="Poppins Bold"/>
                <a:sym typeface="Poppins Bold"/>
              </a:rPr>
              <a:t>Les acheteurs et vendeurs dans la chaîne de valeur agricole </a:t>
            </a:r>
            <a:r>
              <a:rPr lang="en-US" sz="2020" dirty="0">
                <a:solidFill>
                  <a:srgbClr val="000000"/>
                </a:solidFill>
                <a:latin typeface="Poppins"/>
                <a:ea typeface="Poppins"/>
                <a:cs typeface="Poppins"/>
                <a:sym typeface="Poppins"/>
              </a:rPr>
              <a:t>: impactés par l’intermédiation coûteuse, l’absence de transparence des prix et le manque de traçabilité.</a:t>
            </a:r>
          </a:p>
          <a:p>
            <a:pPr algn="just">
              <a:lnSpc>
                <a:spcPts val="2829"/>
              </a:lnSpc>
              <a:spcBef>
                <a:spcPct val="0"/>
              </a:spcBef>
            </a:pPr>
            <a:endParaRPr lang="en-US" sz="2020" dirty="0">
              <a:solidFill>
                <a:srgbClr val="000000"/>
              </a:solidFill>
              <a:latin typeface="Poppins"/>
              <a:ea typeface="Poppins"/>
              <a:cs typeface="Poppins"/>
              <a:sym typeface="Poppins"/>
            </a:endParaRPr>
          </a:p>
          <a:p>
            <a:pPr algn="just">
              <a:lnSpc>
                <a:spcPts val="2829"/>
              </a:lnSpc>
              <a:spcBef>
                <a:spcPct val="0"/>
              </a:spcBef>
            </a:pPr>
            <a:r>
              <a:rPr lang="en-US" sz="2020" b="1" dirty="0">
                <a:solidFill>
                  <a:srgbClr val="000000"/>
                </a:solidFill>
                <a:latin typeface="Poppins Bold"/>
                <a:ea typeface="Poppins Bold"/>
                <a:cs typeface="Poppins Bold"/>
                <a:sym typeface="Poppins Bold"/>
              </a:rPr>
              <a:t>Les propriétaires fonciers :</a:t>
            </a:r>
            <a:r>
              <a:rPr lang="en-US" sz="2020" dirty="0">
                <a:solidFill>
                  <a:srgbClr val="000000"/>
                </a:solidFill>
                <a:latin typeface="Poppins"/>
                <a:ea typeface="Poppins"/>
                <a:cs typeface="Poppins"/>
                <a:sym typeface="Poppins"/>
              </a:rPr>
              <a:t> nombreux à disposer de terres inexploitées faute de mise en relation efficace avec des exploitants.</a:t>
            </a:r>
          </a:p>
          <a:p>
            <a:pPr algn="just">
              <a:lnSpc>
                <a:spcPts val="2829"/>
              </a:lnSpc>
              <a:spcBef>
                <a:spcPct val="0"/>
              </a:spcBef>
            </a:pPr>
            <a:endParaRPr lang="en-US" sz="2020" dirty="0">
              <a:solidFill>
                <a:srgbClr val="000000"/>
              </a:solidFill>
              <a:latin typeface="Poppins"/>
              <a:ea typeface="Poppins"/>
              <a:cs typeface="Poppins"/>
              <a:sym typeface="Poppins"/>
            </a:endParaRPr>
          </a:p>
          <a:p>
            <a:pPr algn="just">
              <a:lnSpc>
                <a:spcPts val="2829"/>
              </a:lnSpc>
              <a:spcBef>
                <a:spcPct val="0"/>
              </a:spcBef>
            </a:pPr>
            <a:r>
              <a:rPr lang="en-US" sz="2020" b="1" dirty="0">
                <a:solidFill>
                  <a:srgbClr val="000000"/>
                </a:solidFill>
                <a:latin typeface="Poppins Bold"/>
                <a:ea typeface="Poppins Bold"/>
                <a:cs typeface="Poppins Bold"/>
                <a:sym typeface="Poppins Bold"/>
              </a:rPr>
              <a:t>Les experts agricoles </a:t>
            </a:r>
            <a:r>
              <a:rPr lang="en-US" sz="2020" dirty="0">
                <a:solidFill>
                  <a:srgbClr val="000000"/>
                </a:solidFill>
                <a:latin typeface="Poppins"/>
                <a:ea typeface="Poppins"/>
                <a:cs typeface="Poppins"/>
                <a:sym typeface="Poppins"/>
              </a:rPr>
              <a:t>: souvent isolés ou sous-employés, ayant des difficultés à atteindre les agriculteurs qui ont besoin de leurs compétences.</a:t>
            </a:r>
          </a:p>
          <a:p>
            <a:pPr algn="just">
              <a:lnSpc>
                <a:spcPts val="2829"/>
              </a:lnSpc>
              <a:spcBef>
                <a:spcPct val="0"/>
              </a:spcBef>
            </a:pPr>
            <a:endParaRPr lang="en-US" sz="2020" dirty="0">
              <a:solidFill>
                <a:srgbClr val="000000"/>
              </a:solidFill>
              <a:latin typeface="Poppins"/>
              <a:ea typeface="Poppins"/>
              <a:cs typeface="Poppins"/>
              <a:sym typeface="Poppins"/>
            </a:endParaRPr>
          </a:p>
          <a:p>
            <a:pPr algn="just">
              <a:lnSpc>
                <a:spcPts val="2829"/>
              </a:lnSpc>
              <a:spcBef>
                <a:spcPct val="0"/>
              </a:spcBef>
            </a:pPr>
            <a:r>
              <a:rPr lang="en-US" sz="2020" b="1" dirty="0">
                <a:solidFill>
                  <a:srgbClr val="000000"/>
                </a:solidFill>
                <a:latin typeface="Poppins Bold"/>
                <a:ea typeface="Poppins Bold"/>
                <a:cs typeface="Poppins Bold"/>
                <a:sym typeface="Poppins Bold"/>
              </a:rPr>
              <a:t>Les prestataires de transport/logistique :</a:t>
            </a:r>
            <a:r>
              <a:rPr lang="en-US" sz="2020" dirty="0">
                <a:solidFill>
                  <a:srgbClr val="000000"/>
                </a:solidFill>
                <a:latin typeface="Poppins"/>
                <a:ea typeface="Poppins"/>
                <a:cs typeface="Poppins"/>
                <a:sym typeface="Poppins"/>
              </a:rPr>
              <a:t> travaillent sans cadre structuré, avec des pertes et inefficacités récurrentes dans la livraison des produits agricoles.</a:t>
            </a:r>
          </a:p>
          <a:p>
            <a:pPr algn="just">
              <a:lnSpc>
                <a:spcPts val="2829"/>
              </a:lnSpc>
              <a:spcBef>
                <a:spcPct val="0"/>
              </a:spcBef>
            </a:pPr>
            <a:endParaRPr lang="en-US" sz="2020" dirty="0">
              <a:solidFill>
                <a:srgbClr val="000000"/>
              </a:solidFill>
              <a:latin typeface="Poppins"/>
              <a:ea typeface="Poppins"/>
              <a:cs typeface="Poppins"/>
              <a:sym typeface="Poppins"/>
            </a:endParaRPr>
          </a:p>
          <a:p>
            <a:pPr algn="just">
              <a:lnSpc>
                <a:spcPts val="2829"/>
              </a:lnSpc>
              <a:spcBef>
                <a:spcPct val="0"/>
              </a:spcBef>
            </a:pPr>
            <a:r>
              <a:rPr lang="en-US" sz="2020" b="1" dirty="0">
                <a:solidFill>
                  <a:srgbClr val="000000"/>
                </a:solidFill>
                <a:latin typeface="Poppins Bold"/>
                <a:ea typeface="Poppins Bold"/>
                <a:cs typeface="Poppins Bold"/>
                <a:sym typeface="Poppins Bold"/>
              </a:rPr>
              <a:t>La main-d’œuvre agricole :</a:t>
            </a:r>
            <a:r>
              <a:rPr lang="en-US" sz="2020" dirty="0">
                <a:solidFill>
                  <a:srgbClr val="000000"/>
                </a:solidFill>
                <a:latin typeface="Poppins"/>
                <a:ea typeface="Poppins"/>
                <a:cs typeface="Poppins"/>
                <a:sym typeface="Poppins"/>
              </a:rPr>
              <a:t> peu organisée, difficile à mobiliser au bon moment et au bon endroit.</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AFAFA"/>
        </a:solidFill>
        <a:effectLst/>
      </p:bgPr>
    </p:bg>
    <p:spTree>
      <p:nvGrpSpPr>
        <p:cNvPr id="1" name=""/>
        <p:cNvGrpSpPr/>
        <p:nvPr/>
      </p:nvGrpSpPr>
      <p:grpSpPr>
        <a:xfrm>
          <a:off x="0" y="0"/>
          <a:ext cx="0" cy="0"/>
          <a:chOff x="0" y="0"/>
          <a:chExt cx="0" cy="0"/>
        </a:xfrm>
      </p:grpSpPr>
      <p:sp>
        <p:nvSpPr>
          <p:cNvPr id="2" name="TextBox 2"/>
          <p:cNvSpPr txBox="1"/>
          <p:nvPr/>
        </p:nvSpPr>
        <p:spPr>
          <a:xfrm>
            <a:off x="2215455" y="9494520"/>
            <a:ext cx="2781353" cy="309245"/>
          </a:xfrm>
          <a:prstGeom prst="rect">
            <a:avLst/>
          </a:prstGeom>
        </p:spPr>
        <p:txBody>
          <a:bodyPr lIns="0" tIns="0" rIns="0" bIns="0" rtlCol="0" anchor="t">
            <a:spAutoFit/>
          </a:bodyPr>
          <a:lstStyle/>
          <a:p>
            <a:pPr algn="l">
              <a:lnSpc>
                <a:spcPts val="2380"/>
              </a:lnSpc>
              <a:spcBef>
                <a:spcPct val="0"/>
              </a:spcBef>
            </a:pPr>
            <a:r>
              <a:rPr lang="en-US" sz="1700" dirty="0">
                <a:solidFill>
                  <a:srgbClr val="0D0A1E"/>
                </a:solidFill>
                <a:latin typeface="Telegraf"/>
                <a:ea typeface="Telegraf"/>
                <a:cs typeface="Telegraf"/>
                <a:sym typeface="Telegraf"/>
              </a:rPr>
              <a:t>LA SOLUTION PROPOSÉE</a:t>
            </a:r>
          </a:p>
        </p:txBody>
      </p:sp>
      <p:sp>
        <p:nvSpPr>
          <p:cNvPr id="3" name="AutoShape 3"/>
          <p:cNvSpPr/>
          <p:nvPr/>
        </p:nvSpPr>
        <p:spPr>
          <a:xfrm>
            <a:off x="2079761" y="9523096"/>
            <a:ext cx="0" cy="317498"/>
          </a:xfrm>
          <a:prstGeom prst="line">
            <a:avLst/>
          </a:prstGeom>
          <a:ln w="38100" cap="flat">
            <a:solidFill>
              <a:srgbClr val="9CC453"/>
            </a:solidFill>
            <a:prstDash val="solid"/>
            <a:headEnd type="none" w="sm" len="sm"/>
            <a:tailEnd type="none" w="sm" len="sm"/>
          </a:ln>
        </p:spPr>
      </p:sp>
      <p:sp>
        <p:nvSpPr>
          <p:cNvPr id="4" name="AutoShape 4"/>
          <p:cNvSpPr/>
          <p:nvPr/>
        </p:nvSpPr>
        <p:spPr>
          <a:xfrm>
            <a:off x="4996808" y="9677717"/>
            <a:ext cx="11611918" cy="0"/>
          </a:xfrm>
          <a:prstGeom prst="line">
            <a:avLst/>
          </a:prstGeom>
          <a:ln w="9525" cap="flat">
            <a:solidFill>
              <a:srgbClr val="000000"/>
            </a:solidFill>
            <a:prstDash val="solid"/>
            <a:headEnd type="none" w="sm" len="sm"/>
            <a:tailEnd type="none" w="sm" len="sm"/>
          </a:ln>
        </p:spPr>
      </p:sp>
      <p:sp>
        <p:nvSpPr>
          <p:cNvPr id="5" name="Freeform 5"/>
          <p:cNvSpPr/>
          <p:nvPr/>
        </p:nvSpPr>
        <p:spPr>
          <a:xfrm rot="-1199392">
            <a:off x="7427971" y="5537399"/>
            <a:ext cx="13171332" cy="7441803"/>
          </a:xfrm>
          <a:custGeom>
            <a:avLst/>
            <a:gdLst/>
            <a:ahLst/>
            <a:cxnLst/>
            <a:rect l="l" t="t" r="r" b="b"/>
            <a:pathLst>
              <a:path w="13171332" h="7441803">
                <a:moveTo>
                  <a:pt x="0" y="0"/>
                </a:moveTo>
                <a:lnTo>
                  <a:pt x="13171333" y="0"/>
                </a:lnTo>
                <a:lnTo>
                  <a:pt x="13171333" y="7441802"/>
                </a:lnTo>
                <a:lnTo>
                  <a:pt x="0" y="7441802"/>
                </a:lnTo>
                <a:lnTo>
                  <a:pt x="0" y="0"/>
                </a:lnTo>
                <a:close/>
              </a:path>
            </a:pathLst>
          </a:custGeom>
          <a:blipFill>
            <a:blip r:embed="rId2">
              <a:alphaModFix amt="10999"/>
              <a:extLst>
                <a:ext uri="{96DAC541-7B7A-43D3-8B79-37D633B846F1}">
                  <asvg:svgBlip xmlns:asvg="http://schemas.microsoft.com/office/drawing/2016/SVG/main" xmlns="" r:embed="rId3"/>
                </a:ext>
              </a:extLst>
            </a:blip>
            <a:stretch>
              <a:fillRect/>
            </a:stretch>
          </a:blipFill>
        </p:spPr>
      </p:sp>
      <p:sp>
        <p:nvSpPr>
          <p:cNvPr id="6" name="Freeform 6"/>
          <p:cNvSpPr/>
          <p:nvPr/>
        </p:nvSpPr>
        <p:spPr>
          <a:xfrm>
            <a:off x="409340" y="3327492"/>
            <a:ext cx="5473857" cy="5470435"/>
          </a:xfrm>
          <a:custGeom>
            <a:avLst/>
            <a:gdLst/>
            <a:ahLst/>
            <a:cxnLst/>
            <a:rect l="l" t="t" r="r" b="b"/>
            <a:pathLst>
              <a:path w="5473857" h="5470435">
                <a:moveTo>
                  <a:pt x="0" y="0"/>
                </a:moveTo>
                <a:lnTo>
                  <a:pt x="5473857" y="0"/>
                </a:lnTo>
                <a:lnTo>
                  <a:pt x="5473857" y="5470435"/>
                </a:lnTo>
                <a:lnTo>
                  <a:pt x="0" y="5470435"/>
                </a:lnTo>
                <a:lnTo>
                  <a:pt x="0" y="0"/>
                </a:lnTo>
                <a:close/>
              </a:path>
            </a:pathLst>
          </a:custGeom>
          <a:blipFill>
            <a:blip r:embed="rId4"/>
            <a:stretch>
              <a:fillRect/>
            </a:stretch>
          </a:blipFill>
        </p:spPr>
      </p:sp>
      <p:sp>
        <p:nvSpPr>
          <p:cNvPr id="7" name="TextBox 7"/>
          <p:cNvSpPr txBox="1"/>
          <p:nvPr/>
        </p:nvSpPr>
        <p:spPr>
          <a:xfrm>
            <a:off x="1679274" y="9476740"/>
            <a:ext cx="381437" cy="335280"/>
          </a:xfrm>
          <a:prstGeom prst="rect">
            <a:avLst/>
          </a:prstGeom>
        </p:spPr>
        <p:txBody>
          <a:bodyPr lIns="0" tIns="0" rIns="0" bIns="0" rtlCol="0" anchor="t">
            <a:spAutoFit/>
          </a:bodyPr>
          <a:lstStyle/>
          <a:p>
            <a:pPr algn="just">
              <a:lnSpc>
                <a:spcPts val="2520"/>
              </a:lnSpc>
              <a:spcBef>
                <a:spcPct val="0"/>
              </a:spcBef>
            </a:pPr>
            <a:r>
              <a:rPr lang="en-US" sz="1800" b="1" dirty="0">
                <a:solidFill>
                  <a:srgbClr val="0D0A1E"/>
                </a:solidFill>
                <a:latin typeface="Telegraf Bold"/>
                <a:ea typeface="Telegraf Bold"/>
                <a:cs typeface="Telegraf Bold"/>
                <a:sym typeface="Telegraf Bold"/>
              </a:rPr>
              <a:t>07</a:t>
            </a:r>
          </a:p>
        </p:txBody>
      </p:sp>
      <p:sp>
        <p:nvSpPr>
          <p:cNvPr id="8" name="TextBox 8"/>
          <p:cNvSpPr txBox="1"/>
          <p:nvPr/>
        </p:nvSpPr>
        <p:spPr>
          <a:xfrm>
            <a:off x="5543899" y="333375"/>
            <a:ext cx="7200203" cy="1333500"/>
          </a:xfrm>
          <a:prstGeom prst="rect">
            <a:avLst/>
          </a:prstGeom>
        </p:spPr>
        <p:txBody>
          <a:bodyPr lIns="0" tIns="0" rIns="0" bIns="0" rtlCol="0" anchor="t">
            <a:spAutoFit/>
          </a:bodyPr>
          <a:lstStyle/>
          <a:p>
            <a:pPr algn="l">
              <a:lnSpc>
                <a:spcPts val="5040"/>
              </a:lnSpc>
            </a:pPr>
            <a:r>
              <a:rPr lang="en-US" sz="4200" b="1" dirty="0">
                <a:solidFill>
                  <a:srgbClr val="0D0A1E"/>
                </a:solidFill>
                <a:latin typeface="Telegraf Bold"/>
                <a:ea typeface="Telegraf Bold"/>
                <a:cs typeface="Telegraf Bold"/>
                <a:sym typeface="Telegraf Bold"/>
              </a:rPr>
              <a:t>LA SOLUTION PROPOSÉE</a:t>
            </a:r>
          </a:p>
          <a:p>
            <a:pPr algn="l">
              <a:lnSpc>
                <a:spcPts val="5040"/>
              </a:lnSpc>
            </a:pPr>
            <a:endParaRPr lang="en-US" sz="4200" b="1" dirty="0">
              <a:solidFill>
                <a:srgbClr val="0D0A1E"/>
              </a:solidFill>
              <a:latin typeface="Telegraf Bold"/>
              <a:ea typeface="Telegraf Bold"/>
              <a:cs typeface="Telegraf Bold"/>
              <a:sym typeface="Telegraf Bold"/>
            </a:endParaRPr>
          </a:p>
        </p:txBody>
      </p:sp>
      <p:sp>
        <p:nvSpPr>
          <p:cNvPr id="9" name="Freeform 9"/>
          <p:cNvSpPr/>
          <p:nvPr/>
        </p:nvSpPr>
        <p:spPr>
          <a:xfrm>
            <a:off x="6407072" y="3347811"/>
            <a:ext cx="5473857" cy="5470435"/>
          </a:xfrm>
          <a:custGeom>
            <a:avLst/>
            <a:gdLst/>
            <a:ahLst/>
            <a:cxnLst/>
            <a:rect l="l" t="t" r="r" b="b"/>
            <a:pathLst>
              <a:path w="5473857" h="5470435">
                <a:moveTo>
                  <a:pt x="0" y="0"/>
                </a:moveTo>
                <a:lnTo>
                  <a:pt x="5473856" y="0"/>
                </a:lnTo>
                <a:lnTo>
                  <a:pt x="5473856" y="5470435"/>
                </a:lnTo>
                <a:lnTo>
                  <a:pt x="0" y="5470435"/>
                </a:lnTo>
                <a:lnTo>
                  <a:pt x="0" y="0"/>
                </a:lnTo>
                <a:close/>
              </a:path>
            </a:pathLst>
          </a:custGeom>
          <a:blipFill>
            <a:blip r:embed="rId4"/>
            <a:stretch>
              <a:fillRect/>
            </a:stretch>
          </a:blipFill>
        </p:spPr>
      </p:sp>
      <p:sp>
        <p:nvSpPr>
          <p:cNvPr id="10" name="Freeform 10"/>
          <p:cNvSpPr/>
          <p:nvPr/>
        </p:nvSpPr>
        <p:spPr>
          <a:xfrm>
            <a:off x="12404803" y="3327492"/>
            <a:ext cx="5608243" cy="5604738"/>
          </a:xfrm>
          <a:custGeom>
            <a:avLst/>
            <a:gdLst/>
            <a:ahLst/>
            <a:cxnLst/>
            <a:rect l="l" t="t" r="r" b="b"/>
            <a:pathLst>
              <a:path w="5608243" h="5604738">
                <a:moveTo>
                  <a:pt x="0" y="0"/>
                </a:moveTo>
                <a:lnTo>
                  <a:pt x="5608243" y="0"/>
                </a:lnTo>
                <a:lnTo>
                  <a:pt x="5608243" y="5604738"/>
                </a:lnTo>
                <a:lnTo>
                  <a:pt x="0" y="5604738"/>
                </a:lnTo>
                <a:lnTo>
                  <a:pt x="0" y="0"/>
                </a:lnTo>
                <a:close/>
              </a:path>
            </a:pathLst>
          </a:custGeom>
          <a:blipFill>
            <a:blip r:embed="rId4"/>
            <a:stretch>
              <a:fillRect/>
            </a:stretch>
          </a:blipFill>
        </p:spPr>
      </p:sp>
      <p:sp>
        <p:nvSpPr>
          <p:cNvPr id="11" name="TextBox 11"/>
          <p:cNvSpPr txBox="1"/>
          <p:nvPr/>
        </p:nvSpPr>
        <p:spPr>
          <a:xfrm>
            <a:off x="1028700" y="1222956"/>
            <a:ext cx="16230600" cy="1468858"/>
          </a:xfrm>
          <a:prstGeom prst="rect">
            <a:avLst/>
          </a:prstGeom>
        </p:spPr>
        <p:txBody>
          <a:bodyPr lIns="0" tIns="0" rIns="0" bIns="0" rtlCol="0" anchor="t">
            <a:spAutoFit/>
          </a:bodyPr>
          <a:lstStyle/>
          <a:p>
            <a:pPr marL="0" lvl="0" indent="0" algn="ctr">
              <a:lnSpc>
                <a:spcPts val="3249"/>
              </a:lnSpc>
              <a:spcBef>
                <a:spcPct val="0"/>
              </a:spcBef>
            </a:pPr>
            <a:r>
              <a:rPr lang="en-US" sz="2320" u="none" strike="noStrike" dirty="0">
                <a:solidFill>
                  <a:srgbClr val="1E7042"/>
                </a:solidFill>
                <a:latin typeface="Poppins"/>
                <a:ea typeface="Poppins"/>
                <a:cs typeface="Poppins"/>
                <a:sym typeface="Poppins"/>
              </a:rPr>
              <a:t>El Ghella </a:t>
            </a:r>
          </a:p>
          <a:p>
            <a:pPr marL="0" lvl="0" indent="0" algn="ctr">
              <a:lnSpc>
                <a:spcPts val="2829"/>
              </a:lnSpc>
              <a:spcBef>
                <a:spcPct val="0"/>
              </a:spcBef>
            </a:pPr>
            <a:r>
              <a:rPr lang="en-US" sz="2020" u="none" strike="noStrike" dirty="0">
                <a:solidFill>
                  <a:srgbClr val="000000"/>
                </a:solidFill>
                <a:latin typeface="Poppins"/>
                <a:ea typeface="Poppins"/>
                <a:cs typeface="Poppins"/>
                <a:sym typeface="Poppins"/>
              </a:rPr>
              <a:t> une plateforme numérique innovante qui centralise, pour la première fois en Algérie, l’ensemble des services agricoles essentiels dans un seul espace digital, simple et accessible.</a:t>
            </a:r>
          </a:p>
          <a:p>
            <a:pPr marL="0" lvl="0" indent="0" algn="ctr">
              <a:lnSpc>
                <a:spcPts val="2829"/>
              </a:lnSpc>
              <a:spcBef>
                <a:spcPct val="0"/>
              </a:spcBef>
            </a:pPr>
            <a:r>
              <a:rPr lang="en-US" sz="2020" u="none" strike="noStrike" dirty="0">
                <a:solidFill>
                  <a:srgbClr val="000000"/>
                </a:solidFill>
                <a:latin typeface="Poppins"/>
                <a:ea typeface="Poppins"/>
                <a:cs typeface="Poppins"/>
                <a:sym typeface="Poppins"/>
              </a:rPr>
              <a:t>Elle permet aux agriculteurs de :</a:t>
            </a:r>
          </a:p>
        </p:txBody>
      </p:sp>
      <p:sp>
        <p:nvSpPr>
          <p:cNvPr id="12" name="TextBox 12"/>
          <p:cNvSpPr txBox="1"/>
          <p:nvPr/>
        </p:nvSpPr>
        <p:spPr>
          <a:xfrm>
            <a:off x="994152" y="4140990"/>
            <a:ext cx="4304234" cy="3966313"/>
          </a:xfrm>
          <a:prstGeom prst="rect">
            <a:avLst/>
          </a:prstGeom>
        </p:spPr>
        <p:txBody>
          <a:bodyPr lIns="0" tIns="0" rIns="0" bIns="0" rtlCol="0" anchor="t">
            <a:spAutoFit/>
          </a:bodyPr>
          <a:lstStyle/>
          <a:p>
            <a:pPr marL="0" lvl="0" indent="0" algn="ctr">
              <a:lnSpc>
                <a:spcPts val="2409"/>
              </a:lnSpc>
              <a:spcBef>
                <a:spcPct val="0"/>
              </a:spcBef>
            </a:pPr>
            <a:r>
              <a:rPr lang="en-US" sz="1720" u="none" strike="noStrike" dirty="0">
                <a:solidFill>
                  <a:srgbClr val="1E7042"/>
                </a:solidFill>
                <a:latin typeface="Poppins"/>
                <a:ea typeface="Poppins"/>
                <a:cs typeface="Poppins"/>
                <a:sym typeface="Poppins"/>
              </a:rPr>
              <a:t>Marché numérique transparent </a:t>
            </a:r>
          </a:p>
          <a:p>
            <a:pPr marL="0" lvl="0" indent="0" algn="ctr">
              <a:lnSpc>
                <a:spcPts val="2409"/>
              </a:lnSpc>
              <a:spcBef>
                <a:spcPct val="0"/>
              </a:spcBef>
            </a:pPr>
            <a:r>
              <a:rPr lang="en-US" sz="1720" u="none" strike="noStrike" dirty="0">
                <a:solidFill>
                  <a:srgbClr val="1E7042"/>
                </a:solidFill>
                <a:latin typeface="Poppins"/>
                <a:ea typeface="Poppins"/>
                <a:cs typeface="Poppins"/>
                <a:sym typeface="Poppins"/>
              </a:rPr>
              <a:t>et accès facilité aux intrants</a:t>
            </a:r>
          </a:p>
          <a:p>
            <a:pPr marL="0" lvl="0" indent="0" algn="ctr">
              <a:lnSpc>
                <a:spcPts val="2409"/>
              </a:lnSpc>
              <a:spcBef>
                <a:spcPct val="0"/>
              </a:spcBef>
            </a:pPr>
            <a:r>
              <a:rPr lang="en-US" sz="1720" u="none" strike="noStrike" dirty="0">
                <a:solidFill>
                  <a:srgbClr val="000000"/>
                </a:solidFill>
                <a:latin typeface="Poppins"/>
                <a:ea typeface="Poppins"/>
                <a:cs typeface="Poppins"/>
                <a:sym typeface="Poppins"/>
              </a:rPr>
              <a:t> La plateforme connecte directement producteurs, acheteurs et fournisseurs d’intrants. Elle permet aux agriculteurs de comparer les prix, commander des semences, plants, outils ou services, et traiter sans intermédiaire, de manière équitable et géolocalisée. Elle offre également un accès à  marchés plus larges, élargissant ainsi les opportunités d’échanges </a:t>
            </a:r>
          </a:p>
          <a:p>
            <a:pPr marL="0" lvl="0" indent="0" algn="ctr">
              <a:lnSpc>
                <a:spcPts val="2409"/>
              </a:lnSpc>
              <a:spcBef>
                <a:spcPct val="0"/>
              </a:spcBef>
            </a:pPr>
            <a:r>
              <a:rPr lang="en-US" sz="1720" u="none" strike="noStrike" dirty="0">
                <a:solidFill>
                  <a:srgbClr val="000000"/>
                </a:solidFill>
                <a:latin typeface="Poppins"/>
                <a:ea typeface="Poppins"/>
                <a:cs typeface="Poppins"/>
                <a:sym typeface="Poppins"/>
              </a:rPr>
              <a:t>agricoles. </a:t>
            </a:r>
          </a:p>
        </p:txBody>
      </p:sp>
      <p:sp>
        <p:nvSpPr>
          <p:cNvPr id="13" name="TextBox 13"/>
          <p:cNvSpPr txBox="1"/>
          <p:nvPr/>
        </p:nvSpPr>
        <p:spPr>
          <a:xfrm>
            <a:off x="7237627" y="4084844"/>
            <a:ext cx="3812747" cy="3661513"/>
          </a:xfrm>
          <a:prstGeom prst="rect">
            <a:avLst/>
          </a:prstGeom>
        </p:spPr>
        <p:txBody>
          <a:bodyPr lIns="0" tIns="0" rIns="0" bIns="0" rtlCol="0" anchor="t">
            <a:spAutoFit/>
          </a:bodyPr>
          <a:lstStyle/>
          <a:p>
            <a:pPr marL="0" lvl="0" indent="0" algn="ctr">
              <a:lnSpc>
                <a:spcPts val="2409"/>
              </a:lnSpc>
              <a:spcBef>
                <a:spcPct val="0"/>
              </a:spcBef>
            </a:pPr>
            <a:r>
              <a:rPr lang="en-US" sz="1720" u="none" strike="noStrike" dirty="0">
                <a:solidFill>
                  <a:srgbClr val="1E7042"/>
                </a:solidFill>
                <a:latin typeface="Poppins"/>
                <a:ea typeface="Poppins"/>
                <a:cs typeface="Poppins"/>
                <a:sym typeface="Poppins"/>
              </a:rPr>
              <a:t>Organisation intelligente de la main-d’œuvre et des services agricoles :</a:t>
            </a:r>
          </a:p>
          <a:p>
            <a:pPr marL="0" lvl="0" indent="0" algn="ctr">
              <a:lnSpc>
                <a:spcPts val="2409"/>
              </a:lnSpc>
              <a:spcBef>
                <a:spcPct val="0"/>
              </a:spcBef>
            </a:pPr>
            <a:r>
              <a:rPr lang="en-US" sz="1720" u="none" strike="noStrike" dirty="0">
                <a:solidFill>
                  <a:srgbClr val="000000"/>
                </a:solidFill>
                <a:latin typeface="Poppins"/>
                <a:ea typeface="Poppins"/>
                <a:cs typeface="Poppins"/>
                <a:sym typeface="Poppins"/>
              </a:rPr>
              <a:t> "el-Ghella" facilite la mise en relation entre l’offre et la demande de travail agricole à l’échelle locale, tout en intégrant des services de transport, de location de machines et d’assistance technique, ce qui améliore l’efficience des opérations sur le terrain.</a:t>
            </a:r>
          </a:p>
        </p:txBody>
      </p:sp>
      <p:sp>
        <p:nvSpPr>
          <p:cNvPr id="14" name="TextBox 14"/>
          <p:cNvSpPr txBox="1"/>
          <p:nvPr/>
        </p:nvSpPr>
        <p:spPr>
          <a:xfrm>
            <a:off x="12739731" y="4072864"/>
            <a:ext cx="4937327" cy="3966313"/>
          </a:xfrm>
          <a:prstGeom prst="rect">
            <a:avLst/>
          </a:prstGeom>
        </p:spPr>
        <p:txBody>
          <a:bodyPr lIns="0" tIns="0" rIns="0" bIns="0" rtlCol="0" anchor="t">
            <a:spAutoFit/>
          </a:bodyPr>
          <a:lstStyle/>
          <a:p>
            <a:pPr marL="0" lvl="0" indent="0" algn="ctr">
              <a:lnSpc>
                <a:spcPts val="2409"/>
              </a:lnSpc>
              <a:spcBef>
                <a:spcPct val="0"/>
              </a:spcBef>
            </a:pPr>
            <a:r>
              <a:rPr lang="en-US" sz="1720" dirty="0">
                <a:solidFill>
                  <a:srgbClr val="1E7042"/>
                </a:solidFill>
                <a:latin typeface="Poppins"/>
                <a:ea typeface="Poppins"/>
                <a:cs typeface="Poppins"/>
                <a:sym typeface="Poppins"/>
              </a:rPr>
              <a:t>Amél</a:t>
            </a:r>
            <a:r>
              <a:rPr lang="en-US" sz="1720" u="none" strike="noStrike" dirty="0">
                <a:solidFill>
                  <a:srgbClr val="1E7042"/>
                </a:solidFill>
                <a:latin typeface="Poppins"/>
                <a:ea typeface="Poppins"/>
                <a:cs typeface="Poppins"/>
                <a:sym typeface="Poppins"/>
              </a:rPr>
              <a:t>ioration de la qualité grâce </a:t>
            </a:r>
          </a:p>
          <a:p>
            <a:pPr marL="0" lvl="0" indent="0" algn="ctr">
              <a:lnSpc>
                <a:spcPts val="2409"/>
              </a:lnSpc>
              <a:spcBef>
                <a:spcPct val="0"/>
              </a:spcBef>
            </a:pPr>
            <a:r>
              <a:rPr lang="en-US" sz="1720" u="none" strike="noStrike" dirty="0">
                <a:solidFill>
                  <a:srgbClr val="1E7042"/>
                </a:solidFill>
                <a:latin typeface="Poppins"/>
                <a:ea typeface="Poppins"/>
                <a:cs typeface="Poppins"/>
                <a:sym typeface="Poppins"/>
              </a:rPr>
              <a:t>à un réseau d’experts</a:t>
            </a:r>
          </a:p>
          <a:p>
            <a:pPr marL="0" lvl="0" indent="0" algn="ctr">
              <a:lnSpc>
                <a:spcPts val="2409"/>
              </a:lnSpc>
              <a:spcBef>
                <a:spcPct val="0"/>
              </a:spcBef>
            </a:pPr>
            <a:r>
              <a:rPr lang="en-US" sz="1720" u="none" strike="noStrike" dirty="0">
                <a:solidFill>
                  <a:srgbClr val="1E7042"/>
                </a:solidFill>
                <a:latin typeface="Poppins"/>
                <a:ea typeface="Poppins"/>
                <a:cs typeface="Poppins"/>
                <a:sym typeface="Poppins"/>
              </a:rPr>
              <a:t> </a:t>
            </a:r>
            <a:r>
              <a:rPr lang="en-US" sz="1720" u="none" strike="noStrike" dirty="0">
                <a:solidFill>
                  <a:srgbClr val="000000"/>
                </a:solidFill>
                <a:latin typeface="Poppins"/>
                <a:ea typeface="Poppins"/>
                <a:cs typeface="Poppins"/>
                <a:sym typeface="Poppins"/>
              </a:rPr>
              <a:t>Des experts inscrits sur la plateforme dans chaque wilaya assurent le contrôle qualité, les analyses techniques et les conseils personnalisés. Cela garantit une meilleure traçabilité, réduit les risques sanitaires et renforce la qualité des productions agricoles locales. La plateforme propose également un service d’analyses spatiales grâce aux outils intégrés, permettant une meilleure gestion des ressources et un appui à l’agriculture de précision</a:t>
            </a:r>
            <a:r>
              <a:rPr lang="en-US" sz="1720" u="none" strike="noStrike" dirty="0">
                <a:solidFill>
                  <a:srgbClr val="1E7042"/>
                </a:solidFill>
                <a:latin typeface="Poppins"/>
                <a:ea typeface="Poppins"/>
                <a:cs typeface="Poppins"/>
                <a:sym typeface="Poppins"/>
              </a:rPr>
              <a:t>.</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EFEFEF"/>
        </a:solidFill>
        <a:effectLst/>
      </p:bgPr>
    </p:bg>
    <p:spTree>
      <p:nvGrpSpPr>
        <p:cNvPr id="1" name=""/>
        <p:cNvGrpSpPr/>
        <p:nvPr/>
      </p:nvGrpSpPr>
      <p:grpSpPr>
        <a:xfrm>
          <a:off x="0" y="0"/>
          <a:ext cx="0" cy="0"/>
          <a:chOff x="0" y="0"/>
          <a:chExt cx="0" cy="0"/>
        </a:xfrm>
      </p:grpSpPr>
      <p:sp>
        <p:nvSpPr>
          <p:cNvPr id="2" name="Freeform 2"/>
          <p:cNvSpPr/>
          <p:nvPr/>
        </p:nvSpPr>
        <p:spPr>
          <a:xfrm rot="-1199392">
            <a:off x="11913439" y="5537399"/>
            <a:ext cx="13171332" cy="7441803"/>
          </a:xfrm>
          <a:custGeom>
            <a:avLst/>
            <a:gdLst/>
            <a:ahLst/>
            <a:cxnLst/>
            <a:rect l="l" t="t" r="r" b="b"/>
            <a:pathLst>
              <a:path w="13171332" h="7441803">
                <a:moveTo>
                  <a:pt x="0" y="0"/>
                </a:moveTo>
                <a:lnTo>
                  <a:pt x="13171332" y="0"/>
                </a:lnTo>
                <a:lnTo>
                  <a:pt x="13171332" y="7441802"/>
                </a:lnTo>
                <a:lnTo>
                  <a:pt x="0" y="7441802"/>
                </a:lnTo>
                <a:lnTo>
                  <a:pt x="0" y="0"/>
                </a:lnTo>
                <a:close/>
              </a:path>
            </a:pathLst>
          </a:custGeom>
          <a:blipFill>
            <a:blip r:embed="rId2">
              <a:alphaModFix amt="10999"/>
              <a:extLst>
                <a:ext uri="{96DAC541-7B7A-43D3-8B79-37D633B846F1}">
                  <asvg:svgBlip xmlns:asvg="http://schemas.microsoft.com/office/drawing/2016/SVG/main" xmlns="" r:embed="rId3"/>
                </a:ext>
              </a:extLst>
            </a:blip>
            <a:stretch>
              <a:fillRect/>
            </a:stretch>
          </a:blipFill>
        </p:spPr>
      </p:sp>
      <p:sp>
        <p:nvSpPr>
          <p:cNvPr id="3" name="TextBox 3"/>
          <p:cNvSpPr txBox="1"/>
          <p:nvPr/>
        </p:nvSpPr>
        <p:spPr>
          <a:xfrm>
            <a:off x="2215455" y="9596838"/>
            <a:ext cx="1557052" cy="351790"/>
          </a:xfrm>
          <a:prstGeom prst="rect">
            <a:avLst/>
          </a:prstGeom>
        </p:spPr>
        <p:txBody>
          <a:bodyPr lIns="0" tIns="0" rIns="0" bIns="0" rtlCol="0" anchor="t">
            <a:spAutoFit/>
          </a:bodyPr>
          <a:lstStyle/>
          <a:p>
            <a:pPr algn="l">
              <a:lnSpc>
                <a:spcPts val="2659"/>
              </a:lnSpc>
              <a:spcBef>
                <a:spcPct val="0"/>
              </a:spcBef>
            </a:pPr>
            <a:r>
              <a:rPr lang="en-US" sz="1899" dirty="0">
                <a:solidFill>
                  <a:srgbClr val="0D0A1E"/>
                </a:solidFill>
                <a:latin typeface="Telegraf"/>
                <a:ea typeface="Telegraf"/>
                <a:cs typeface="Telegraf"/>
                <a:sym typeface="Telegraf"/>
              </a:rPr>
              <a:t>PROTOTYPE</a:t>
            </a:r>
          </a:p>
        </p:txBody>
      </p:sp>
      <p:sp>
        <p:nvSpPr>
          <p:cNvPr id="4" name="AutoShape 4"/>
          <p:cNvSpPr/>
          <p:nvPr/>
        </p:nvSpPr>
        <p:spPr>
          <a:xfrm>
            <a:off x="2079761" y="9651449"/>
            <a:ext cx="0" cy="317498"/>
          </a:xfrm>
          <a:prstGeom prst="line">
            <a:avLst/>
          </a:prstGeom>
          <a:ln w="38100" cap="flat">
            <a:solidFill>
              <a:srgbClr val="9CC453"/>
            </a:solidFill>
            <a:prstDash val="solid"/>
            <a:headEnd type="none" w="sm" len="sm"/>
            <a:tailEnd type="none" w="sm" len="sm"/>
          </a:ln>
        </p:spPr>
      </p:sp>
      <p:sp>
        <p:nvSpPr>
          <p:cNvPr id="5" name="AutoShape 5"/>
          <p:cNvSpPr/>
          <p:nvPr/>
        </p:nvSpPr>
        <p:spPr>
          <a:xfrm>
            <a:off x="3772507" y="9806071"/>
            <a:ext cx="9903523" cy="0"/>
          </a:xfrm>
          <a:prstGeom prst="line">
            <a:avLst/>
          </a:prstGeom>
          <a:ln w="9525" cap="flat">
            <a:solidFill>
              <a:srgbClr val="000000"/>
            </a:solidFill>
            <a:prstDash val="solid"/>
            <a:headEnd type="none" w="sm" len="sm"/>
            <a:tailEnd type="none" w="sm" len="sm"/>
          </a:ln>
        </p:spPr>
      </p:sp>
      <p:sp>
        <p:nvSpPr>
          <p:cNvPr id="6" name="TextBox 6"/>
          <p:cNvSpPr txBox="1"/>
          <p:nvPr/>
        </p:nvSpPr>
        <p:spPr>
          <a:xfrm>
            <a:off x="5774388" y="4647838"/>
            <a:ext cx="11484912" cy="936025"/>
          </a:xfrm>
          <a:prstGeom prst="rect">
            <a:avLst/>
          </a:prstGeom>
        </p:spPr>
        <p:txBody>
          <a:bodyPr lIns="0" tIns="0" rIns="0" bIns="0" rtlCol="0" anchor="t">
            <a:spAutoFit/>
          </a:bodyPr>
          <a:lstStyle/>
          <a:p>
            <a:pPr algn="l">
              <a:lnSpc>
                <a:spcPts val="7989"/>
              </a:lnSpc>
            </a:pPr>
            <a:r>
              <a:rPr lang="en-US" sz="5707" u="sng" dirty="0">
                <a:solidFill>
                  <a:schemeClr val="accent3">
                    <a:lumMod val="50000"/>
                  </a:schemeClr>
                </a:solidFill>
                <a:latin typeface="Arimo"/>
                <a:ea typeface="Arimo"/>
                <a:cs typeface="Arimo"/>
                <a:sym typeface="Arimo"/>
                <a:hlinkClick r:id="rId4" tooltip="http://www.elghella.com">
                  <a:extLst>
                    <a:ext uri="{A12FA001-AC4F-418D-AE19-62706E023703}">
                      <ahyp:hlinkClr xmlns:ahyp="http://schemas.microsoft.com/office/drawing/2018/hyperlinkcolor" xmlns="" val="tx"/>
                    </a:ext>
                  </a:extLst>
                </a:hlinkClick>
              </a:rPr>
              <a:t>www.elghella.com</a:t>
            </a:r>
          </a:p>
        </p:txBody>
      </p:sp>
      <p:sp>
        <p:nvSpPr>
          <p:cNvPr id="7" name="TextBox 7"/>
          <p:cNvSpPr txBox="1"/>
          <p:nvPr/>
        </p:nvSpPr>
        <p:spPr>
          <a:xfrm>
            <a:off x="1679274" y="9605093"/>
            <a:ext cx="381437" cy="335280"/>
          </a:xfrm>
          <a:prstGeom prst="rect">
            <a:avLst/>
          </a:prstGeom>
        </p:spPr>
        <p:txBody>
          <a:bodyPr lIns="0" tIns="0" rIns="0" bIns="0" rtlCol="0" anchor="t">
            <a:spAutoFit/>
          </a:bodyPr>
          <a:lstStyle/>
          <a:p>
            <a:pPr algn="just">
              <a:lnSpc>
                <a:spcPts val="2520"/>
              </a:lnSpc>
              <a:spcBef>
                <a:spcPct val="0"/>
              </a:spcBef>
            </a:pPr>
            <a:r>
              <a:rPr lang="en-US" sz="1800" b="1" dirty="0">
                <a:solidFill>
                  <a:srgbClr val="0D0A1E"/>
                </a:solidFill>
                <a:latin typeface="Telegraf Bold"/>
                <a:ea typeface="Telegraf Bold"/>
                <a:cs typeface="Telegraf Bold"/>
                <a:sym typeface="Telegraf Bold"/>
              </a:rPr>
              <a:t>08</a:t>
            </a:r>
          </a:p>
        </p:txBody>
      </p:sp>
      <p:sp>
        <p:nvSpPr>
          <p:cNvPr id="8" name="TextBox 8"/>
          <p:cNvSpPr txBox="1"/>
          <p:nvPr/>
        </p:nvSpPr>
        <p:spPr>
          <a:xfrm>
            <a:off x="10668000" y="6775180"/>
            <a:ext cx="7086600" cy="1885196"/>
          </a:xfrm>
          <a:prstGeom prst="rect">
            <a:avLst/>
          </a:prstGeom>
        </p:spPr>
        <p:txBody>
          <a:bodyPr wrap="square" lIns="0" tIns="0" rIns="0" bIns="0" rtlCol="0" anchor="t">
            <a:spAutoFit/>
          </a:bodyPr>
          <a:lstStyle/>
          <a:p>
            <a:pPr marL="0" lvl="0" indent="0" algn="l">
              <a:lnSpc>
                <a:spcPts val="5040"/>
              </a:lnSpc>
              <a:spcBef>
                <a:spcPct val="0"/>
              </a:spcBef>
            </a:pPr>
            <a:r>
              <a:rPr lang="fr-FR" sz="3600" dirty="0">
                <a:solidFill>
                  <a:srgbClr val="358F5C"/>
                </a:solidFill>
              </a:rPr>
              <a:t>Lien vers une vidéo explicative</a:t>
            </a:r>
            <a:r>
              <a:rPr lang="en-US" sz="3600" b="1" dirty="0">
                <a:solidFill>
                  <a:srgbClr val="358F5C"/>
                </a:solidFill>
                <a:latin typeface="Telegraf Bold"/>
                <a:ea typeface="Telegraf Bold"/>
                <a:cs typeface="Telegraf Bold"/>
                <a:sym typeface="Telegraf Bold"/>
              </a:rPr>
              <a:t> :</a:t>
            </a:r>
            <a:br>
              <a:rPr lang="en-US" sz="3600" b="1" dirty="0">
                <a:solidFill>
                  <a:srgbClr val="358F5C"/>
                </a:solidFill>
                <a:latin typeface="Telegraf Bold"/>
                <a:ea typeface="Telegraf Bold"/>
                <a:cs typeface="Telegraf Bold"/>
                <a:sym typeface="Telegraf Bold"/>
              </a:rPr>
            </a:br>
            <a:r>
              <a:rPr lang="en-US" sz="2000" b="1" dirty="0">
                <a:solidFill>
                  <a:srgbClr val="FF0000"/>
                </a:solidFill>
                <a:latin typeface="Telegraf Bold"/>
                <a:ea typeface="Telegraf Bold"/>
                <a:cs typeface="Telegraf Bold"/>
                <a:sym typeface="Telegraf Bold"/>
              </a:rPr>
              <a:t>https://www.youtube.com/watch?v=s0BjFZXSnho</a:t>
            </a:r>
            <a:r>
              <a:rPr lang="en-US" sz="3600" b="1" dirty="0">
                <a:solidFill>
                  <a:srgbClr val="358F5C"/>
                </a:solidFill>
                <a:latin typeface="Telegraf Bold"/>
                <a:ea typeface="Telegraf Bold"/>
                <a:cs typeface="Telegraf Bold"/>
                <a:sym typeface="Telegraf Bold"/>
              </a:rPr>
              <a:t/>
            </a:r>
            <a:br>
              <a:rPr lang="en-US" sz="3600" b="1" dirty="0">
                <a:solidFill>
                  <a:srgbClr val="358F5C"/>
                </a:solidFill>
                <a:latin typeface="Telegraf Bold"/>
                <a:ea typeface="Telegraf Bold"/>
                <a:cs typeface="Telegraf Bold"/>
                <a:sym typeface="Telegraf Bold"/>
              </a:rPr>
            </a:br>
            <a:endParaRPr lang="en-US" sz="3600" b="1" u="none" strike="noStrike" dirty="0">
              <a:solidFill>
                <a:srgbClr val="358F5C"/>
              </a:solidFill>
              <a:latin typeface="Telegraf Bold"/>
              <a:ea typeface="Telegraf Bold"/>
              <a:cs typeface="Telegraf Bold"/>
              <a:sym typeface="Telegraf Bold"/>
            </a:endParaRPr>
          </a:p>
        </p:txBody>
      </p:sp>
      <p:sp>
        <p:nvSpPr>
          <p:cNvPr id="9" name="TextBox 9"/>
          <p:cNvSpPr txBox="1"/>
          <p:nvPr/>
        </p:nvSpPr>
        <p:spPr>
          <a:xfrm>
            <a:off x="1028700" y="1219472"/>
            <a:ext cx="14977309" cy="1333500"/>
          </a:xfrm>
          <a:prstGeom prst="rect">
            <a:avLst/>
          </a:prstGeom>
        </p:spPr>
        <p:txBody>
          <a:bodyPr lIns="0" tIns="0" rIns="0" bIns="0" rtlCol="0" anchor="t">
            <a:spAutoFit/>
          </a:bodyPr>
          <a:lstStyle/>
          <a:p>
            <a:pPr algn="l">
              <a:lnSpc>
                <a:spcPts val="5040"/>
              </a:lnSpc>
            </a:pPr>
            <a:r>
              <a:rPr lang="en-US" sz="4200" b="1" dirty="0">
                <a:solidFill>
                  <a:srgbClr val="0D0A1E"/>
                </a:solidFill>
                <a:latin typeface="Telegraf Bold"/>
                <a:ea typeface="Telegraf Bold"/>
                <a:cs typeface="Telegraf Bold"/>
                <a:sym typeface="Telegraf Bold"/>
              </a:rPr>
              <a:t>PRÉSENTATION DU PROTOTYPE SERVICE : </a:t>
            </a:r>
          </a:p>
          <a:p>
            <a:pPr algn="l">
              <a:lnSpc>
                <a:spcPts val="5040"/>
              </a:lnSpc>
            </a:pPr>
            <a:endParaRPr lang="en-US" sz="4200" b="1" dirty="0">
              <a:solidFill>
                <a:srgbClr val="0D0A1E"/>
              </a:solidFill>
              <a:latin typeface="Telegraf Bold"/>
              <a:ea typeface="Telegraf Bold"/>
              <a:cs typeface="Telegraf Bold"/>
              <a:sym typeface="Telegraf Bold"/>
            </a:endParaRPr>
          </a:p>
        </p:txBody>
      </p:sp>
      <p:sp>
        <p:nvSpPr>
          <p:cNvPr id="10" name="Freeform 10"/>
          <p:cNvSpPr/>
          <p:nvPr/>
        </p:nvSpPr>
        <p:spPr>
          <a:xfrm>
            <a:off x="5789963" y="5551866"/>
            <a:ext cx="5930931" cy="3349346"/>
          </a:xfrm>
          <a:custGeom>
            <a:avLst/>
            <a:gdLst/>
            <a:ahLst/>
            <a:cxnLst/>
            <a:rect l="l" t="t" r="r" b="b"/>
            <a:pathLst>
              <a:path w="5930931" h="3349346">
                <a:moveTo>
                  <a:pt x="0" y="0"/>
                </a:moveTo>
                <a:lnTo>
                  <a:pt x="5930931" y="0"/>
                </a:lnTo>
                <a:lnTo>
                  <a:pt x="5930931" y="3349346"/>
                </a:lnTo>
                <a:lnTo>
                  <a:pt x="0" y="3349346"/>
                </a:lnTo>
                <a:lnTo>
                  <a:pt x="0" y="0"/>
                </a:lnTo>
                <a:close/>
              </a:path>
            </a:pathLst>
          </a:custGeom>
          <a:blipFill>
            <a:blip r:embed="rId5"/>
            <a:stretch>
              <a:fillRect t="-137883"/>
            </a:stretch>
          </a:blipFill>
        </p:spPr>
      </p:sp>
      <p:sp>
        <p:nvSpPr>
          <p:cNvPr id="11" name="TextBox 8">
            <a:extLst>
              <a:ext uri="{FF2B5EF4-FFF2-40B4-BE49-F238E27FC236}">
                <a16:creationId xmlns:a16="http://schemas.microsoft.com/office/drawing/2014/main" xmlns="" id="{8CC6C32C-ADA9-4734-827D-F42893D192DD}"/>
              </a:ext>
            </a:extLst>
          </p:cNvPr>
          <p:cNvSpPr txBox="1"/>
          <p:nvPr/>
        </p:nvSpPr>
        <p:spPr>
          <a:xfrm>
            <a:off x="2153234" y="2648222"/>
            <a:ext cx="14286332" cy="1971675"/>
          </a:xfrm>
          <a:prstGeom prst="rect">
            <a:avLst/>
          </a:prstGeom>
        </p:spPr>
        <p:txBody>
          <a:bodyPr lIns="0" tIns="0" rIns="0" bIns="0" rtlCol="0" anchor="t">
            <a:spAutoFit/>
          </a:bodyPr>
          <a:lstStyle/>
          <a:p>
            <a:pPr marL="0" lvl="0" indent="0" algn="l">
              <a:lnSpc>
                <a:spcPts val="5040"/>
              </a:lnSpc>
              <a:spcBef>
                <a:spcPct val="0"/>
              </a:spcBef>
            </a:pPr>
            <a:r>
              <a:rPr lang="en-US" sz="4200" b="1" u="none" strike="noStrike" dirty="0">
                <a:solidFill>
                  <a:srgbClr val="1E7042"/>
                </a:solidFill>
                <a:latin typeface="Telegraf Bold"/>
                <a:ea typeface="Telegraf Bold"/>
                <a:cs typeface="Telegraf Bold"/>
                <a:sym typeface="Telegraf Bold"/>
              </a:rPr>
              <a:t>LE LIEN VERS LE SITE WEB </a:t>
            </a:r>
          </a:p>
          <a:p>
            <a:pPr marL="0" lvl="0" indent="0" algn="l">
              <a:lnSpc>
                <a:spcPts val="5040"/>
              </a:lnSpc>
              <a:spcBef>
                <a:spcPct val="0"/>
              </a:spcBef>
            </a:pPr>
            <a:r>
              <a:rPr lang="en-US" sz="4200" b="1" u="none" strike="noStrike" dirty="0">
                <a:solidFill>
                  <a:srgbClr val="1E7042"/>
                </a:solidFill>
                <a:latin typeface="Telegraf Bold"/>
                <a:ea typeface="Telegraf Bold"/>
                <a:cs typeface="Telegraf Bold"/>
                <a:sym typeface="Telegraf Bold"/>
              </a:rPr>
              <a:t>DU PROJETEl-GHELLA :</a:t>
            </a:r>
          </a:p>
          <a:p>
            <a:pPr marL="0" lvl="0" indent="0" algn="l">
              <a:lnSpc>
                <a:spcPts val="5040"/>
              </a:lnSpc>
              <a:spcBef>
                <a:spcPct val="0"/>
              </a:spcBef>
            </a:pPr>
            <a:endParaRPr lang="en-US" sz="4200" b="1" u="none" strike="noStrike" dirty="0">
              <a:solidFill>
                <a:srgbClr val="1E7042"/>
              </a:solidFill>
              <a:latin typeface="Telegraf Bold"/>
              <a:ea typeface="Telegraf Bold"/>
              <a:cs typeface="Telegraf Bold"/>
              <a:sym typeface="Telegraf Bold"/>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AFAFA"/>
        </a:solidFill>
        <a:effectLst/>
      </p:bgPr>
    </p:bg>
    <p:spTree>
      <p:nvGrpSpPr>
        <p:cNvPr id="1" name=""/>
        <p:cNvGrpSpPr/>
        <p:nvPr/>
      </p:nvGrpSpPr>
      <p:grpSpPr>
        <a:xfrm>
          <a:off x="0" y="0"/>
          <a:ext cx="0" cy="0"/>
          <a:chOff x="0" y="0"/>
          <a:chExt cx="0" cy="0"/>
        </a:xfrm>
      </p:grpSpPr>
      <p:sp>
        <p:nvSpPr>
          <p:cNvPr id="2" name="Freeform 2"/>
          <p:cNvSpPr/>
          <p:nvPr/>
        </p:nvSpPr>
        <p:spPr>
          <a:xfrm rot="-1199392">
            <a:off x="7427971" y="5537399"/>
            <a:ext cx="13171332" cy="7441803"/>
          </a:xfrm>
          <a:custGeom>
            <a:avLst/>
            <a:gdLst/>
            <a:ahLst/>
            <a:cxnLst/>
            <a:rect l="l" t="t" r="r" b="b"/>
            <a:pathLst>
              <a:path w="13171332" h="7441803">
                <a:moveTo>
                  <a:pt x="0" y="0"/>
                </a:moveTo>
                <a:lnTo>
                  <a:pt x="13171333" y="0"/>
                </a:lnTo>
                <a:lnTo>
                  <a:pt x="13171333" y="7441802"/>
                </a:lnTo>
                <a:lnTo>
                  <a:pt x="0" y="7441802"/>
                </a:lnTo>
                <a:lnTo>
                  <a:pt x="0" y="0"/>
                </a:lnTo>
                <a:close/>
              </a:path>
            </a:pathLst>
          </a:custGeom>
          <a:blipFill>
            <a:blip r:embed="rId2">
              <a:alphaModFix amt="10999"/>
              <a:extLst>
                <a:ext uri="{96DAC541-7B7A-43D3-8B79-37D633B846F1}">
                  <asvg:svgBlip xmlns:asvg="http://schemas.microsoft.com/office/drawing/2016/SVG/main" xmlns="" r:embed="rId3"/>
                </a:ext>
              </a:extLst>
            </a:blip>
            <a:stretch>
              <a:fillRect/>
            </a:stretch>
          </a:blipFill>
        </p:spPr>
      </p:sp>
      <p:sp>
        <p:nvSpPr>
          <p:cNvPr id="3" name="TextBox 3"/>
          <p:cNvSpPr txBox="1"/>
          <p:nvPr/>
        </p:nvSpPr>
        <p:spPr>
          <a:xfrm>
            <a:off x="2129081" y="8769351"/>
            <a:ext cx="1250976" cy="309245"/>
          </a:xfrm>
          <a:prstGeom prst="rect">
            <a:avLst/>
          </a:prstGeom>
        </p:spPr>
        <p:txBody>
          <a:bodyPr lIns="0" tIns="0" rIns="0" bIns="0" rtlCol="0" anchor="t">
            <a:spAutoFit/>
          </a:bodyPr>
          <a:lstStyle/>
          <a:p>
            <a:pPr algn="l">
              <a:lnSpc>
                <a:spcPts val="2380"/>
              </a:lnSpc>
              <a:spcBef>
                <a:spcPct val="0"/>
              </a:spcBef>
            </a:pPr>
            <a:r>
              <a:rPr lang="en-US" sz="1700" dirty="0">
                <a:solidFill>
                  <a:srgbClr val="0D0A1E"/>
                </a:solidFill>
                <a:latin typeface="Telegraf"/>
                <a:ea typeface="Telegraf"/>
                <a:cs typeface="Telegraf"/>
                <a:sym typeface="Telegraf"/>
              </a:rPr>
              <a:t>BREVETS</a:t>
            </a:r>
          </a:p>
        </p:txBody>
      </p:sp>
      <p:sp>
        <p:nvSpPr>
          <p:cNvPr id="4" name="AutoShape 4"/>
          <p:cNvSpPr/>
          <p:nvPr/>
        </p:nvSpPr>
        <p:spPr>
          <a:xfrm rot="5400000">
            <a:off x="1834638" y="8937626"/>
            <a:ext cx="317498" cy="0"/>
          </a:xfrm>
          <a:prstGeom prst="line">
            <a:avLst/>
          </a:prstGeom>
          <a:ln w="38100" cap="flat">
            <a:solidFill>
              <a:srgbClr val="9CC453"/>
            </a:solidFill>
            <a:prstDash val="solid"/>
            <a:headEnd type="none" w="sm" len="sm"/>
            <a:tailEnd type="none" w="sm" len="sm"/>
          </a:ln>
        </p:spPr>
      </p:sp>
      <p:sp>
        <p:nvSpPr>
          <p:cNvPr id="5" name="AutoShape 5"/>
          <p:cNvSpPr/>
          <p:nvPr/>
        </p:nvSpPr>
        <p:spPr>
          <a:xfrm>
            <a:off x="3380057" y="8952549"/>
            <a:ext cx="7139716" cy="0"/>
          </a:xfrm>
          <a:prstGeom prst="line">
            <a:avLst/>
          </a:prstGeom>
          <a:ln w="9525" cap="flat">
            <a:solidFill>
              <a:srgbClr val="000000"/>
            </a:solidFill>
            <a:prstDash val="solid"/>
            <a:headEnd type="none" w="sm" len="sm"/>
            <a:tailEnd type="none" w="sm" len="sm"/>
          </a:ln>
        </p:spPr>
      </p:sp>
      <p:grpSp>
        <p:nvGrpSpPr>
          <p:cNvPr id="6" name="Group 6"/>
          <p:cNvGrpSpPr/>
          <p:nvPr/>
        </p:nvGrpSpPr>
        <p:grpSpPr>
          <a:xfrm>
            <a:off x="1585396" y="2294143"/>
            <a:ext cx="122392" cy="429165"/>
            <a:chOff x="0" y="0"/>
            <a:chExt cx="159850" cy="560512"/>
          </a:xfrm>
        </p:grpSpPr>
        <p:sp>
          <p:nvSpPr>
            <p:cNvPr id="7" name="Freeform 7"/>
            <p:cNvSpPr/>
            <p:nvPr/>
          </p:nvSpPr>
          <p:spPr>
            <a:xfrm>
              <a:off x="0" y="0"/>
              <a:ext cx="159850" cy="560512"/>
            </a:xfrm>
            <a:custGeom>
              <a:avLst/>
              <a:gdLst/>
              <a:ahLst/>
              <a:cxnLst/>
              <a:rect l="l" t="t" r="r" b="b"/>
              <a:pathLst>
                <a:path w="159850" h="560512">
                  <a:moveTo>
                    <a:pt x="0" y="0"/>
                  </a:moveTo>
                  <a:lnTo>
                    <a:pt x="159850" y="0"/>
                  </a:lnTo>
                  <a:lnTo>
                    <a:pt x="159850" y="560512"/>
                  </a:lnTo>
                  <a:lnTo>
                    <a:pt x="0" y="560512"/>
                  </a:lnTo>
                  <a:close/>
                </a:path>
              </a:pathLst>
            </a:custGeom>
            <a:solidFill>
              <a:srgbClr val="9CC453"/>
            </a:solidFill>
          </p:spPr>
        </p:sp>
        <p:sp>
          <p:nvSpPr>
            <p:cNvPr id="8" name="TextBox 8"/>
            <p:cNvSpPr txBox="1"/>
            <p:nvPr/>
          </p:nvSpPr>
          <p:spPr>
            <a:xfrm>
              <a:off x="0" y="-66675"/>
              <a:ext cx="159850" cy="627187"/>
            </a:xfrm>
            <a:prstGeom prst="rect">
              <a:avLst/>
            </a:prstGeom>
          </p:spPr>
          <p:txBody>
            <a:bodyPr lIns="50800" tIns="50800" rIns="50800" bIns="50800" rtlCol="0" anchor="ctr"/>
            <a:lstStyle/>
            <a:p>
              <a:pPr algn="ctr">
                <a:lnSpc>
                  <a:spcPts val="2520"/>
                </a:lnSpc>
              </a:pPr>
              <a:endParaRPr dirty="0"/>
            </a:p>
          </p:txBody>
        </p:sp>
      </p:grpSp>
      <p:sp>
        <p:nvSpPr>
          <p:cNvPr id="9" name="TextBox 9"/>
          <p:cNvSpPr txBox="1"/>
          <p:nvPr/>
        </p:nvSpPr>
        <p:spPr>
          <a:xfrm>
            <a:off x="1783619" y="5739966"/>
            <a:ext cx="8736155" cy="1572895"/>
          </a:xfrm>
          <a:prstGeom prst="rect">
            <a:avLst/>
          </a:prstGeom>
        </p:spPr>
        <p:txBody>
          <a:bodyPr lIns="0" tIns="0" rIns="0" bIns="0" rtlCol="0" anchor="t">
            <a:spAutoFit/>
          </a:bodyPr>
          <a:lstStyle/>
          <a:p>
            <a:pPr algn="l">
              <a:lnSpc>
                <a:spcPts val="3080"/>
              </a:lnSpc>
              <a:spcBef>
                <a:spcPct val="0"/>
              </a:spcBef>
            </a:pPr>
            <a:r>
              <a:rPr lang="en-US" sz="2200" dirty="0">
                <a:solidFill>
                  <a:srgbClr val="0D0A1E"/>
                </a:solidFill>
                <a:latin typeface="Telegraf"/>
                <a:ea typeface="Telegraf"/>
                <a:cs typeface="Telegraf"/>
                <a:sym typeface="Telegraf"/>
              </a:rPr>
              <a:t>Dépôt effectué le 18/12/2024 auprès de l’ONDA (Office National des Droits d’Auteurs) pour la protection des œuvres et l’intégralité du projet. Dossier en cours d’instruction. Preuves de dépôt disponibles sur demande.</a:t>
            </a:r>
          </a:p>
        </p:txBody>
      </p:sp>
      <p:sp>
        <p:nvSpPr>
          <p:cNvPr id="10" name="TextBox 10"/>
          <p:cNvSpPr txBox="1"/>
          <p:nvPr/>
        </p:nvSpPr>
        <p:spPr>
          <a:xfrm>
            <a:off x="1585396" y="3985907"/>
            <a:ext cx="8525707" cy="2191361"/>
          </a:xfrm>
          <a:prstGeom prst="rect">
            <a:avLst/>
          </a:prstGeom>
        </p:spPr>
        <p:txBody>
          <a:bodyPr lIns="0" tIns="0" rIns="0" bIns="0" rtlCol="0" anchor="t">
            <a:spAutoFit/>
          </a:bodyPr>
          <a:lstStyle/>
          <a:p>
            <a:pPr algn="l">
              <a:lnSpc>
                <a:spcPts val="5741"/>
              </a:lnSpc>
            </a:pPr>
            <a:r>
              <a:rPr lang="en-US" sz="4100" b="1" dirty="0">
                <a:solidFill>
                  <a:srgbClr val="358F5C"/>
                </a:solidFill>
                <a:latin typeface="Telegraf Bold"/>
                <a:ea typeface="Telegraf Bold"/>
                <a:cs typeface="Telegraf Bold"/>
                <a:sym typeface="Telegraf Bold"/>
              </a:rPr>
              <a:t>STATUT DE LA PROPRIÉTÉ INTELLECTUELLE</a:t>
            </a:r>
          </a:p>
          <a:p>
            <a:pPr algn="l">
              <a:lnSpc>
                <a:spcPts val="5741"/>
              </a:lnSpc>
              <a:spcBef>
                <a:spcPct val="0"/>
              </a:spcBef>
            </a:pPr>
            <a:endParaRPr lang="en-US" sz="4100" b="1" dirty="0">
              <a:solidFill>
                <a:srgbClr val="358F5C"/>
              </a:solidFill>
              <a:latin typeface="Telegraf Bold"/>
              <a:ea typeface="Telegraf Bold"/>
              <a:cs typeface="Telegraf Bold"/>
              <a:sym typeface="Telegraf Bold"/>
            </a:endParaRPr>
          </a:p>
        </p:txBody>
      </p:sp>
      <p:sp>
        <p:nvSpPr>
          <p:cNvPr id="11" name="TextBox 11"/>
          <p:cNvSpPr txBox="1"/>
          <p:nvPr/>
        </p:nvSpPr>
        <p:spPr>
          <a:xfrm>
            <a:off x="1592900" y="8751571"/>
            <a:ext cx="381437" cy="335280"/>
          </a:xfrm>
          <a:prstGeom prst="rect">
            <a:avLst/>
          </a:prstGeom>
        </p:spPr>
        <p:txBody>
          <a:bodyPr lIns="0" tIns="0" rIns="0" bIns="0" rtlCol="0" anchor="t">
            <a:spAutoFit/>
          </a:bodyPr>
          <a:lstStyle/>
          <a:p>
            <a:pPr algn="just">
              <a:lnSpc>
                <a:spcPts val="2520"/>
              </a:lnSpc>
              <a:spcBef>
                <a:spcPct val="0"/>
              </a:spcBef>
            </a:pPr>
            <a:r>
              <a:rPr lang="en-US" sz="1800" b="1" dirty="0">
                <a:solidFill>
                  <a:srgbClr val="0D0A1E"/>
                </a:solidFill>
                <a:latin typeface="Telegraf Bold"/>
                <a:ea typeface="Telegraf Bold"/>
                <a:cs typeface="Telegraf Bold"/>
                <a:sym typeface="Telegraf Bold"/>
              </a:rPr>
              <a:t>09</a:t>
            </a:r>
          </a:p>
        </p:txBody>
      </p:sp>
      <p:sp>
        <p:nvSpPr>
          <p:cNvPr id="12" name="TextBox 12"/>
          <p:cNvSpPr txBox="1"/>
          <p:nvPr/>
        </p:nvSpPr>
        <p:spPr>
          <a:xfrm>
            <a:off x="1880258" y="2012474"/>
            <a:ext cx="12318333" cy="2573655"/>
          </a:xfrm>
          <a:prstGeom prst="rect">
            <a:avLst/>
          </a:prstGeom>
        </p:spPr>
        <p:txBody>
          <a:bodyPr lIns="0" tIns="0" rIns="0" bIns="0" rtlCol="0" anchor="t">
            <a:spAutoFit/>
          </a:bodyPr>
          <a:lstStyle/>
          <a:p>
            <a:pPr algn="l">
              <a:lnSpc>
                <a:spcPts val="6719"/>
              </a:lnSpc>
            </a:pPr>
            <a:r>
              <a:rPr lang="en-US" sz="4800" b="1" dirty="0">
                <a:solidFill>
                  <a:srgbClr val="0D0A1E"/>
                </a:solidFill>
                <a:latin typeface="Telegraf Bold"/>
                <a:ea typeface="Telegraf Bold"/>
                <a:cs typeface="Telegraf Bold"/>
                <a:sym typeface="Telegraf Bold"/>
              </a:rPr>
              <a:t>BREVETS, MARQUES ET DROITS DE PROPRIÉTÉ INTELLECTUELLE</a:t>
            </a:r>
          </a:p>
          <a:p>
            <a:pPr algn="l">
              <a:lnSpc>
                <a:spcPts val="6719"/>
              </a:lnSpc>
              <a:spcBef>
                <a:spcPct val="0"/>
              </a:spcBef>
            </a:pPr>
            <a:endParaRPr lang="en-US" sz="4800" b="1" dirty="0">
              <a:solidFill>
                <a:srgbClr val="0D0A1E"/>
              </a:solidFill>
              <a:latin typeface="Telegraf Bold"/>
              <a:ea typeface="Telegraf Bold"/>
              <a:cs typeface="Telegraf Bold"/>
              <a:sym typeface="Telegraf Bold"/>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AFAFA"/>
        </a:solidFill>
        <a:effectLst/>
      </p:bgPr>
    </p:bg>
    <p:spTree>
      <p:nvGrpSpPr>
        <p:cNvPr id="1" name=""/>
        <p:cNvGrpSpPr/>
        <p:nvPr/>
      </p:nvGrpSpPr>
      <p:grpSpPr>
        <a:xfrm>
          <a:off x="0" y="0"/>
          <a:ext cx="0" cy="0"/>
          <a:chOff x="0" y="0"/>
          <a:chExt cx="0" cy="0"/>
        </a:xfrm>
      </p:grpSpPr>
      <p:grpSp>
        <p:nvGrpSpPr>
          <p:cNvPr id="2" name="Group 2"/>
          <p:cNvGrpSpPr/>
          <p:nvPr/>
        </p:nvGrpSpPr>
        <p:grpSpPr>
          <a:xfrm>
            <a:off x="705159" y="3763549"/>
            <a:ext cx="1676467" cy="391933"/>
            <a:chOff x="0" y="0"/>
            <a:chExt cx="441539" cy="103225"/>
          </a:xfrm>
        </p:grpSpPr>
        <p:sp>
          <p:nvSpPr>
            <p:cNvPr id="3" name="Freeform 3"/>
            <p:cNvSpPr/>
            <p:nvPr/>
          </p:nvSpPr>
          <p:spPr>
            <a:xfrm>
              <a:off x="0" y="0"/>
              <a:ext cx="441539" cy="103225"/>
            </a:xfrm>
            <a:custGeom>
              <a:avLst/>
              <a:gdLst/>
              <a:ahLst/>
              <a:cxnLst/>
              <a:rect l="l" t="t" r="r" b="b"/>
              <a:pathLst>
                <a:path w="441539" h="103225">
                  <a:moveTo>
                    <a:pt x="51613" y="0"/>
                  </a:moveTo>
                  <a:lnTo>
                    <a:pt x="389926" y="0"/>
                  </a:lnTo>
                  <a:cubicBezTo>
                    <a:pt x="403615" y="0"/>
                    <a:pt x="416742" y="5438"/>
                    <a:pt x="426422" y="15117"/>
                  </a:cubicBezTo>
                  <a:cubicBezTo>
                    <a:pt x="436101" y="24796"/>
                    <a:pt x="441539" y="37924"/>
                    <a:pt x="441539" y="51613"/>
                  </a:cubicBezTo>
                  <a:lnTo>
                    <a:pt x="441539" y="51613"/>
                  </a:lnTo>
                  <a:cubicBezTo>
                    <a:pt x="441539" y="65301"/>
                    <a:pt x="436101" y="78429"/>
                    <a:pt x="426422" y="88108"/>
                  </a:cubicBezTo>
                  <a:cubicBezTo>
                    <a:pt x="416742" y="97787"/>
                    <a:pt x="403615" y="103225"/>
                    <a:pt x="389926" y="103225"/>
                  </a:cubicBezTo>
                  <a:lnTo>
                    <a:pt x="51613" y="103225"/>
                  </a:lnTo>
                  <a:cubicBezTo>
                    <a:pt x="37924" y="103225"/>
                    <a:pt x="24796" y="97787"/>
                    <a:pt x="15117" y="88108"/>
                  </a:cubicBezTo>
                  <a:cubicBezTo>
                    <a:pt x="5438" y="78429"/>
                    <a:pt x="0" y="65301"/>
                    <a:pt x="0" y="51613"/>
                  </a:cubicBezTo>
                  <a:lnTo>
                    <a:pt x="0" y="51613"/>
                  </a:lnTo>
                  <a:cubicBezTo>
                    <a:pt x="0" y="37924"/>
                    <a:pt x="5438" y="24796"/>
                    <a:pt x="15117" y="15117"/>
                  </a:cubicBezTo>
                  <a:cubicBezTo>
                    <a:pt x="24796" y="5438"/>
                    <a:pt x="37924" y="0"/>
                    <a:pt x="51613" y="0"/>
                  </a:cubicBezTo>
                  <a:close/>
                </a:path>
              </a:pathLst>
            </a:custGeom>
            <a:solidFill>
              <a:srgbClr val="506E9A"/>
            </a:solidFill>
          </p:spPr>
        </p:sp>
        <p:sp>
          <p:nvSpPr>
            <p:cNvPr id="4" name="TextBox 4"/>
            <p:cNvSpPr txBox="1"/>
            <p:nvPr/>
          </p:nvSpPr>
          <p:spPr>
            <a:xfrm>
              <a:off x="0" y="-76200"/>
              <a:ext cx="441539" cy="179425"/>
            </a:xfrm>
            <a:prstGeom prst="rect">
              <a:avLst/>
            </a:prstGeom>
          </p:spPr>
          <p:txBody>
            <a:bodyPr lIns="50800" tIns="50800" rIns="50800" bIns="50800" rtlCol="0" anchor="ctr"/>
            <a:lstStyle/>
            <a:p>
              <a:pPr algn="ctr">
                <a:lnSpc>
                  <a:spcPts val="3359"/>
                </a:lnSpc>
              </a:pPr>
              <a:endParaRPr dirty="0"/>
            </a:p>
          </p:txBody>
        </p:sp>
      </p:grpSp>
      <p:grpSp>
        <p:nvGrpSpPr>
          <p:cNvPr id="5" name="Group 5"/>
          <p:cNvGrpSpPr/>
          <p:nvPr/>
        </p:nvGrpSpPr>
        <p:grpSpPr>
          <a:xfrm>
            <a:off x="705159" y="1659504"/>
            <a:ext cx="2437800" cy="362367"/>
            <a:chOff x="0" y="0"/>
            <a:chExt cx="642054" cy="95438"/>
          </a:xfrm>
        </p:grpSpPr>
        <p:sp>
          <p:nvSpPr>
            <p:cNvPr id="6" name="Freeform 6"/>
            <p:cNvSpPr/>
            <p:nvPr/>
          </p:nvSpPr>
          <p:spPr>
            <a:xfrm>
              <a:off x="0" y="0"/>
              <a:ext cx="642054" cy="95438"/>
            </a:xfrm>
            <a:custGeom>
              <a:avLst/>
              <a:gdLst/>
              <a:ahLst/>
              <a:cxnLst/>
              <a:rect l="l" t="t" r="r" b="b"/>
              <a:pathLst>
                <a:path w="642054" h="95438">
                  <a:moveTo>
                    <a:pt x="47719" y="0"/>
                  </a:moveTo>
                  <a:lnTo>
                    <a:pt x="594335" y="0"/>
                  </a:lnTo>
                  <a:cubicBezTo>
                    <a:pt x="620690" y="0"/>
                    <a:pt x="642054" y="21365"/>
                    <a:pt x="642054" y="47719"/>
                  </a:cubicBezTo>
                  <a:lnTo>
                    <a:pt x="642054" y="47719"/>
                  </a:lnTo>
                  <a:cubicBezTo>
                    <a:pt x="642054" y="74074"/>
                    <a:pt x="620690" y="95438"/>
                    <a:pt x="594335" y="95438"/>
                  </a:cubicBezTo>
                  <a:lnTo>
                    <a:pt x="47719" y="95438"/>
                  </a:lnTo>
                  <a:cubicBezTo>
                    <a:pt x="21365" y="95438"/>
                    <a:pt x="0" y="74074"/>
                    <a:pt x="0" y="47719"/>
                  </a:cubicBezTo>
                  <a:lnTo>
                    <a:pt x="0" y="47719"/>
                  </a:lnTo>
                  <a:cubicBezTo>
                    <a:pt x="0" y="21365"/>
                    <a:pt x="21365" y="0"/>
                    <a:pt x="47719" y="0"/>
                  </a:cubicBezTo>
                  <a:close/>
                </a:path>
              </a:pathLst>
            </a:custGeom>
            <a:solidFill>
              <a:srgbClr val="7EB194"/>
            </a:solidFill>
          </p:spPr>
        </p:sp>
        <p:sp>
          <p:nvSpPr>
            <p:cNvPr id="7" name="TextBox 7"/>
            <p:cNvSpPr txBox="1"/>
            <p:nvPr/>
          </p:nvSpPr>
          <p:spPr>
            <a:xfrm>
              <a:off x="0" y="-76200"/>
              <a:ext cx="642054" cy="171638"/>
            </a:xfrm>
            <a:prstGeom prst="rect">
              <a:avLst/>
            </a:prstGeom>
          </p:spPr>
          <p:txBody>
            <a:bodyPr lIns="50800" tIns="50800" rIns="50800" bIns="50800" rtlCol="0" anchor="ctr"/>
            <a:lstStyle/>
            <a:p>
              <a:pPr algn="ctr">
                <a:lnSpc>
                  <a:spcPts val="3359"/>
                </a:lnSpc>
              </a:pPr>
              <a:endParaRPr dirty="0"/>
            </a:p>
          </p:txBody>
        </p:sp>
      </p:grpSp>
      <p:sp>
        <p:nvSpPr>
          <p:cNvPr id="8" name="TextBox 8"/>
          <p:cNvSpPr txBox="1"/>
          <p:nvPr/>
        </p:nvSpPr>
        <p:spPr>
          <a:xfrm>
            <a:off x="1404863" y="205740"/>
            <a:ext cx="8355188" cy="1512570"/>
          </a:xfrm>
          <a:prstGeom prst="rect">
            <a:avLst/>
          </a:prstGeom>
        </p:spPr>
        <p:txBody>
          <a:bodyPr lIns="0" tIns="0" rIns="0" bIns="0" rtlCol="0" anchor="t">
            <a:spAutoFit/>
          </a:bodyPr>
          <a:lstStyle/>
          <a:p>
            <a:pPr algn="l">
              <a:lnSpc>
                <a:spcPts val="5880"/>
              </a:lnSpc>
            </a:pPr>
            <a:r>
              <a:rPr lang="en-US" sz="4200" b="1" dirty="0">
                <a:solidFill>
                  <a:srgbClr val="0D0A1E"/>
                </a:solidFill>
                <a:latin typeface="Telegraf Bold"/>
                <a:ea typeface="Telegraf Bold"/>
                <a:cs typeface="Telegraf Bold"/>
                <a:sym typeface="Telegraf Bold"/>
              </a:rPr>
              <a:t>VALEUR AJOUTÉE</a:t>
            </a:r>
          </a:p>
          <a:p>
            <a:pPr algn="l">
              <a:lnSpc>
                <a:spcPts val="5880"/>
              </a:lnSpc>
              <a:spcBef>
                <a:spcPct val="0"/>
              </a:spcBef>
            </a:pPr>
            <a:endParaRPr lang="en-US" sz="4200" b="1" dirty="0">
              <a:solidFill>
                <a:srgbClr val="0D0A1E"/>
              </a:solidFill>
              <a:latin typeface="Telegraf Bold"/>
              <a:ea typeface="Telegraf Bold"/>
              <a:cs typeface="Telegraf Bold"/>
              <a:sym typeface="Telegraf Bold"/>
            </a:endParaRPr>
          </a:p>
        </p:txBody>
      </p:sp>
      <p:grpSp>
        <p:nvGrpSpPr>
          <p:cNvPr id="9" name="Group 9"/>
          <p:cNvGrpSpPr/>
          <p:nvPr/>
        </p:nvGrpSpPr>
        <p:grpSpPr>
          <a:xfrm>
            <a:off x="705159" y="4871689"/>
            <a:ext cx="3546536" cy="310626"/>
            <a:chOff x="0" y="0"/>
            <a:chExt cx="934067" cy="81811"/>
          </a:xfrm>
        </p:grpSpPr>
        <p:sp>
          <p:nvSpPr>
            <p:cNvPr id="10" name="Freeform 10"/>
            <p:cNvSpPr/>
            <p:nvPr/>
          </p:nvSpPr>
          <p:spPr>
            <a:xfrm>
              <a:off x="0" y="0"/>
              <a:ext cx="934067" cy="81811"/>
            </a:xfrm>
            <a:custGeom>
              <a:avLst/>
              <a:gdLst/>
              <a:ahLst/>
              <a:cxnLst/>
              <a:rect l="l" t="t" r="r" b="b"/>
              <a:pathLst>
                <a:path w="934067" h="81811">
                  <a:moveTo>
                    <a:pt x="40905" y="0"/>
                  </a:moveTo>
                  <a:lnTo>
                    <a:pt x="893162" y="0"/>
                  </a:lnTo>
                  <a:cubicBezTo>
                    <a:pt x="915753" y="0"/>
                    <a:pt x="934067" y="18314"/>
                    <a:pt x="934067" y="40905"/>
                  </a:cubicBezTo>
                  <a:lnTo>
                    <a:pt x="934067" y="40905"/>
                  </a:lnTo>
                  <a:cubicBezTo>
                    <a:pt x="934067" y="63497"/>
                    <a:pt x="915753" y="81811"/>
                    <a:pt x="893162" y="81811"/>
                  </a:cubicBezTo>
                  <a:lnTo>
                    <a:pt x="40905" y="81811"/>
                  </a:lnTo>
                  <a:cubicBezTo>
                    <a:pt x="18314" y="81811"/>
                    <a:pt x="0" y="63497"/>
                    <a:pt x="0" y="40905"/>
                  </a:cubicBezTo>
                  <a:lnTo>
                    <a:pt x="0" y="40905"/>
                  </a:lnTo>
                  <a:cubicBezTo>
                    <a:pt x="0" y="18314"/>
                    <a:pt x="18314" y="0"/>
                    <a:pt x="40905" y="0"/>
                  </a:cubicBezTo>
                  <a:close/>
                </a:path>
              </a:pathLst>
            </a:custGeom>
            <a:solidFill>
              <a:srgbClr val="9CC453"/>
            </a:solidFill>
          </p:spPr>
        </p:sp>
        <p:sp>
          <p:nvSpPr>
            <p:cNvPr id="11" name="TextBox 11"/>
            <p:cNvSpPr txBox="1"/>
            <p:nvPr/>
          </p:nvSpPr>
          <p:spPr>
            <a:xfrm>
              <a:off x="0" y="-76200"/>
              <a:ext cx="934067" cy="158011"/>
            </a:xfrm>
            <a:prstGeom prst="rect">
              <a:avLst/>
            </a:prstGeom>
          </p:spPr>
          <p:txBody>
            <a:bodyPr lIns="50800" tIns="50800" rIns="50800" bIns="50800" rtlCol="0" anchor="ctr"/>
            <a:lstStyle/>
            <a:p>
              <a:pPr algn="ctr">
                <a:lnSpc>
                  <a:spcPts val="3359"/>
                </a:lnSpc>
              </a:pPr>
              <a:endParaRPr dirty="0"/>
            </a:p>
          </p:txBody>
        </p:sp>
      </p:grpSp>
      <p:sp>
        <p:nvSpPr>
          <p:cNvPr id="12" name="Freeform 12"/>
          <p:cNvSpPr/>
          <p:nvPr/>
        </p:nvSpPr>
        <p:spPr>
          <a:xfrm flipH="1">
            <a:off x="14606136" y="1189298"/>
            <a:ext cx="2340540" cy="2483331"/>
          </a:xfrm>
          <a:custGeom>
            <a:avLst/>
            <a:gdLst/>
            <a:ahLst/>
            <a:cxnLst/>
            <a:rect l="l" t="t" r="r" b="b"/>
            <a:pathLst>
              <a:path w="2340540" h="2483331">
                <a:moveTo>
                  <a:pt x="2340540" y="0"/>
                </a:moveTo>
                <a:lnTo>
                  <a:pt x="0" y="0"/>
                </a:lnTo>
                <a:lnTo>
                  <a:pt x="0" y="2483331"/>
                </a:lnTo>
                <a:lnTo>
                  <a:pt x="2340540" y="2483331"/>
                </a:lnTo>
                <a:lnTo>
                  <a:pt x="2340540" y="0"/>
                </a:lnTo>
                <a:close/>
              </a:path>
            </a:pathLst>
          </a:custGeom>
          <a:blipFill>
            <a:blip r:embed="rId2">
              <a:extLst>
                <a:ext uri="{96DAC541-7B7A-43D3-8B79-37D633B846F1}">
                  <asvg:svgBlip xmlns:asvg="http://schemas.microsoft.com/office/drawing/2016/SVG/main" xmlns="" r:embed="rId3"/>
                </a:ext>
              </a:extLst>
            </a:blip>
            <a:stretch>
              <a:fillRect/>
            </a:stretch>
          </a:blipFill>
        </p:spPr>
      </p:sp>
      <p:sp>
        <p:nvSpPr>
          <p:cNvPr id="13" name="TextBox 13"/>
          <p:cNvSpPr txBox="1"/>
          <p:nvPr/>
        </p:nvSpPr>
        <p:spPr>
          <a:xfrm>
            <a:off x="2129081" y="8769351"/>
            <a:ext cx="2052293" cy="309245"/>
          </a:xfrm>
          <a:prstGeom prst="rect">
            <a:avLst/>
          </a:prstGeom>
        </p:spPr>
        <p:txBody>
          <a:bodyPr lIns="0" tIns="0" rIns="0" bIns="0" rtlCol="0" anchor="t">
            <a:spAutoFit/>
          </a:bodyPr>
          <a:lstStyle/>
          <a:p>
            <a:pPr algn="l">
              <a:lnSpc>
                <a:spcPts val="2380"/>
              </a:lnSpc>
              <a:spcBef>
                <a:spcPct val="0"/>
              </a:spcBef>
            </a:pPr>
            <a:r>
              <a:rPr lang="en-US" sz="1700" dirty="0">
                <a:solidFill>
                  <a:srgbClr val="0D0A1E"/>
                </a:solidFill>
                <a:latin typeface="Telegraf"/>
                <a:ea typeface="Telegraf"/>
                <a:cs typeface="Telegraf"/>
                <a:sym typeface="Telegraf"/>
              </a:rPr>
              <a:t>VALEUR AJOUTÉE</a:t>
            </a:r>
          </a:p>
        </p:txBody>
      </p:sp>
      <p:sp>
        <p:nvSpPr>
          <p:cNvPr id="14" name="AutoShape 14"/>
          <p:cNvSpPr/>
          <p:nvPr/>
        </p:nvSpPr>
        <p:spPr>
          <a:xfrm rot="5400000">
            <a:off x="1834638" y="8937626"/>
            <a:ext cx="317498" cy="0"/>
          </a:xfrm>
          <a:prstGeom prst="line">
            <a:avLst/>
          </a:prstGeom>
          <a:ln w="38100" cap="flat">
            <a:solidFill>
              <a:srgbClr val="9CC453"/>
            </a:solidFill>
            <a:prstDash val="solid"/>
            <a:headEnd type="none" w="sm" len="sm"/>
            <a:tailEnd type="none" w="sm" len="sm"/>
          </a:ln>
        </p:spPr>
      </p:sp>
      <p:sp>
        <p:nvSpPr>
          <p:cNvPr id="15" name="AutoShape 15"/>
          <p:cNvSpPr/>
          <p:nvPr/>
        </p:nvSpPr>
        <p:spPr>
          <a:xfrm>
            <a:off x="4181374" y="8952549"/>
            <a:ext cx="12340977" cy="0"/>
          </a:xfrm>
          <a:prstGeom prst="line">
            <a:avLst/>
          </a:prstGeom>
          <a:ln w="9525" cap="flat">
            <a:solidFill>
              <a:srgbClr val="000000"/>
            </a:solidFill>
            <a:prstDash val="solid"/>
            <a:headEnd type="none" w="sm" len="sm"/>
            <a:tailEnd type="none" w="sm" len="sm"/>
          </a:ln>
        </p:spPr>
      </p:sp>
      <p:sp>
        <p:nvSpPr>
          <p:cNvPr id="16" name="TextBox 16"/>
          <p:cNvSpPr txBox="1"/>
          <p:nvPr/>
        </p:nvSpPr>
        <p:spPr>
          <a:xfrm>
            <a:off x="1592900" y="8751571"/>
            <a:ext cx="381437" cy="335280"/>
          </a:xfrm>
          <a:prstGeom prst="rect">
            <a:avLst/>
          </a:prstGeom>
        </p:spPr>
        <p:txBody>
          <a:bodyPr lIns="0" tIns="0" rIns="0" bIns="0" rtlCol="0" anchor="t">
            <a:spAutoFit/>
          </a:bodyPr>
          <a:lstStyle/>
          <a:p>
            <a:pPr algn="just">
              <a:lnSpc>
                <a:spcPts val="2520"/>
              </a:lnSpc>
              <a:spcBef>
                <a:spcPct val="0"/>
              </a:spcBef>
            </a:pPr>
            <a:r>
              <a:rPr lang="en-US" sz="1800" b="1" dirty="0">
                <a:solidFill>
                  <a:srgbClr val="0D0A1E"/>
                </a:solidFill>
                <a:latin typeface="Telegraf Bold"/>
                <a:ea typeface="Telegraf Bold"/>
                <a:cs typeface="Telegraf Bold"/>
                <a:sym typeface="Telegraf Bold"/>
              </a:rPr>
              <a:t>10</a:t>
            </a:r>
          </a:p>
        </p:txBody>
      </p:sp>
      <p:grpSp>
        <p:nvGrpSpPr>
          <p:cNvPr id="17" name="Group 17"/>
          <p:cNvGrpSpPr/>
          <p:nvPr/>
        </p:nvGrpSpPr>
        <p:grpSpPr>
          <a:xfrm>
            <a:off x="705159" y="2729324"/>
            <a:ext cx="1676467" cy="362367"/>
            <a:chOff x="0" y="0"/>
            <a:chExt cx="441539" cy="95438"/>
          </a:xfrm>
        </p:grpSpPr>
        <p:sp>
          <p:nvSpPr>
            <p:cNvPr id="18" name="Freeform 18"/>
            <p:cNvSpPr/>
            <p:nvPr/>
          </p:nvSpPr>
          <p:spPr>
            <a:xfrm>
              <a:off x="0" y="0"/>
              <a:ext cx="441539" cy="95438"/>
            </a:xfrm>
            <a:custGeom>
              <a:avLst/>
              <a:gdLst/>
              <a:ahLst/>
              <a:cxnLst/>
              <a:rect l="l" t="t" r="r" b="b"/>
              <a:pathLst>
                <a:path w="441539" h="95438">
                  <a:moveTo>
                    <a:pt x="47719" y="0"/>
                  </a:moveTo>
                  <a:lnTo>
                    <a:pt x="393819" y="0"/>
                  </a:lnTo>
                  <a:cubicBezTo>
                    <a:pt x="420174" y="0"/>
                    <a:pt x="441539" y="21365"/>
                    <a:pt x="441539" y="47719"/>
                  </a:cubicBezTo>
                  <a:lnTo>
                    <a:pt x="441539" y="47719"/>
                  </a:lnTo>
                  <a:cubicBezTo>
                    <a:pt x="441539" y="74074"/>
                    <a:pt x="420174" y="95438"/>
                    <a:pt x="393819" y="95438"/>
                  </a:cubicBezTo>
                  <a:lnTo>
                    <a:pt x="47719" y="95438"/>
                  </a:lnTo>
                  <a:cubicBezTo>
                    <a:pt x="21365" y="95438"/>
                    <a:pt x="0" y="74074"/>
                    <a:pt x="0" y="47719"/>
                  </a:cubicBezTo>
                  <a:lnTo>
                    <a:pt x="0" y="47719"/>
                  </a:lnTo>
                  <a:cubicBezTo>
                    <a:pt x="0" y="21365"/>
                    <a:pt x="21365" y="0"/>
                    <a:pt x="47719" y="0"/>
                  </a:cubicBezTo>
                  <a:close/>
                </a:path>
              </a:pathLst>
            </a:custGeom>
            <a:solidFill>
              <a:srgbClr val="CACACA"/>
            </a:solidFill>
          </p:spPr>
        </p:sp>
        <p:sp>
          <p:nvSpPr>
            <p:cNvPr id="19" name="TextBox 19"/>
            <p:cNvSpPr txBox="1"/>
            <p:nvPr/>
          </p:nvSpPr>
          <p:spPr>
            <a:xfrm>
              <a:off x="0" y="-76200"/>
              <a:ext cx="441539" cy="171638"/>
            </a:xfrm>
            <a:prstGeom prst="rect">
              <a:avLst/>
            </a:prstGeom>
          </p:spPr>
          <p:txBody>
            <a:bodyPr lIns="50800" tIns="50800" rIns="50800" bIns="50800" rtlCol="0" anchor="ctr"/>
            <a:lstStyle/>
            <a:p>
              <a:pPr algn="ctr">
                <a:lnSpc>
                  <a:spcPts val="3359"/>
                </a:lnSpc>
              </a:pPr>
              <a:endParaRPr dirty="0"/>
            </a:p>
          </p:txBody>
        </p:sp>
      </p:grpSp>
      <p:grpSp>
        <p:nvGrpSpPr>
          <p:cNvPr id="20" name="Group 20"/>
          <p:cNvGrpSpPr/>
          <p:nvPr/>
        </p:nvGrpSpPr>
        <p:grpSpPr>
          <a:xfrm>
            <a:off x="705159" y="5913305"/>
            <a:ext cx="3476216" cy="325409"/>
            <a:chOff x="0" y="0"/>
            <a:chExt cx="915546" cy="85704"/>
          </a:xfrm>
        </p:grpSpPr>
        <p:sp>
          <p:nvSpPr>
            <p:cNvPr id="21" name="Freeform 21"/>
            <p:cNvSpPr/>
            <p:nvPr/>
          </p:nvSpPr>
          <p:spPr>
            <a:xfrm>
              <a:off x="0" y="0"/>
              <a:ext cx="915547" cy="85704"/>
            </a:xfrm>
            <a:custGeom>
              <a:avLst/>
              <a:gdLst/>
              <a:ahLst/>
              <a:cxnLst/>
              <a:rect l="l" t="t" r="r" b="b"/>
              <a:pathLst>
                <a:path w="915547" h="85704">
                  <a:moveTo>
                    <a:pt x="42852" y="0"/>
                  </a:moveTo>
                  <a:lnTo>
                    <a:pt x="872694" y="0"/>
                  </a:lnTo>
                  <a:cubicBezTo>
                    <a:pt x="884059" y="0"/>
                    <a:pt x="894959" y="4515"/>
                    <a:pt x="902995" y="12551"/>
                  </a:cubicBezTo>
                  <a:cubicBezTo>
                    <a:pt x="911032" y="20587"/>
                    <a:pt x="915547" y="31487"/>
                    <a:pt x="915547" y="42852"/>
                  </a:cubicBezTo>
                  <a:lnTo>
                    <a:pt x="915547" y="42852"/>
                  </a:lnTo>
                  <a:cubicBezTo>
                    <a:pt x="915547" y="54217"/>
                    <a:pt x="911032" y="65117"/>
                    <a:pt x="902995" y="73153"/>
                  </a:cubicBezTo>
                  <a:cubicBezTo>
                    <a:pt x="894959" y="81190"/>
                    <a:pt x="884059" y="85704"/>
                    <a:pt x="872694" y="85704"/>
                  </a:cubicBezTo>
                  <a:lnTo>
                    <a:pt x="42852" y="85704"/>
                  </a:lnTo>
                  <a:cubicBezTo>
                    <a:pt x="31487" y="85704"/>
                    <a:pt x="20587" y="81190"/>
                    <a:pt x="12551" y="73153"/>
                  </a:cubicBezTo>
                  <a:cubicBezTo>
                    <a:pt x="4515" y="65117"/>
                    <a:pt x="0" y="54217"/>
                    <a:pt x="0" y="42852"/>
                  </a:cubicBezTo>
                  <a:lnTo>
                    <a:pt x="0" y="42852"/>
                  </a:lnTo>
                  <a:cubicBezTo>
                    <a:pt x="0" y="31487"/>
                    <a:pt x="4515" y="20587"/>
                    <a:pt x="12551" y="12551"/>
                  </a:cubicBezTo>
                  <a:cubicBezTo>
                    <a:pt x="20587" y="4515"/>
                    <a:pt x="31487" y="0"/>
                    <a:pt x="42852" y="0"/>
                  </a:cubicBezTo>
                  <a:close/>
                </a:path>
              </a:pathLst>
            </a:custGeom>
            <a:solidFill>
              <a:srgbClr val="1E7042"/>
            </a:solidFill>
          </p:spPr>
        </p:sp>
        <p:sp>
          <p:nvSpPr>
            <p:cNvPr id="22" name="TextBox 22"/>
            <p:cNvSpPr txBox="1"/>
            <p:nvPr/>
          </p:nvSpPr>
          <p:spPr>
            <a:xfrm>
              <a:off x="0" y="-76200"/>
              <a:ext cx="915546" cy="161904"/>
            </a:xfrm>
            <a:prstGeom prst="rect">
              <a:avLst/>
            </a:prstGeom>
          </p:spPr>
          <p:txBody>
            <a:bodyPr lIns="50800" tIns="50800" rIns="50800" bIns="50800" rtlCol="0" anchor="ctr"/>
            <a:lstStyle/>
            <a:p>
              <a:pPr algn="ctr">
                <a:lnSpc>
                  <a:spcPts val="3359"/>
                </a:lnSpc>
              </a:pPr>
              <a:endParaRPr dirty="0"/>
            </a:p>
          </p:txBody>
        </p:sp>
      </p:grpSp>
      <p:grpSp>
        <p:nvGrpSpPr>
          <p:cNvPr id="23" name="Group 23"/>
          <p:cNvGrpSpPr/>
          <p:nvPr/>
        </p:nvGrpSpPr>
        <p:grpSpPr>
          <a:xfrm>
            <a:off x="766800" y="6979494"/>
            <a:ext cx="1746788" cy="330403"/>
            <a:chOff x="0" y="0"/>
            <a:chExt cx="460059" cy="87020"/>
          </a:xfrm>
        </p:grpSpPr>
        <p:sp>
          <p:nvSpPr>
            <p:cNvPr id="24" name="Freeform 24"/>
            <p:cNvSpPr/>
            <p:nvPr/>
          </p:nvSpPr>
          <p:spPr>
            <a:xfrm>
              <a:off x="0" y="0"/>
              <a:ext cx="460059" cy="87020"/>
            </a:xfrm>
            <a:custGeom>
              <a:avLst/>
              <a:gdLst/>
              <a:ahLst/>
              <a:cxnLst/>
              <a:rect l="l" t="t" r="r" b="b"/>
              <a:pathLst>
                <a:path w="460059" h="87020">
                  <a:moveTo>
                    <a:pt x="43510" y="0"/>
                  </a:moveTo>
                  <a:lnTo>
                    <a:pt x="416550" y="0"/>
                  </a:lnTo>
                  <a:cubicBezTo>
                    <a:pt x="440579" y="0"/>
                    <a:pt x="460059" y="19480"/>
                    <a:pt x="460059" y="43510"/>
                  </a:cubicBezTo>
                  <a:lnTo>
                    <a:pt x="460059" y="43510"/>
                  </a:lnTo>
                  <a:cubicBezTo>
                    <a:pt x="460059" y="67540"/>
                    <a:pt x="440579" y="87020"/>
                    <a:pt x="416550" y="87020"/>
                  </a:cubicBezTo>
                  <a:lnTo>
                    <a:pt x="43510" y="87020"/>
                  </a:lnTo>
                  <a:cubicBezTo>
                    <a:pt x="19480" y="87020"/>
                    <a:pt x="0" y="67540"/>
                    <a:pt x="0" y="43510"/>
                  </a:cubicBezTo>
                  <a:lnTo>
                    <a:pt x="0" y="43510"/>
                  </a:lnTo>
                  <a:cubicBezTo>
                    <a:pt x="0" y="19480"/>
                    <a:pt x="19480" y="0"/>
                    <a:pt x="43510" y="0"/>
                  </a:cubicBezTo>
                  <a:close/>
                </a:path>
              </a:pathLst>
            </a:custGeom>
            <a:solidFill>
              <a:srgbClr val="367F6B"/>
            </a:solidFill>
          </p:spPr>
        </p:sp>
        <p:sp>
          <p:nvSpPr>
            <p:cNvPr id="25" name="TextBox 25"/>
            <p:cNvSpPr txBox="1"/>
            <p:nvPr/>
          </p:nvSpPr>
          <p:spPr>
            <a:xfrm>
              <a:off x="0" y="-76200"/>
              <a:ext cx="460059" cy="163220"/>
            </a:xfrm>
            <a:prstGeom prst="rect">
              <a:avLst/>
            </a:prstGeom>
          </p:spPr>
          <p:txBody>
            <a:bodyPr lIns="50800" tIns="50800" rIns="50800" bIns="50800" rtlCol="0" anchor="ctr"/>
            <a:lstStyle/>
            <a:p>
              <a:pPr algn="ctr">
                <a:lnSpc>
                  <a:spcPts val="3359"/>
                </a:lnSpc>
              </a:pPr>
              <a:endParaRPr dirty="0"/>
            </a:p>
          </p:txBody>
        </p:sp>
      </p:grpSp>
      <p:sp>
        <p:nvSpPr>
          <p:cNvPr id="26" name="TextBox 26"/>
          <p:cNvSpPr txBox="1"/>
          <p:nvPr/>
        </p:nvSpPr>
        <p:spPr>
          <a:xfrm>
            <a:off x="791265" y="1631722"/>
            <a:ext cx="13013236" cy="5997043"/>
          </a:xfrm>
          <a:prstGeom prst="rect">
            <a:avLst/>
          </a:prstGeom>
        </p:spPr>
        <p:txBody>
          <a:bodyPr lIns="0" tIns="0" rIns="0" bIns="0" rtlCol="0" anchor="t">
            <a:spAutoFit/>
          </a:bodyPr>
          <a:lstStyle/>
          <a:p>
            <a:pPr marL="0" lvl="0" indent="0" algn="just">
              <a:lnSpc>
                <a:spcPts val="2829"/>
              </a:lnSpc>
              <a:spcBef>
                <a:spcPct val="0"/>
              </a:spcBef>
            </a:pPr>
            <a:r>
              <a:rPr lang="en-US" sz="2020" u="none" strike="noStrike" dirty="0">
                <a:solidFill>
                  <a:srgbClr val="000000"/>
                </a:solidFill>
                <a:latin typeface="Poppins"/>
                <a:ea typeface="Poppins"/>
                <a:cs typeface="Poppins"/>
                <a:sym typeface="Poppins"/>
              </a:rPr>
              <a:t>Gain de temps : Centralisation de tous les services sur une plateforme unique, réduisant les démarches et la perte de temps liée à la recherche d’informations, de partenaires ou d’équipements.</a:t>
            </a:r>
          </a:p>
          <a:p>
            <a:pPr marL="0" lvl="0" indent="0" algn="just">
              <a:lnSpc>
                <a:spcPts val="2829"/>
              </a:lnSpc>
              <a:spcBef>
                <a:spcPct val="0"/>
              </a:spcBef>
            </a:pPr>
            <a:r>
              <a:rPr lang="en-US" sz="2020" u="none" strike="noStrike" dirty="0">
                <a:solidFill>
                  <a:srgbClr val="000000"/>
                </a:solidFill>
                <a:latin typeface="Poppins"/>
                <a:ea typeface="Poppins"/>
                <a:cs typeface="Poppins"/>
                <a:sym typeface="Poppins"/>
              </a:rPr>
              <a:t> </a:t>
            </a:r>
          </a:p>
          <a:p>
            <a:pPr marL="0" lvl="0" indent="0" algn="just">
              <a:lnSpc>
                <a:spcPts val="2829"/>
              </a:lnSpc>
              <a:spcBef>
                <a:spcPct val="0"/>
              </a:spcBef>
            </a:pPr>
            <a:r>
              <a:rPr lang="en-US" sz="2020" u="none" strike="noStrike" dirty="0">
                <a:solidFill>
                  <a:srgbClr val="000000"/>
                </a:solidFill>
                <a:latin typeface="Poppins"/>
                <a:ea typeface="Poppins"/>
                <a:cs typeface="Poppins"/>
                <a:sym typeface="Poppins"/>
              </a:rPr>
              <a:t>Économies : Marché en ligne transparent qui limite les intermédiaires, optimise les coûts, et garantit aux agriculteurs et acheteurs les meilleurs prix du marché. </a:t>
            </a:r>
          </a:p>
          <a:p>
            <a:pPr marL="0" lvl="0" indent="0" algn="just">
              <a:lnSpc>
                <a:spcPts val="2829"/>
              </a:lnSpc>
              <a:spcBef>
                <a:spcPct val="0"/>
              </a:spcBef>
            </a:pPr>
            <a:endParaRPr lang="en-US" sz="2020" u="none" strike="noStrike" dirty="0">
              <a:solidFill>
                <a:srgbClr val="000000"/>
              </a:solidFill>
              <a:latin typeface="Poppins"/>
              <a:ea typeface="Poppins"/>
              <a:cs typeface="Poppins"/>
              <a:sym typeface="Poppins"/>
            </a:endParaRPr>
          </a:p>
          <a:p>
            <a:pPr marL="0" lvl="0" indent="0" algn="just">
              <a:lnSpc>
                <a:spcPts val="2829"/>
              </a:lnSpc>
              <a:spcBef>
                <a:spcPct val="0"/>
              </a:spcBef>
            </a:pPr>
            <a:r>
              <a:rPr lang="en-US" sz="2020" u="none" strike="noStrike" dirty="0">
                <a:solidFill>
                  <a:srgbClr val="000000"/>
                </a:solidFill>
                <a:latin typeface="Poppins"/>
                <a:ea typeface="Poppins"/>
                <a:cs typeface="Poppins"/>
                <a:sym typeface="Poppins"/>
              </a:rPr>
              <a:t>Innovation : Intégration d’analyses techniques avancées, images satellites et profils d’experts pour accompagner et monter en gamme le secteur. </a:t>
            </a:r>
          </a:p>
          <a:p>
            <a:pPr marL="0" lvl="0" indent="0" algn="just">
              <a:lnSpc>
                <a:spcPts val="2829"/>
              </a:lnSpc>
              <a:spcBef>
                <a:spcPct val="0"/>
              </a:spcBef>
            </a:pPr>
            <a:endParaRPr lang="en-US" sz="2020" u="none" strike="noStrike" dirty="0">
              <a:solidFill>
                <a:srgbClr val="000000"/>
              </a:solidFill>
              <a:latin typeface="Poppins"/>
              <a:ea typeface="Poppins"/>
              <a:cs typeface="Poppins"/>
              <a:sym typeface="Poppins"/>
            </a:endParaRPr>
          </a:p>
          <a:p>
            <a:pPr marL="0" lvl="0" indent="0" algn="just">
              <a:lnSpc>
                <a:spcPts val="2829"/>
              </a:lnSpc>
              <a:spcBef>
                <a:spcPct val="0"/>
              </a:spcBef>
            </a:pPr>
            <a:r>
              <a:rPr lang="en-US" sz="2020" u="none" strike="noStrike" dirty="0">
                <a:solidFill>
                  <a:srgbClr val="000000"/>
                </a:solidFill>
                <a:latin typeface="Poppins"/>
                <a:ea typeface="Poppins"/>
                <a:cs typeface="Poppins"/>
                <a:sym typeface="Poppins"/>
              </a:rPr>
              <a:t>Amélioration de la qualité : Accès facilité aux services de contrôle qualité, accompagnement export, </a:t>
            </a:r>
          </a:p>
          <a:p>
            <a:pPr marL="0" lvl="0" indent="0" algn="just">
              <a:lnSpc>
                <a:spcPts val="2829"/>
              </a:lnSpc>
              <a:spcBef>
                <a:spcPct val="0"/>
              </a:spcBef>
            </a:pPr>
            <a:r>
              <a:rPr lang="en-US" sz="2020" u="none" strike="noStrike" dirty="0">
                <a:solidFill>
                  <a:srgbClr val="000000"/>
                </a:solidFill>
                <a:latin typeface="Poppins"/>
                <a:ea typeface="Poppins"/>
                <a:cs typeface="Poppins"/>
                <a:sym typeface="Poppins"/>
              </a:rPr>
              <a:t> et respect des standards pour exporter et vendre localement des produits de meilleure qualité. </a:t>
            </a:r>
          </a:p>
          <a:p>
            <a:pPr marL="0" lvl="0" indent="0" algn="just">
              <a:lnSpc>
                <a:spcPts val="2829"/>
              </a:lnSpc>
              <a:spcBef>
                <a:spcPct val="0"/>
              </a:spcBef>
            </a:pPr>
            <a:endParaRPr lang="en-US" sz="2020" u="none" strike="noStrike" dirty="0">
              <a:solidFill>
                <a:srgbClr val="000000"/>
              </a:solidFill>
              <a:latin typeface="Poppins"/>
              <a:ea typeface="Poppins"/>
              <a:cs typeface="Poppins"/>
              <a:sym typeface="Poppins"/>
            </a:endParaRPr>
          </a:p>
          <a:p>
            <a:pPr marL="0" lvl="0" indent="0" algn="just">
              <a:lnSpc>
                <a:spcPts val="2829"/>
              </a:lnSpc>
              <a:spcBef>
                <a:spcPct val="0"/>
              </a:spcBef>
            </a:pPr>
            <a:r>
              <a:rPr lang="en-US" sz="2020" u="none" strike="noStrike" dirty="0">
                <a:solidFill>
                  <a:srgbClr val="000000"/>
                </a:solidFill>
                <a:latin typeface="Poppins"/>
                <a:ea typeface="Poppins"/>
                <a:cs typeface="Poppins"/>
                <a:sym typeface="Poppins"/>
              </a:rPr>
              <a:t>Impact environnemental : Optimisation des cultures, réduction des pertes et gestion intelligente des ressources grâce à la data et aux outils digitaux. </a:t>
            </a:r>
          </a:p>
          <a:p>
            <a:pPr marL="0" lvl="0" indent="0" algn="just">
              <a:lnSpc>
                <a:spcPts val="2829"/>
              </a:lnSpc>
              <a:spcBef>
                <a:spcPct val="0"/>
              </a:spcBef>
            </a:pPr>
            <a:endParaRPr lang="en-US" sz="2020" u="none" strike="noStrike" dirty="0">
              <a:solidFill>
                <a:srgbClr val="000000"/>
              </a:solidFill>
              <a:latin typeface="Poppins"/>
              <a:ea typeface="Poppins"/>
              <a:cs typeface="Poppins"/>
              <a:sym typeface="Poppins"/>
            </a:endParaRPr>
          </a:p>
          <a:p>
            <a:pPr marL="0" lvl="0" indent="0" algn="just">
              <a:lnSpc>
                <a:spcPts val="2829"/>
              </a:lnSpc>
              <a:spcBef>
                <a:spcPct val="0"/>
              </a:spcBef>
            </a:pPr>
            <a:r>
              <a:rPr lang="en-US" sz="2020" u="none" strike="noStrike" dirty="0">
                <a:solidFill>
                  <a:srgbClr val="000000"/>
                </a:solidFill>
                <a:latin typeface="Poppins"/>
                <a:ea typeface="Poppins"/>
                <a:cs typeface="Poppins"/>
                <a:sym typeface="Poppins"/>
              </a:rPr>
              <a:t>Accès élargi : Ouverture vers les marchés nationaux et internationaux à forte valeur ajoutée grâce </a:t>
            </a:r>
          </a:p>
          <a:p>
            <a:pPr marL="0" lvl="0" indent="0" algn="just">
              <a:lnSpc>
                <a:spcPts val="2829"/>
              </a:lnSpc>
              <a:spcBef>
                <a:spcPct val="0"/>
              </a:spcBef>
            </a:pPr>
            <a:r>
              <a:rPr lang="en-US" sz="2020" u="none" strike="noStrike" dirty="0">
                <a:solidFill>
                  <a:srgbClr val="000000"/>
                </a:solidFill>
                <a:latin typeface="Poppins"/>
                <a:ea typeface="Poppins"/>
                <a:cs typeface="Poppins"/>
                <a:sym typeface="Poppins"/>
              </a:rPr>
              <a:t> à la digitalisation et à l’accompagnement expert.</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AFAFA"/>
        </a:solidFill>
        <a:effectLst/>
      </p:bgPr>
    </p:bg>
    <p:spTree>
      <p:nvGrpSpPr>
        <p:cNvPr id="1" name=""/>
        <p:cNvGrpSpPr/>
        <p:nvPr/>
      </p:nvGrpSpPr>
      <p:grpSpPr>
        <a:xfrm>
          <a:off x="0" y="0"/>
          <a:ext cx="0" cy="0"/>
          <a:chOff x="0" y="0"/>
          <a:chExt cx="0" cy="0"/>
        </a:xfrm>
      </p:grpSpPr>
      <p:sp>
        <p:nvSpPr>
          <p:cNvPr id="2" name="TextBox 2"/>
          <p:cNvSpPr txBox="1"/>
          <p:nvPr/>
        </p:nvSpPr>
        <p:spPr>
          <a:xfrm>
            <a:off x="2129081" y="8769351"/>
            <a:ext cx="3240466" cy="309245"/>
          </a:xfrm>
          <a:prstGeom prst="rect">
            <a:avLst/>
          </a:prstGeom>
        </p:spPr>
        <p:txBody>
          <a:bodyPr lIns="0" tIns="0" rIns="0" bIns="0" rtlCol="0" anchor="t">
            <a:spAutoFit/>
          </a:bodyPr>
          <a:lstStyle/>
          <a:p>
            <a:pPr algn="l">
              <a:lnSpc>
                <a:spcPts val="2380"/>
              </a:lnSpc>
              <a:spcBef>
                <a:spcPct val="0"/>
              </a:spcBef>
            </a:pPr>
            <a:r>
              <a:rPr lang="en-US" sz="1700" dirty="0">
                <a:solidFill>
                  <a:srgbClr val="0D0A1E"/>
                </a:solidFill>
                <a:latin typeface="Telegraf"/>
                <a:ea typeface="Telegraf"/>
                <a:cs typeface="Telegraf"/>
                <a:sym typeface="Telegraf"/>
              </a:rPr>
              <a:t>ANALYSE CONCURRENTIELLE</a:t>
            </a:r>
          </a:p>
        </p:txBody>
      </p:sp>
      <p:sp>
        <p:nvSpPr>
          <p:cNvPr id="3" name="AutoShape 3"/>
          <p:cNvSpPr/>
          <p:nvPr/>
        </p:nvSpPr>
        <p:spPr>
          <a:xfrm rot="5400000">
            <a:off x="1834638" y="8937626"/>
            <a:ext cx="317498" cy="0"/>
          </a:xfrm>
          <a:prstGeom prst="line">
            <a:avLst/>
          </a:prstGeom>
          <a:ln w="38100" cap="flat">
            <a:solidFill>
              <a:srgbClr val="9CC453"/>
            </a:solidFill>
            <a:prstDash val="solid"/>
            <a:headEnd type="none" w="sm" len="sm"/>
            <a:tailEnd type="none" w="sm" len="sm"/>
          </a:ln>
        </p:spPr>
      </p:sp>
      <p:sp>
        <p:nvSpPr>
          <p:cNvPr id="4" name="AutoShape 4"/>
          <p:cNvSpPr/>
          <p:nvPr/>
        </p:nvSpPr>
        <p:spPr>
          <a:xfrm>
            <a:off x="5369547" y="8952549"/>
            <a:ext cx="11152805" cy="0"/>
          </a:xfrm>
          <a:prstGeom prst="line">
            <a:avLst/>
          </a:prstGeom>
          <a:ln w="9525" cap="flat">
            <a:solidFill>
              <a:srgbClr val="000000"/>
            </a:solidFill>
            <a:prstDash val="solid"/>
            <a:headEnd type="none" w="sm" len="sm"/>
            <a:tailEnd type="none" w="sm" len="sm"/>
          </a:ln>
        </p:spPr>
      </p:sp>
      <p:sp>
        <p:nvSpPr>
          <p:cNvPr id="5" name="TextBox 5"/>
          <p:cNvSpPr txBox="1"/>
          <p:nvPr/>
        </p:nvSpPr>
        <p:spPr>
          <a:xfrm>
            <a:off x="858753" y="1309554"/>
            <a:ext cx="5817738" cy="1297538"/>
          </a:xfrm>
          <a:prstGeom prst="rect">
            <a:avLst/>
          </a:prstGeom>
        </p:spPr>
        <p:txBody>
          <a:bodyPr lIns="0" tIns="0" rIns="0" bIns="0" rtlCol="0" anchor="t">
            <a:spAutoFit/>
          </a:bodyPr>
          <a:lstStyle/>
          <a:p>
            <a:pPr algn="l">
              <a:lnSpc>
                <a:spcPts val="5073"/>
              </a:lnSpc>
            </a:pPr>
            <a:r>
              <a:rPr lang="en-US" sz="3623" b="1" dirty="0">
                <a:solidFill>
                  <a:srgbClr val="000000"/>
                </a:solidFill>
                <a:latin typeface="Telegraf Bold"/>
                <a:ea typeface="Telegraf Bold"/>
                <a:cs typeface="Telegraf Bold"/>
                <a:sym typeface="Telegraf Bold"/>
              </a:rPr>
              <a:t>Principaux concurrents : </a:t>
            </a:r>
          </a:p>
          <a:p>
            <a:pPr algn="l">
              <a:lnSpc>
                <a:spcPts val="5073"/>
              </a:lnSpc>
              <a:spcBef>
                <a:spcPct val="0"/>
              </a:spcBef>
            </a:pPr>
            <a:endParaRPr lang="en-US" sz="3623" b="1" dirty="0">
              <a:solidFill>
                <a:srgbClr val="000000"/>
              </a:solidFill>
              <a:latin typeface="Telegraf Bold"/>
              <a:ea typeface="Telegraf Bold"/>
              <a:cs typeface="Telegraf Bold"/>
              <a:sym typeface="Telegraf Bold"/>
            </a:endParaRPr>
          </a:p>
        </p:txBody>
      </p:sp>
      <p:sp>
        <p:nvSpPr>
          <p:cNvPr id="6" name="TextBox 6"/>
          <p:cNvSpPr txBox="1"/>
          <p:nvPr/>
        </p:nvSpPr>
        <p:spPr>
          <a:xfrm>
            <a:off x="1028700" y="1911534"/>
            <a:ext cx="3815451" cy="519430"/>
          </a:xfrm>
          <a:prstGeom prst="rect">
            <a:avLst/>
          </a:prstGeom>
        </p:spPr>
        <p:txBody>
          <a:bodyPr lIns="0" tIns="0" rIns="0" bIns="0" rtlCol="0" anchor="t">
            <a:spAutoFit/>
          </a:bodyPr>
          <a:lstStyle/>
          <a:p>
            <a:pPr algn="l">
              <a:lnSpc>
                <a:spcPts val="3920"/>
              </a:lnSpc>
              <a:spcBef>
                <a:spcPct val="0"/>
              </a:spcBef>
            </a:pPr>
            <a:r>
              <a:rPr lang="en-US" sz="2800" b="1" dirty="0">
                <a:solidFill>
                  <a:srgbClr val="358F5C"/>
                </a:solidFill>
                <a:latin typeface="Telegraf Bold"/>
                <a:ea typeface="Telegraf Bold"/>
                <a:cs typeface="Telegraf Bold"/>
                <a:sym typeface="Telegraf Bold"/>
              </a:rPr>
              <a:t>Concurrents directs : </a:t>
            </a:r>
          </a:p>
        </p:txBody>
      </p:sp>
      <p:sp>
        <p:nvSpPr>
          <p:cNvPr id="7" name="TextBox 7"/>
          <p:cNvSpPr txBox="1"/>
          <p:nvPr/>
        </p:nvSpPr>
        <p:spPr>
          <a:xfrm>
            <a:off x="858753" y="2364289"/>
            <a:ext cx="4709859" cy="1572895"/>
          </a:xfrm>
          <a:prstGeom prst="rect">
            <a:avLst/>
          </a:prstGeom>
        </p:spPr>
        <p:txBody>
          <a:bodyPr lIns="0" tIns="0" rIns="0" bIns="0" rtlCol="0" anchor="t">
            <a:spAutoFit/>
          </a:bodyPr>
          <a:lstStyle/>
          <a:p>
            <a:pPr marL="474981" lvl="1" indent="-237491" algn="l">
              <a:lnSpc>
                <a:spcPts val="3080"/>
              </a:lnSpc>
              <a:buFont typeface="Arial"/>
              <a:buChar char="•"/>
            </a:pPr>
            <a:r>
              <a:rPr lang="en-US" sz="2200" dirty="0">
                <a:solidFill>
                  <a:srgbClr val="0D0A1E"/>
                </a:solidFill>
                <a:latin typeface="Telegraf"/>
                <a:ea typeface="Telegraf"/>
                <a:cs typeface="Telegraf"/>
                <a:sym typeface="Telegraf"/>
              </a:rPr>
              <a:t>FilahaTech – plateforme numérique agricole offrant solutions et services pour les professionnels du secteur</a:t>
            </a:r>
          </a:p>
        </p:txBody>
      </p:sp>
      <p:sp>
        <p:nvSpPr>
          <p:cNvPr id="8" name="TextBox 8"/>
          <p:cNvSpPr txBox="1"/>
          <p:nvPr/>
        </p:nvSpPr>
        <p:spPr>
          <a:xfrm>
            <a:off x="8811014" y="2364289"/>
            <a:ext cx="5190452" cy="1182370"/>
          </a:xfrm>
          <a:prstGeom prst="rect">
            <a:avLst/>
          </a:prstGeom>
        </p:spPr>
        <p:txBody>
          <a:bodyPr lIns="0" tIns="0" rIns="0" bIns="0" rtlCol="0" anchor="t">
            <a:spAutoFit/>
          </a:bodyPr>
          <a:lstStyle/>
          <a:p>
            <a:pPr marL="474981" lvl="1" indent="-237491" algn="l">
              <a:lnSpc>
                <a:spcPts val="3080"/>
              </a:lnSpc>
              <a:buFont typeface="Arial"/>
              <a:buChar char="•"/>
            </a:pPr>
            <a:r>
              <a:rPr lang="en-US" sz="2200" dirty="0">
                <a:solidFill>
                  <a:srgbClr val="0D0A1E"/>
                </a:solidFill>
                <a:latin typeface="Telegraf"/>
                <a:ea typeface="Telegraf"/>
                <a:cs typeface="Telegraf"/>
                <a:sym typeface="Telegraf"/>
              </a:rPr>
              <a:t>Ouedkniss – section agricole (matériel, bétail, produits agricoles).</a:t>
            </a:r>
          </a:p>
          <a:p>
            <a:pPr marL="474981" lvl="1" indent="-237491" algn="l">
              <a:lnSpc>
                <a:spcPts val="3080"/>
              </a:lnSpc>
              <a:buFont typeface="Arial"/>
              <a:buChar char="•"/>
            </a:pPr>
            <a:r>
              <a:rPr lang="en-US" sz="2200" dirty="0">
                <a:solidFill>
                  <a:srgbClr val="0D0A1E"/>
                </a:solidFill>
                <a:latin typeface="Telegraf"/>
                <a:ea typeface="Telegraf"/>
                <a:cs typeface="Telegraf"/>
                <a:sym typeface="Telegraf"/>
              </a:rPr>
              <a:t>Marchés de gros traditionnels</a:t>
            </a:r>
          </a:p>
        </p:txBody>
      </p:sp>
      <p:sp>
        <p:nvSpPr>
          <p:cNvPr id="9" name="TextBox 9"/>
          <p:cNvSpPr txBox="1"/>
          <p:nvPr/>
        </p:nvSpPr>
        <p:spPr>
          <a:xfrm>
            <a:off x="1121572" y="205740"/>
            <a:ext cx="11499897" cy="1512570"/>
          </a:xfrm>
          <a:prstGeom prst="rect">
            <a:avLst/>
          </a:prstGeom>
        </p:spPr>
        <p:txBody>
          <a:bodyPr lIns="0" tIns="0" rIns="0" bIns="0" rtlCol="0" anchor="t">
            <a:spAutoFit/>
          </a:bodyPr>
          <a:lstStyle/>
          <a:p>
            <a:pPr algn="l">
              <a:lnSpc>
                <a:spcPts val="5880"/>
              </a:lnSpc>
            </a:pPr>
            <a:r>
              <a:rPr lang="en-US" sz="4200" b="1" dirty="0">
                <a:solidFill>
                  <a:srgbClr val="0D0A1E"/>
                </a:solidFill>
                <a:latin typeface="Telegraf Bold"/>
                <a:ea typeface="Telegraf Bold"/>
                <a:cs typeface="Telegraf Bold"/>
                <a:sym typeface="Telegraf Bold"/>
              </a:rPr>
              <a:t>ANALYSE CONCURRENTIELLE</a:t>
            </a:r>
          </a:p>
          <a:p>
            <a:pPr algn="l">
              <a:lnSpc>
                <a:spcPts val="5880"/>
              </a:lnSpc>
              <a:spcBef>
                <a:spcPct val="0"/>
              </a:spcBef>
            </a:pPr>
            <a:endParaRPr lang="en-US" sz="4200" b="1" dirty="0">
              <a:solidFill>
                <a:srgbClr val="0D0A1E"/>
              </a:solidFill>
              <a:latin typeface="Telegraf Bold"/>
              <a:ea typeface="Telegraf Bold"/>
              <a:cs typeface="Telegraf Bold"/>
              <a:sym typeface="Telegraf Bold"/>
            </a:endParaRPr>
          </a:p>
        </p:txBody>
      </p:sp>
      <p:sp>
        <p:nvSpPr>
          <p:cNvPr id="10" name="TextBox 10"/>
          <p:cNvSpPr txBox="1"/>
          <p:nvPr/>
        </p:nvSpPr>
        <p:spPr>
          <a:xfrm>
            <a:off x="1592900" y="8751571"/>
            <a:ext cx="381437" cy="335280"/>
          </a:xfrm>
          <a:prstGeom prst="rect">
            <a:avLst/>
          </a:prstGeom>
        </p:spPr>
        <p:txBody>
          <a:bodyPr lIns="0" tIns="0" rIns="0" bIns="0" rtlCol="0" anchor="t">
            <a:spAutoFit/>
          </a:bodyPr>
          <a:lstStyle/>
          <a:p>
            <a:pPr algn="just">
              <a:lnSpc>
                <a:spcPts val="2520"/>
              </a:lnSpc>
              <a:spcBef>
                <a:spcPct val="0"/>
              </a:spcBef>
            </a:pPr>
            <a:r>
              <a:rPr lang="en-US" sz="1800" b="1" dirty="0">
                <a:solidFill>
                  <a:srgbClr val="0D0A1E"/>
                </a:solidFill>
                <a:latin typeface="Telegraf Bold"/>
                <a:ea typeface="Telegraf Bold"/>
                <a:cs typeface="Telegraf Bold"/>
                <a:sym typeface="Telegraf Bold"/>
              </a:rPr>
              <a:t>11</a:t>
            </a:r>
          </a:p>
        </p:txBody>
      </p:sp>
      <p:sp>
        <p:nvSpPr>
          <p:cNvPr id="11" name="Freeform 11"/>
          <p:cNvSpPr/>
          <p:nvPr/>
        </p:nvSpPr>
        <p:spPr>
          <a:xfrm flipH="1">
            <a:off x="14606136" y="1189298"/>
            <a:ext cx="2340540" cy="2483331"/>
          </a:xfrm>
          <a:custGeom>
            <a:avLst/>
            <a:gdLst/>
            <a:ahLst/>
            <a:cxnLst/>
            <a:rect l="l" t="t" r="r" b="b"/>
            <a:pathLst>
              <a:path w="2340540" h="2483331">
                <a:moveTo>
                  <a:pt x="2340540" y="0"/>
                </a:moveTo>
                <a:lnTo>
                  <a:pt x="0" y="0"/>
                </a:lnTo>
                <a:lnTo>
                  <a:pt x="0" y="2483331"/>
                </a:lnTo>
                <a:lnTo>
                  <a:pt x="2340540" y="2483331"/>
                </a:lnTo>
                <a:lnTo>
                  <a:pt x="2340540" y="0"/>
                </a:lnTo>
                <a:close/>
              </a:path>
            </a:pathLst>
          </a:custGeom>
          <a:blipFill>
            <a:blip r:embed="rId2">
              <a:extLst>
                <a:ext uri="{96DAC541-7B7A-43D3-8B79-37D633B846F1}">
                  <asvg:svgBlip xmlns:asvg="http://schemas.microsoft.com/office/drawing/2016/SVG/main" xmlns="" r:embed="rId3"/>
                </a:ext>
              </a:extLst>
            </a:blip>
            <a:stretch>
              <a:fillRect/>
            </a:stretch>
          </a:blipFill>
        </p:spPr>
      </p:sp>
      <p:sp>
        <p:nvSpPr>
          <p:cNvPr id="12" name="TextBox 12"/>
          <p:cNvSpPr txBox="1"/>
          <p:nvPr/>
        </p:nvSpPr>
        <p:spPr>
          <a:xfrm>
            <a:off x="8899115" y="1911534"/>
            <a:ext cx="4223552" cy="519430"/>
          </a:xfrm>
          <a:prstGeom prst="rect">
            <a:avLst/>
          </a:prstGeom>
        </p:spPr>
        <p:txBody>
          <a:bodyPr lIns="0" tIns="0" rIns="0" bIns="0" rtlCol="0" anchor="t">
            <a:spAutoFit/>
          </a:bodyPr>
          <a:lstStyle/>
          <a:p>
            <a:pPr algn="l">
              <a:lnSpc>
                <a:spcPts val="3920"/>
              </a:lnSpc>
              <a:spcBef>
                <a:spcPct val="0"/>
              </a:spcBef>
            </a:pPr>
            <a:r>
              <a:rPr lang="en-US" sz="2800" b="1" dirty="0">
                <a:solidFill>
                  <a:srgbClr val="358F5C"/>
                </a:solidFill>
                <a:latin typeface="Telegraf Bold"/>
                <a:ea typeface="Telegraf Bold"/>
                <a:cs typeface="Telegraf Bold"/>
                <a:sym typeface="Telegraf Bold"/>
              </a:rPr>
              <a:t>Concurrents indirects :</a:t>
            </a:r>
          </a:p>
        </p:txBody>
      </p:sp>
      <p:sp>
        <p:nvSpPr>
          <p:cNvPr id="13" name="TextBox 13"/>
          <p:cNvSpPr txBox="1"/>
          <p:nvPr/>
        </p:nvSpPr>
        <p:spPr>
          <a:xfrm>
            <a:off x="1028700" y="4738146"/>
            <a:ext cx="15917976" cy="2505710"/>
          </a:xfrm>
          <a:prstGeom prst="rect">
            <a:avLst/>
          </a:prstGeom>
        </p:spPr>
        <p:txBody>
          <a:bodyPr lIns="0" tIns="0" rIns="0" bIns="0" rtlCol="0" anchor="t">
            <a:spAutoFit/>
          </a:bodyPr>
          <a:lstStyle/>
          <a:p>
            <a:pPr algn="l">
              <a:lnSpc>
                <a:spcPts val="4199"/>
              </a:lnSpc>
              <a:spcBef>
                <a:spcPct val="0"/>
              </a:spcBef>
            </a:pPr>
            <a:r>
              <a:rPr lang="en-US" sz="2999" b="1" u="none" strike="noStrike" dirty="0">
                <a:solidFill>
                  <a:srgbClr val="0D0A1E"/>
                </a:solidFill>
                <a:latin typeface="Telegraf Bold"/>
                <a:ea typeface="Telegraf Bold"/>
                <a:cs typeface="Telegraf Bold"/>
                <a:sym typeface="Telegraf Bold"/>
              </a:rPr>
              <a:t>DIFFÉRENCIATION DU PROJET :</a:t>
            </a:r>
          </a:p>
          <a:p>
            <a:pPr algn="l">
              <a:lnSpc>
                <a:spcPts val="3080"/>
              </a:lnSpc>
              <a:spcBef>
                <a:spcPct val="0"/>
              </a:spcBef>
            </a:pPr>
            <a:r>
              <a:rPr lang="en-US" sz="2200" u="none" strike="noStrike" dirty="0">
                <a:solidFill>
                  <a:srgbClr val="0D0A1E"/>
                </a:solidFill>
                <a:latin typeface="Telegraf"/>
                <a:ea typeface="Telegraf"/>
                <a:cs typeface="Telegraf"/>
                <a:sym typeface="Telegraf"/>
              </a:rPr>
              <a:t>Aucun concurrent en Algérie ne propose actuellement une plateforme combinant marché agricole, services, logistique et outils d’analyse spatiale. Dans El Ghella, un outil d’analyse spatiale est déjà intégré et disponible gratuitement pour certaines analyses spécifiques (état des cultures, observation des sols, stress hydrique).  permettant aux agriculteurs d’accéder à des informations scientifiques encore plus précises pour améliorer leurs décisions et optimiser leurs exploitations, tout en bénéficiant d’une plateforme complète et moderne.</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AFAFA"/>
        </a:solidFill>
        <a:effectLst/>
      </p:bgPr>
    </p:bg>
    <p:spTree>
      <p:nvGrpSpPr>
        <p:cNvPr id="1" name=""/>
        <p:cNvGrpSpPr/>
        <p:nvPr/>
      </p:nvGrpSpPr>
      <p:grpSpPr>
        <a:xfrm>
          <a:off x="0" y="0"/>
          <a:ext cx="0" cy="0"/>
          <a:chOff x="0" y="0"/>
          <a:chExt cx="0" cy="0"/>
        </a:xfrm>
      </p:grpSpPr>
      <p:sp>
        <p:nvSpPr>
          <p:cNvPr id="2" name="Freeform 2"/>
          <p:cNvSpPr/>
          <p:nvPr/>
        </p:nvSpPr>
        <p:spPr>
          <a:xfrm rot="-1199392">
            <a:off x="7427971" y="5537399"/>
            <a:ext cx="13171332" cy="7441803"/>
          </a:xfrm>
          <a:custGeom>
            <a:avLst/>
            <a:gdLst/>
            <a:ahLst/>
            <a:cxnLst/>
            <a:rect l="l" t="t" r="r" b="b"/>
            <a:pathLst>
              <a:path w="13171332" h="7441803">
                <a:moveTo>
                  <a:pt x="0" y="0"/>
                </a:moveTo>
                <a:lnTo>
                  <a:pt x="13171333" y="0"/>
                </a:lnTo>
                <a:lnTo>
                  <a:pt x="13171333" y="7441802"/>
                </a:lnTo>
                <a:lnTo>
                  <a:pt x="0" y="7441802"/>
                </a:lnTo>
                <a:lnTo>
                  <a:pt x="0" y="0"/>
                </a:lnTo>
                <a:close/>
              </a:path>
            </a:pathLst>
          </a:custGeom>
          <a:blipFill>
            <a:blip r:embed="rId2">
              <a:alphaModFix amt="10999"/>
              <a:extLst>
                <a:ext uri="{96DAC541-7B7A-43D3-8B79-37D633B846F1}">
                  <asvg:svgBlip xmlns:asvg="http://schemas.microsoft.com/office/drawing/2016/SVG/main" xmlns="" r:embed="rId3"/>
                </a:ext>
              </a:extLst>
            </a:blip>
            <a:stretch>
              <a:fillRect/>
            </a:stretch>
          </a:blipFill>
        </p:spPr>
      </p:sp>
      <p:sp>
        <p:nvSpPr>
          <p:cNvPr id="3" name="TextBox 3"/>
          <p:cNvSpPr txBox="1"/>
          <p:nvPr/>
        </p:nvSpPr>
        <p:spPr>
          <a:xfrm>
            <a:off x="2129081" y="8769351"/>
            <a:ext cx="3316985" cy="309245"/>
          </a:xfrm>
          <a:prstGeom prst="rect">
            <a:avLst/>
          </a:prstGeom>
        </p:spPr>
        <p:txBody>
          <a:bodyPr lIns="0" tIns="0" rIns="0" bIns="0" rtlCol="0" anchor="t">
            <a:spAutoFit/>
          </a:bodyPr>
          <a:lstStyle/>
          <a:p>
            <a:pPr algn="l">
              <a:lnSpc>
                <a:spcPts val="2380"/>
              </a:lnSpc>
              <a:spcBef>
                <a:spcPct val="0"/>
              </a:spcBef>
            </a:pPr>
            <a:r>
              <a:rPr lang="en-US" sz="1700" dirty="0">
                <a:solidFill>
                  <a:srgbClr val="0D0A1E"/>
                </a:solidFill>
                <a:latin typeface="Telegraf"/>
                <a:ea typeface="Telegraf"/>
                <a:cs typeface="Telegraf"/>
                <a:sym typeface="Telegraf"/>
              </a:rPr>
              <a:t>ANALYSE CONCURRENTIELLE</a:t>
            </a:r>
          </a:p>
        </p:txBody>
      </p:sp>
      <p:sp>
        <p:nvSpPr>
          <p:cNvPr id="4" name="AutoShape 4"/>
          <p:cNvSpPr/>
          <p:nvPr/>
        </p:nvSpPr>
        <p:spPr>
          <a:xfrm rot="5400000">
            <a:off x="1834638" y="8937626"/>
            <a:ext cx="317498" cy="0"/>
          </a:xfrm>
          <a:prstGeom prst="line">
            <a:avLst/>
          </a:prstGeom>
          <a:ln w="38100" cap="flat">
            <a:solidFill>
              <a:srgbClr val="9CC453"/>
            </a:solidFill>
            <a:prstDash val="solid"/>
            <a:headEnd type="none" w="sm" len="sm"/>
            <a:tailEnd type="none" w="sm" len="sm"/>
          </a:ln>
        </p:spPr>
      </p:sp>
      <p:sp>
        <p:nvSpPr>
          <p:cNvPr id="5" name="AutoShape 5"/>
          <p:cNvSpPr/>
          <p:nvPr/>
        </p:nvSpPr>
        <p:spPr>
          <a:xfrm>
            <a:off x="5318472" y="8952549"/>
            <a:ext cx="5178417" cy="0"/>
          </a:xfrm>
          <a:prstGeom prst="line">
            <a:avLst/>
          </a:prstGeom>
          <a:ln w="9525" cap="flat">
            <a:solidFill>
              <a:srgbClr val="000000"/>
            </a:solidFill>
            <a:prstDash val="solid"/>
            <a:headEnd type="none" w="sm" len="sm"/>
            <a:tailEnd type="none" w="sm" len="sm"/>
          </a:ln>
        </p:spPr>
      </p:sp>
      <p:grpSp>
        <p:nvGrpSpPr>
          <p:cNvPr id="6" name="Group 6"/>
          <p:cNvGrpSpPr/>
          <p:nvPr/>
        </p:nvGrpSpPr>
        <p:grpSpPr>
          <a:xfrm>
            <a:off x="1585388" y="432165"/>
            <a:ext cx="122392" cy="429165"/>
            <a:chOff x="0" y="0"/>
            <a:chExt cx="159850" cy="560512"/>
          </a:xfrm>
        </p:grpSpPr>
        <p:sp>
          <p:nvSpPr>
            <p:cNvPr id="7" name="Freeform 7"/>
            <p:cNvSpPr/>
            <p:nvPr/>
          </p:nvSpPr>
          <p:spPr>
            <a:xfrm>
              <a:off x="0" y="0"/>
              <a:ext cx="159850" cy="560512"/>
            </a:xfrm>
            <a:custGeom>
              <a:avLst/>
              <a:gdLst/>
              <a:ahLst/>
              <a:cxnLst/>
              <a:rect l="l" t="t" r="r" b="b"/>
              <a:pathLst>
                <a:path w="159850" h="560512">
                  <a:moveTo>
                    <a:pt x="0" y="0"/>
                  </a:moveTo>
                  <a:lnTo>
                    <a:pt x="159850" y="0"/>
                  </a:lnTo>
                  <a:lnTo>
                    <a:pt x="159850" y="560512"/>
                  </a:lnTo>
                  <a:lnTo>
                    <a:pt x="0" y="560512"/>
                  </a:lnTo>
                  <a:close/>
                </a:path>
              </a:pathLst>
            </a:custGeom>
            <a:solidFill>
              <a:srgbClr val="9CC453"/>
            </a:solidFill>
          </p:spPr>
        </p:sp>
        <p:sp>
          <p:nvSpPr>
            <p:cNvPr id="8" name="TextBox 8"/>
            <p:cNvSpPr txBox="1"/>
            <p:nvPr/>
          </p:nvSpPr>
          <p:spPr>
            <a:xfrm>
              <a:off x="0" y="-66675"/>
              <a:ext cx="159850" cy="627187"/>
            </a:xfrm>
            <a:prstGeom prst="rect">
              <a:avLst/>
            </a:prstGeom>
          </p:spPr>
          <p:txBody>
            <a:bodyPr lIns="50800" tIns="50800" rIns="50800" bIns="50800" rtlCol="0" anchor="ctr"/>
            <a:lstStyle/>
            <a:p>
              <a:pPr algn="ctr">
                <a:lnSpc>
                  <a:spcPts val="2520"/>
                </a:lnSpc>
              </a:pPr>
              <a:endParaRPr dirty="0"/>
            </a:p>
          </p:txBody>
        </p:sp>
      </p:grpSp>
      <p:sp>
        <p:nvSpPr>
          <p:cNvPr id="10" name="TextBox 10"/>
          <p:cNvSpPr txBox="1"/>
          <p:nvPr/>
        </p:nvSpPr>
        <p:spPr>
          <a:xfrm>
            <a:off x="1592900" y="8751571"/>
            <a:ext cx="381437" cy="335280"/>
          </a:xfrm>
          <a:prstGeom prst="rect">
            <a:avLst/>
          </a:prstGeom>
        </p:spPr>
        <p:txBody>
          <a:bodyPr lIns="0" tIns="0" rIns="0" bIns="0" rtlCol="0" anchor="t">
            <a:spAutoFit/>
          </a:bodyPr>
          <a:lstStyle/>
          <a:p>
            <a:pPr algn="just">
              <a:lnSpc>
                <a:spcPts val="2520"/>
              </a:lnSpc>
              <a:spcBef>
                <a:spcPct val="0"/>
              </a:spcBef>
            </a:pPr>
            <a:r>
              <a:rPr lang="en-US" sz="1800" b="1" dirty="0">
                <a:solidFill>
                  <a:srgbClr val="0D0A1E"/>
                </a:solidFill>
                <a:latin typeface="Telegraf Bold"/>
                <a:ea typeface="Telegraf Bold"/>
                <a:cs typeface="Telegraf Bold"/>
                <a:sym typeface="Telegraf Bold"/>
              </a:rPr>
              <a:t>12</a:t>
            </a:r>
          </a:p>
        </p:txBody>
      </p:sp>
      <p:sp>
        <p:nvSpPr>
          <p:cNvPr id="11" name="TextBox 11"/>
          <p:cNvSpPr txBox="1"/>
          <p:nvPr/>
        </p:nvSpPr>
        <p:spPr>
          <a:xfrm>
            <a:off x="1880250" y="150495"/>
            <a:ext cx="10491852" cy="878205"/>
          </a:xfrm>
          <a:prstGeom prst="rect">
            <a:avLst/>
          </a:prstGeom>
        </p:spPr>
        <p:txBody>
          <a:bodyPr lIns="0" tIns="0" rIns="0" bIns="0" rtlCol="0" anchor="t">
            <a:spAutoFit/>
          </a:bodyPr>
          <a:lstStyle/>
          <a:p>
            <a:pPr algn="l">
              <a:lnSpc>
                <a:spcPts val="6719"/>
              </a:lnSpc>
              <a:spcBef>
                <a:spcPct val="0"/>
              </a:spcBef>
            </a:pPr>
            <a:r>
              <a:rPr lang="en-US" sz="4800" b="1" spc="-120" dirty="0">
                <a:solidFill>
                  <a:srgbClr val="0D0A1E"/>
                </a:solidFill>
                <a:latin typeface="Telegraf Bold"/>
                <a:ea typeface="Telegraf Bold"/>
                <a:cs typeface="Telegraf Bold"/>
                <a:sym typeface="Telegraf Bold"/>
              </a:rPr>
              <a:t>ANALYSE SWOT</a:t>
            </a:r>
          </a:p>
        </p:txBody>
      </p:sp>
      <p:graphicFrame>
        <p:nvGraphicFramePr>
          <p:cNvPr id="9" name="Table 8">
            <a:extLst>
              <a:ext uri="{FF2B5EF4-FFF2-40B4-BE49-F238E27FC236}">
                <a16:creationId xmlns:a16="http://schemas.microsoft.com/office/drawing/2014/main" xmlns="" id="{F43BCFC6-78A0-4528-8A72-091A3AD31C13}"/>
              </a:ext>
            </a:extLst>
          </p:cNvPr>
          <p:cNvGraphicFramePr>
            <a:graphicFrameLocks noGrp="1"/>
          </p:cNvGraphicFramePr>
          <p:nvPr>
            <p:extLst>
              <p:ext uri="{D42A27DB-BD31-4B8C-83A1-F6EECF244321}">
                <p14:modId xmlns:p14="http://schemas.microsoft.com/office/powerpoint/2010/main" xmlns="" val="3727267730"/>
              </p:ext>
            </p:extLst>
          </p:nvPr>
        </p:nvGraphicFramePr>
        <p:xfrm>
          <a:off x="2118164" y="1547535"/>
          <a:ext cx="14921812" cy="6262962"/>
        </p:xfrm>
        <a:graphic>
          <a:graphicData uri="http://schemas.openxmlformats.org/drawingml/2006/table">
            <a:tbl>
              <a:tblPr/>
              <a:tblGrid>
                <a:gridCol w="3730453">
                  <a:extLst>
                    <a:ext uri="{9D8B030D-6E8A-4147-A177-3AD203B41FA5}">
                      <a16:colId xmlns:a16="http://schemas.microsoft.com/office/drawing/2014/main" xmlns="" val="3719930221"/>
                    </a:ext>
                  </a:extLst>
                </a:gridCol>
                <a:gridCol w="3730453">
                  <a:extLst>
                    <a:ext uri="{9D8B030D-6E8A-4147-A177-3AD203B41FA5}">
                      <a16:colId xmlns:a16="http://schemas.microsoft.com/office/drawing/2014/main" xmlns="" val="1030013828"/>
                    </a:ext>
                  </a:extLst>
                </a:gridCol>
                <a:gridCol w="3730453">
                  <a:extLst>
                    <a:ext uri="{9D8B030D-6E8A-4147-A177-3AD203B41FA5}">
                      <a16:colId xmlns:a16="http://schemas.microsoft.com/office/drawing/2014/main" xmlns="" val="3582129889"/>
                    </a:ext>
                  </a:extLst>
                </a:gridCol>
                <a:gridCol w="3730453">
                  <a:extLst>
                    <a:ext uri="{9D8B030D-6E8A-4147-A177-3AD203B41FA5}">
                      <a16:colId xmlns:a16="http://schemas.microsoft.com/office/drawing/2014/main" xmlns="" val="757628399"/>
                    </a:ext>
                  </a:extLst>
                </a:gridCol>
              </a:tblGrid>
              <a:tr h="527146">
                <a:tc>
                  <a:txBody>
                    <a:bodyPr/>
                    <a:lstStyle/>
                    <a:p>
                      <a:r>
                        <a:rPr lang="fr-FR" sz="1100" b="1" dirty="0">
                          <a:effectLst/>
                        </a:rPr>
                        <a:t>Forces (Strengths)</a:t>
                      </a:r>
                    </a:p>
                  </a:txBody>
                  <a:tcPr marL="54530" marR="54530" marT="27265" marB="27265" anchor="ctr">
                    <a:lnL w="8446" cap="flat" cmpd="sng" algn="ctr">
                      <a:solidFill>
                        <a:srgbClr val="000000"/>
                      </a:solidFill>
                      <a:prstDash val="solid"/>
                      <a:round/>
                      <a:headEnd type="none" w="med" len="med"/>
                      <a:tailEnd type="none" w="med" len="med"/>
                    </a:lnL>
                    <a:lnR w="8446" cap="flat" cmpd="sng" algn="ctr">
                      <a:solidFill>
                        <a:srgbClr val="000000"/>
                      </a:solidFill>
                      <a:prstDash val="solid"/>
                      <a:round/>
                      <a:headEnd type="none" w="med" len="med"/>
                      <a:tailEnd type="none" w="med" len="med"/>
                    </a:lnR>
                    <a:lnT w="8446" cap="flat" cmpd="sng" algn="ctr">
                      <a:solidFill>
                        <a:srgbClr val="000000"/>
                      </a:solidFill>
                      <a:prstDash val="solid"/>
                      <a:round/>
                      <a:headEnd type="none" w="med" len="med"/>
                      <a:tailEnd type="none" w="med" len="med"/>
                    </a:lnT>
                    <a:lnB w="8446" cap="flat" cmpd="sng" algn="ctr">
                      <a:solidFill>
                        <a:srgbClr val="000000"/>
                      </a:solidFill>
                      <a:prstDash val="solid"/>
                      <a:round/>
                      <a:headEnd type="none" w="med" len="med"/>
                      <a:tailEnd type="none" w="med" len="med"/>
                    </a:lnB>
                    <a:solidFill>
                      <a:srgbClr val="9BBB59"/>
                    </a:solidFill>
                  </a:tcPr>
                </a:tc>
                <a:tc>
                  <a:txBody>
                    <a:bodyPr/>
                    <a:lstStyle/>
                    <a:p>
                      <a:r>
                        <a:rPr lang="fr-FR" sz="1100" b="1" dirty="0">
                          <a:effectLst/>
                        </a:rPr>
                        <a:t>Faiblesses (Weaknesses)</a:t>
                      </a:r>
                    </a:p>
                  </a:txBody>
                  <a:tcPr marL="54530" marR="54530" marT="27265" marB="27265" anchor="ctr">
                    <a:lnL w="8446" cap="flat" cmpd="sng" algn="ctr">
                      <a:solidFill>
                        <a:srgbClr val="000000"/>
                      </a:solidFill>
                      <a:prstDash val="solid"/>
                      <a:round/>
                      <a:headEnd type="none" w="med" len="med"/>
                      <a:tailEnd type="none" w="med" len="med"/>
                    </a:lnL>
                    <a:lnR w="8446" cap="flat" cmpd="sng" algn="ctr">
                      <a:solidFill>
                        <a:srgbClr val="000000"/>
                      </a:solidFill>
                      <a:prstDash val="solid"/>
                      <a:round/>
                      <a:headEnd type="none" w="med" len="med"/>
                      <a:tailEnd type="none" w="med" len="med"/>
                    </a:lnR>
                    <a:lnT w="8446" cap="flat" cmpd="sng" algn="ctr">
                      <a:solidFill>
                        <a:srgbClr val="000000"/>
                      </a:solidFill>
                      <a:prstDash val="solid"/>
                      <a:round/>
                      <a:headEnd type="none" w="med" len="med"/>
                      <a:tailEnd type="none" w="med" len="med"/>
                    </a:lnT>
                    <a:lnB w="8446" cap="flat" cmpd="sng" algn="ctr">
                      <a:solidFill>
                        <a:srgbClr val="000000"/>
                      </a:solidFill>
                      <a:prstDash val="solid"/>
                      <a:round/>
                      <a:headEnd type="none" w="med" len="med"/>
                      <a:tailEnd type="none" w="med" len="med"/>
                    </a:lnB>
                    <a:solidFill>
                      <a:srgbClr val="9BBB59"/>
                    </a:solidFill>
                  </a:tcPr>
                </a:tc>
                <a:tc>
                  <a:txBody>
                    <a:bodyPr/>
                    <a:lstStyle/>
                    <a:p>
                      <a:r>
                        <a:rPr lang="fr-FR" sz="1100" b="1" dirty="0">
                          <a:effectLst/>
                        </a:rPr>
                        <a:t>Opportunités (Opportunities)</a:t>
                      </a:r>
                    </a:p>
                  </a:txBody>
                  <a:tcPr marL="54530" marR="54530" marT="27265" marB="27265" anchor="ctr">
                    <a:lnL w="8446" cap="flat" cmpd="sng" algn="ctr">
                      <a:solidFill>
                        <a:srgbClr val="000000"/>
                      </a:solidFill>
                      <a:prstDash val="solid"/>
                      <a:round/>
                      <a:headEnd type="none" w="med" len="med"/>
                      <a:tailEnd type="none" w="med" len="med"/>
                    </a:lnL>
                    <a:lnR w="8446" cap="flat" cmpd="sng" algn="ctr">
                      <a:solidFill>
                        <a:srgbClr val="000000"/>
                      </a:solidFill>
                      <a:prstDash val="solid"/>
                      <a:round/>
                      <a:headEnd type="none" w="med" len="med"/>
                      <a:tailEnd type="none" w="med" len="med"/>
                    </a:lnR>
                    <a:lnT w="8446" cap="flat" cmpd="sng" algn="ctr">
                      <a:solidFill>
                        <a:srgbClr val="000000"/>
                      </a:solidFill>
                      <a:prstDash val="solid"/>
                      <a:round/>
                      <a:headEnd type="none" w="med" len="med"/>
                      <a:tailEnd type="none" w="med" len="med"/>
                    </a:lnT>
                    <a:lnB w="8446" cap="flat" cmpd="sng" algn="ctr">
                      <a:solidFill>
                        <a:srgbClr val="000000"/>
                      </a:solidFill>
                      <a:prstDash val="solid"/>
                      <a:round/>
                      <a:headEnd type="none" w="med" len="med"/>
                      <a:tailEnd type="none" w="med" len="med"/>
                    </a:lnB>
                    <a:solidFill>
                      <a:srgbClr val="9BBB59"/>
                    </a:solidFill>
                  </a:tcPr>
                </a:tc>
                <a:tc>
                  <a:txBody>
                    <a:bodyPr/>
                    <a:lstStyle/>
                    <a:p>
                      <a:r>
                        <a:rPr lang="fr-FR" sz="1100" b="1" dirty="0">
                          <a:effectLst/>
                        </a:rPr>
                        <a:t>Menaces (Threats)</a:t>
                      </a:r>
                    </a:p>
                  </a:txBody>
                  <a:tcPr marL="54530" marR="54530" marT="27265" marB="27265" anchor="ctr">
                    <a:lnL w="8446" cap="flat" cmpd="sng" algn="ctr">
                      <a:solidFill>
                        <a:srgbClr val="000000"/>
                      </a:solidFill>
                      <a:prstDash val="solid"/>
                      <a:round/>
                      <a:headEnd type="none" w="med" len="med"/>
                      <a:tailEnd type="none" w="med" len="med"/>
                    </a:lnL>
                    <a:lnR w="8446" cap="flat" cmpd="sng" algn="ctr">
                      <a:solidFill>
                        <a:srgbClr val="000000"/>
                      </a:solidFill>
                      <a:prstDash val="solid"/>
                      <a:round/>
                      <a:headEnd type="none" w="med" len="med"/>
                      <a:tailEnd type="none" w="med" len="med"/>
                    </a:lnR>
                    <a:lnT w="8446" cap="flat" cmpd="sng" algn="ctr">
                      <a:solidFill>
                        <a:srgbClr val="000000"/>
                      </a:solidFill>
                      <a:prstDash val="solid"/>
                      <a:round/>
                      <a:headEnd type="none" w="med" len="med"/>
                      <a:tailEnd type="none" w="med" len="med"/>
                    </a:lnT>
                    <a:lnB w="8446" cap="flat" cmpd="sng" algn="ctr">
                      <a:solidFill>
                        <a:srgbClr val="000000"/>
                      </a:solidFill>
                      <a:prstDash val="solid"/>
                      <a:round/>
                      <a:headEnd type="none" w="med" len="med"/>
                      <a:tailEnd type="none" w="med" len="med"/>
                    </a:lnB>
                    <a:solidFill>
                      <a:srgbClr val="9BBB59"/>
                    </a:solidFill>
                  </a:tcPr>
                </a:tc>
                <a:extLst>
                  <a:ext uri="{0D108BD9-81ED-4DB2-BD59-A6C34878D82A}">
                    <a16:rowId xmlns:a16="http://schemas.microsoft.com/office/drawing/2014/main" xmlns="" val="2138829569"/>
                  </a:ext>
                </a:extLst>
              </a:tr>
              <a:tr h="1433954">
                <a:tc>
                  <a:txBody>
                    <a:bodyPr/>
                    <a:lstStyle/>
                    <a:p>
                      <a:r>
                        <a:rPr lang="fr-FR" sz="1400" dirty="0">
                          <a:effectLst/>
                        </a:rPr>
                        <a:t>Plateforme 100 % spécialisée dans le secteur agricole (vs Ouedkniss généraliste).</a:t>
                      </a:r>
                    </a:p>
                  </a:txBody>
                  <a:tcPr marL="54530" marR="54530" marT="27265" marB="27265" anchor="ctr">
                    <a:lnL w="8446" cap="flat" cmpd="sng" algn="ctr">
                      <a:solidFill>
                        <a:srgbClr val="000000"/>
                      </a:solidFill>
                      <a:prstDash val="solid"/>
                      <a:round/>
                      <a:headEnd type="none" w="med" len="med"/>
                      <a:tailEnd type="none" w="med" len="med"/>
                    </a:lnL>
                    <a:lnR w="8446" cap="flat" cmpd="sng" algn="ctr">
                      <a:solidFill>
                        <a:srgbClr val="000000"/>
                      </a:solidFill>
                      <a:prstDash val="solid"/>
                      <a:round/>
                      <a:headEnd type="none" w="med" len="med"/>
                      <a:tailEnd type="none" w="med" len="med"/>
                    </a:lnR>
                    <a:lnT w="8446" cap="flat" cmpd="sng" algn="ctr">
                      <a:solidFill>
                        <a:srgbClr val="000000"/>
                      </a:solidFill>
                      <a:prstDash val="solid"/>
                      <a:round/>
                      <a:headEnd type="none" w="med" len="med"/>
                      <a:tailEnd type="none" w="med" len="med"/>
                    </a:lnT>
                    <a:lnB w="8446" cap="flat" cmpd="sng" algn="ctr">
                      <a:solidFill>
                        <a:srgbClr val="000000"/>
                      </a:solidFill>
                      <a:prstDash val="solid"/>
                      <a:round/>
                      <a:headEnd type="none" w="med" len="med"/>
                      <a:tailEnd type="none" w="med" len="med"/>
                    </a:lnB>
                    <a:solidFill>
                      <a:srgbClr val="DEE7D1"/>
                    </a:solidFill>
                  </a:tcPr>
                </a:tc>
                <a:tc>
                  <a:txBody>
                    <a:bodyPr/>
                    <a:lstStyle/>
                    <a:p>
                      <a:r>
                        <a:rPr lang="fr-FR" sz="1400" dirty="0">
                          <a:effectLst/>
                        </a:rPr>
                        <a:t>Manque de notoriété face aux plateformes déjà connues.</a:t>
                      </a:r>
                    </a:p>
                  </a:txBody>
                  <a:tcPr marL="54530" marR="54530" marT="27265" marB="27265" anchor="ctr">
                    <a:lnL w="8446" cap="flat" cmpd="sng" algn="ctr">
                      <a:solidFill>
                        <a:srgbClr val="000000"/>
                      </a:solidFill>
                      <a:prstDash val="solid"/>
                      <a:round/>
                      <a:headEnd type="none" w="med" len="med"/>
                      <a:tailEnd type="none" w="med" len="med"/>
                    </a:lnL>
                    <a:lnR w="8446" cap="flat" cmpd="sng" algn="ctr">
                      <a:solidFill>
                        <a:srgbClr val="000000"/>
                      </a:solidFill>
                      <a:prstDash val="solid"/>
                      <a:round/>
                      <a:headEnd type="none" w="med" len="med"/>
                      <a:tailEnd type="none" w="med" len="med"/>
                    </a:lnR>
                    <a:lnT w="8446" cap="flat" cmpd="sng" algn="ctr">
                      <a:solidFill>
                        <a:srgbClr val="000000"/>
                      </a:solidFill>
                      <a:prstDash val="solid"/>
                      <a:round/>
                      <a:headEnd type="none" w="med" len="med"/>
                      <a:tailEnd type="none" w="med" len="med"/>
                    </a:lnT>
                    <a:lnB w="8446" cap="flat" cmpd="sng" algn="ctr">
                      <a:solidFill>
                        <a:srgbClr val="000000"/>
                      </a:solidFill>
                      <a:prstDash val="solid"/>
                      <a:round/>
                      <a:headEnd type="none" w="med" len="med"/>
                      <a:tailEnd type="none" w="med" len="med"/>
                    </a:lnB>
                    <a:solidFill>
                      <a:srgbClr val="DEE7D1"/>
                    </a:solidFill>
                  </a:tcPr>
                </a:tc>
                <a:tc>
                  <a:txBody>
                    <a:bodyPr/>
                    <a:lstStyle/>
                    <a:p>
                      <a:r>
                        <a:rPr lang="fr-FR" sz="1400" dirty="0">
                          <a:effectLst/>
                        </a:rPr>
                        <a:t>Croissance rapide de l’utilisation des outils numériques par les jeunes agriculteurs.</a:t>
                      </a:r>
                    </a:p>
                  </a:txBody>
                  <a:tcPr marL="54530" marR="54530" marT="27265" marB="27265" anchor="ctr">
                    <a:lnL w="8446" cap="flat" cmpd="sng" algn="ctr">
                      <a:solidFill>
                        <a:srgbClr val="000000"/>
                      </a:solidFill>
                      <a:prstDash val="solid"/>
                      <a:round/>
                      <a:headEnd type="none" w="med" len="med"/>
                      <a:tailEnd type="none" w="med" len="med"/>
                    </a:lnL>
                    <a:lnR w="8446" cap="flat" cmpd="sng" algn="ctr">
                      <a:solidFill>
                        <a:srgbClr val="000000"/>
                      </a:solidFill>
                      <a:prstDash val="solid"/>
                      <a:round/>
                      <a:headEnd type="none" w="med" len="med"/>
                      <a:tailEnd type="none" w="med" len="med"/>
                    </a:lnR>
                    <a:lnT w="8446" cap="flat" cmpd="sng" algn="ctr">
                      <a:solidFill>
                        <a:srgbClr val="000000"/>
                      </a:solidFill>
                      <a:prstDash val="solid"/>
                      <a:round/>
                      <a:headEnd type="none" w="med" len="med"/>
                      <a:tailEnd type="none" w="med" len="med"/>
                    </a:lnT>
                    <a:lnB w="8446" cap="flat" cmpd="sng" algn="ctr">
                      <a:solidFill>
                        <a:srgbClr val="000000"/>
                      </a:solidFill>
                      <a:prstDash val="solid"/>
                      <a:round/>
                      <a:headEnd type="none" w="med" len="med"/>
                      <a:tailEnd type="none" w="med" len="med"/>
                    </a:lnB>
                    <a:solidFill>
                      <a:srgbClr val="DEE7D1"/>
                    </a:solidFill>
                  </a:tcPr>
                </a:tc>
                <a:tc>
                  <a:txBody>
                    <a:bodyPr/>
                    <a:lstStyle/>
                    <a:p>
                      <a:r>
                        <a:rPr lang="fr-FR" sz="1400" dirty="0">
                          <a:effectLst/>
                        </a:rPr>
                        <a:t>Habitudes traditionnelles (préférence pour le contact direct et négociation en personne).</a:t>
                      </a:r>
                    </a:p>
                  </a:txBody>
                  <a:tcPr marL="54530" marR="54530" marT="27265" marB="27265" anchor="ctr">
                    <a:lnL w="8446" cap="flat" cmpd="sng" algn="ctr">
                      <a:solidFill>
                        <a:srgbClr val="000000"/>
                      </a:solidFill>
                      <a:prstDash val="solid"/>
                      <a:round/>
                      <a:headEnd type="none" w="med" len="med"/>
                      <a:tailEnd type="none" w="med" len="med"/>
                    </a:lnL>
                    <a:lnR w="8446" cap="flat" cmpd="sng" algn="ctr">
                      <a:solidFill>
                        <a:srgbClr val="000000"/>
                      </a:solidFill>
                      <a:prstDash val="solid"/>
                      <a:round/>
                      <a:headEnd type="none" w="med" len="med"/>
                      <a:tailEnd type="none" w="med" len="med"/>
                    </a:lnR>
                    <a:lnT w="8446" cap="flat" cmpd="sng" algn="ctr">
                      <a:solidFill>
                        <a:srgbClr val="000000"/>
                      </a:solidFill>
                      <a:prstDash val="solid"/>
                      <a:round/>
                      <a:headEnd type="none" w="med" len="med"/>
                      <a:tailEnd type="none" w="med" len="med"/>
                    </a:lnT>
                    <a:lnB w="8446" cap="flat" cmpd="sng" algn="ctr">
                      <a:solidFill>
                        <a:srgbClr val="000000"/>
                      </a:solidFill>
                      <a:prstDash val="solid"/>
                      <a:round/>
                      <a:headEnd type="none" w="med" len="med"/>
                      <a:tailEnd type="none" w="med" len="med"/>
                    </a:lnB>
                    <a:solidFill>
                      <a:srgbClr val="DEE7D1"/>
                    </a:solidFill>
                  </a:tcPr>
                </a:tc>
                <a:extLst>
                  <a:ext uri="{0D108BD9-81ED-4DB2-BD59-A6C34878D82A}">
                    <a16:rowId xmlns:a16="http://schemas.microsoft.com/office/drawing/2014/main" xmlns="" val="1420629989"/>
                  </a:ext>
                </a:extLst>
              </a:tr>
              <a:tr h="1207252">
                <a:tc>
                  <a:txBody>
                    <a:bodyPr/>
                    <a:lstStyle/>
                    <a:p>
                      <a:r>
                        <a:rPr lang="fr-FR" sz="1100" dirty="0">
                          <a:effectLst/>
                        </a:rPr>
                        <a:t>Offre complète : vente, location, logistique, main-d’œuvre, services techniques.</a:t>
                      </a:r>
                    </a:p>
                  </a:txBody>
                  <a:tcPr marL="54530" marR="54530" marT="27265" marB="27265" anchor="ctr">
                    <a:lnL w="8446" cap="flat" cmpd="sng" algn="ctr">
                      <a:solidFill>
                        <a:srgbClr val="000000"/>
                      </a:solidFill>
                      <a:prstDash val="solid"/>
                      <a:round/>
                      <a:headEnd type="none" w="med" len="med"/>
                      <a:tailEnd type="none" w="med" len="med"/>
                    </a:lnL>
                    <a:lnR w="8446" cap="flat" cmpd="sng" algn="ctr">
                      <a:solidFill>
                        <a:srgbClr val="000000"/>
                      </a:solidFill>
                      <a:prstDash val="solid"/>
                      <a:round/>
                      <a:headEnd type="none" w="med" len="med"/>
                      <a:tailEnd type="none" w="med" len="med"/>
                    </a:lnR>
                    <a:lnT w="8446" cap="flat" cmpd="sng" algn="ctr">
                      <a:solidFill>
                        <a:srgbClr val="000000"/>
                      </a:solidFill>
                      <a:prstDash val="solid"/>
                      <a:round/>
                      <a:headEnd type="none" w="med" len="med"/>
                      <a:tailEnd type="none" w="med" len="med"/>
                    </a:lnT>
                    <a:lnB w="8446" cap="flat" cmpd="sng" algn="ctr">
                      <a:solidFill>
                        <a:srgbClr val="000000"/>
                      </a:solidFill>
                      <a:prstDash val="solid"/>
                      <a:round/>
                      <a:headEnd type="none" w="med" len="med"/>
                      <a:tailEnd type="none" w="med" len="med"/>
                    </a:lnB>
                    <a:solidFill>
                      <a:srgbClr val="EFF3EA"/>
                    </a:solidFill>
                  </a:tcPr>
                </a:tc>
                <a:tc>
                  <a:txBody>
                    <a:bodyPr/>
                    <a:lstStyle/>
                    <a:p>
                      <a:r>
                        <a:rPr lang="fr-FR" sz="1100" dirty="0">
                          <a:effectLst/>
                        </a:rPr>
                        <a:t>Dépendance à la connexion internet (zones rurales parfois mal couvertes).</a:t>
                      </a:r>
                    </a:p>
                  </a:txBody>
                  <a:tcPr marL="54530" marR="54530" marT="27265" marB="27265" anchor="ctr">
                    <a:lnL w="8446" cap="flat" cmpd="sng" algn="ctr">
                      <a:solidFill>
                        <a:srgbClr val="000000"/>
                      </a:solidFill>
                      <a:prstDash val="solid"/>
                      <a:round/>
                      <a:headEnd type="none" w="med" len="med"/>
                      <a:tailEnd type="none" w="med" len="med"/>
                    </a:lnL>
                    <a:lnR w="8446" cap="flat" cmpd="sng" algn="ctr">
                      <a:solidFill>
                        <a:srgbClr val="000000"/>
                      </a:solidFill>
                      <a:prstDash val="solid"/>
                      <a:round/>
                      <a:headEnd type="none" w="med" len="med"/>
                      <a:tailEnd type="none" w="med" len="med"/>
                    </a:lnR>
                    <a:lnT w="8446" cap="flat" cmpd="sng" algn="ctr">
                      <a:solidFill>
                        <a:srgbClr val="000000"/>
                      </a:solidFill>
                      <a:prstDash val="solid"/>
                      <a:round/>
                      <a:headEnd type="none" w="med" len="med"/>
                      <a:tailEnd type="none" w="med" len="med"/>
                    </a:lnT>
                    <a:lnB w="8446" cap="flat" cmpd="sng" algn="ctr">
                      <a:solidFill>
                        <a:srgbClr val="000000"/>
                      </a:solidFill>
                      <a:prstDash val="solid"/>
                      <a:round/>
                      <a:headEnd type="none" w="med" len="med"/>
                      <a:tailEnd type="none" w="med" len="med"/>
                    </a:lnB>
                    <a:solidFill>
                      <a:srgbClr val="EFF3EA"/>
                    </a:solidFill>
                  </a:tcPr>
                </a:tc>
                <a:tc>
                  <a:txBody>
                    <a:bodyPr/>
                    <a:lstStyle/>
                    <a:p>
                      <a:pPr algn="ctr" rtl="0"/>
                      <a:r>
                        <a:rPr lang="fr-FR" sz="1100" b="0" i="0" dirty="0">
                          <a:solidFill>
                            <a:srgbClr val="000000"/>
                          </a:solidFill>
                          <a:effectLst/>
                        </a:rPr>
                        <a:t>Adaptation d’une </a:t>
                      </a:r>
                      <a:r>
                        <a:rPr lang="fr-FR" sz="1100" b="1" i="0" dirty="0">
                          <a:solidFill>
                            <a:srgbClr val="000000"/>
                          </a:solidFill>
                          <a:effectLst/>
                        </a:rPr>
                        <a:t>communauté d’experts agricoles algériens</a:t>
                      </a:r>
                      <a:r>
                        <a:rPr lang="fr-FR" sz="1100" b="0" i="0" dirty="0">
                          <a:solidFill>
                            <a:srgbClr val="000000"/>
                          </a:solidFill>
                          <a:effectLst/>
                        </a:rPr>
                        <a:t> dans une seule plateforme.</a:t>
                      </a:r>
                      <a:endParaRPr lang="fr-FR" sz="1100" dirty="0">
                        <a:effectLst/>
                      </a:endParaRPr>
                    </a:p>
                  </a:txBody>
                  <a:tcPr marL="54530" marR="54530" marT="27265" marB="27265" anchor="ctr">
                    <a:lnL w="8446" cap="flat" cmpd="sng" algn="ctr">
                      <a:solidFill>
                        <a:srgbClr val="000000"/>
                      </a:solidFill>
                      <a:prstDash val="solid"/>
                      <a:round/>
                      <a:headEnd type="none" w="med" len="med"/>
                      <a:tailEnd type="none" w="med" len="med"/>
                    </a:lnL>
                    <a:lnR w="8446" cap="flat" cmpd="sng" algn="ctr">
                      <a:solidFill>
                        <a:srgbClr val="000000"/>
                      </a:solidFill>
                      <a:prstDash val="solid"/>
                      <a:round/>
                      <a:headEnd type="none" w="med" len="med"/>
                      <a:tailEnd type="none" w="med" len="med"/>
                    </a:lnR>
                    <a:lnT w="8446" cap="flat" cmpd="sng" algn="ctr">
                      <a:solidFill>
                        <a:srgbClr val="000000"/>
                      </a:solidFill>
                      <a:prstDash val="solid"/>
                      <a:round/>
                      <a:headEnd type="none" w="med" len="med"/>
                      <a:tailEnd type="none" w="med" len="med"/>
                    </a:lnT>
                    <a:lnB w="8446" cap="flat" cmpd="sng" algn="ctr">
                      <a:solidFill>
                        <a:srgbClr val="000000"/>
                      </a:solidFill>
                      <a:prstDash val="solid"/>
                      <a:round/>
                      <a:headEnd type="none" w="med" len="med"/>
                      <a:tailEnd type="none" w="med" len="med"/>
                    </a:lnB>
                    <a:solidFill>
                      <a:srgbClr val="EFF3EA"/>
                    </a:solidFill>
                  </a:tcPr>
                </a:tc>
                <a:tc>
                  <a:txBody>
                    <a:bodyPr/>
                    <a:lstStyle/>
                    <a:p>
                      <a:r>
                        <a:rPr lang="fr-FR" sz="1400" dirty="0">
                          <a:effectLst/>
                        </a:rPr>
                        <a:t>Risque que les concurrents intègrent rapidement des services similaires.</a:t>
                      </a:r>
                    </a:p>
                  </a:txBody>
                  <a:tcPr marL="54530" marR="54530" marT="27265" marB="27265" anchor="ctr">
                    <a:lnL w="8446" cap="flat" cmpd="sng" algn="ctr">
                      <a:solidFill>
                        <a:srgbClr val="000000"/>
                      </a:solidFill>
                      <a:prstDash val="solid"/>
                      <a:round/>
                      <a:headEnd type="none" w="med" len="med"/>
                      <a:tailEnd type="none" w="med" len="med"/>
                    </a:lnL>
                    <a:lnR w="8446" cap="flat" cmpd="sng" algn="ctr">
                      <a:solidFill>
                        <a:srgbClr val="000000"/>
                      </a:solidFill>
                      <a:prstDash val="solid"/>
                      <a:round/>
                      <a:headEnd type="none" w="med" len="med"/>
                      <a:tailEnd type="none" w="med" len="med"/>
                    </a:lnR>
                    <a:lnT w="8446" cap="flat" cmpd="sng" algn="ctr">
                      <a:solidFill>
                        <a:srgbClr val="000000"/>
                      </a:solidFill>
                      <a:prstDash val="solid"/>
                      <a:round/>
                      <a:headEnd type="none" w="med" len="med"/>
                      <a:tailEnd type="none" w="med" len="med"/>
                    </a:lnT>
                    <a:lnB w="8446" cap="flat" cmpd="sng" algn="ctr">
                      <a:solidFill>
                        <a:srgbClr val="000000"/>
                      </a:solidFill>
                      <a:prstDash val="solid"/>
                      <a:round/>
                      <a:headEnd type="none" w="med" len="med"/>
                      <a:tailEnd type="none" w="med" len="med"/>
                    </a:lnB>
                    <a:solidFill>
                      <a:srgbClr val="EFF3EA"/>
                    </a:solidFill>
                  </a:tcPr>
                </a:tc>
                <a:extLst>
                  <a:ext uri="{0D108BD9-81ED-4DB2-BD59-A6C34878D82A}">
                    <a16:rowId xmlns:a16="http://schemas.microsoft.com/office/drawing/2014/main" xmlns="" val="140869581"/>
                  </a:ext>
                </a:extLst>
              </a:tr>
              <a:tr h="1433954">
                <a:tc>
                  <a:txBody>
                    <a:bodyPr/>
                    <a:lstStyle/>
                    <a:p>
                      <a:r>
                        <a:rPr lang="fr-FR" sz="1400" dirty="0">
                          <a:effectLst/>
                        </a:rPr>
                        <a:t>Structuration et digitalisation d’un secteur encore très informel.</a:t>
                      </a:r>
                    </a:p>
                  </a:txBody>
                  <a:tcPr marL="54530" marR="54530" marT="27265" marB="27265" anchor="ctr">
                    <a:lnL w="8446" cap="flat" cmpd="sng" algn="ctr">
                      <a:solidFill>
                        <a:srgbClr val="000000"/>
                      </a:solidFill>
                      <a:prstDash val="solid"/>
                      <a:round/>
                      <a:headEnd type="none" w="med" len="med"/>
                      <a:tailEnd type="none" w="med" len="med"/>
                    </a:lnL>
                    <a:lnR w="8446" cap="flat" cmpd="sng" algn="ctr">
                      <a:solidFill>
                        <a:srgbClr val="000000"/>
                      </a:solidFill>
                      <a:prstDash val="solid"/>
                      <a:round/>
                      <a:headEnd type="none" w="med" len="med"/>
                      <a:tailEnd type="none" w="med" len="med"/>
                    </a:lnR>
                    <a:lnT w="8446" cap="flat" cmpd="sng" algn="ctr">
                      <a:solidFill>
                        <a:srgbClr val="000000"/>
                      </a:solidFill>
                      <a:prstDash val="solid"/>
                      <a:round/>
                      <a:headEnd type="none" w="med" len="med"/>
                      <a:tailEnd type="none" w="med" len="med"/>
                    </a:lnT>
                    <a:lnB w="8446" cap="flat" cmpd="sng" algn="ctr">
                      <a:solidFill>
                        <a:srgbClr val="000000"/>
                      </a:solidFill>
                      <a:prstDash val="solid"/>
                      <a:round/>
                      <a:headEnd type="none" w="med" len="med"/>
                      <a:tailEnd type="none" w="med" len="med"/>
                    </a:lnB>
                    <a:solidFill>
                      <a:srgbClr val="DEE7D1"/>
                    </a:solidFill>
                  </a:tcPr>
                </a:tc>
                <a:tc>
                  <a:txBody>
                    <a:bodyPr/>
                    <a:lstStyle/>
                    <a:p>
                      <a:r>
                        <a:rPr lang="fr-FR" sz="1400" dirty="0">
                          <a:effectLst/>
                        </a:rPr>
                        <a:t>Ressources limitées en communication et marketing par rapport aux concurrents établis.</a:t>
                      </a:r>
                    </a:p>
                  </a:txBody>
                  <a:tcPr marL="54530" marR="54530" marT="27265" marB="27265" anchor="ctr">
                    <a:lnL w="8446" cap="flat" cmpd="sng" algn="ctr">
                      <a:solidFill>
                        <a:srgbClr val="000000"/>
                      </a:solidFill>
                      <a:prstDash val="solid"/>
                      <a:round/>
                      <a:headEnd type="none" w="med" len="med"/>
                      <a:tailEnd type="none" w="med" len="med"/>
                    </a:lnL>
                    <a:lnR w="8446" cap="flat" cmpd="sng" algn="ctr">
                      <a:solidFill>
                        <a:srgbClr val="000000"/>
                      </a:solidFill>
                      <a:prstDash val="solid"/>
                      <a:round/>
                      <a:headEnd type="none" w="med" len="med"/>
                      <a:tailEnd type="none" w="med" len="med"/>
                    </a:lnR>
                    <a:lnT w="8446" cap="flat" cmpd="sng" algn="ctr">
                      <a:solidFill>
                        <a:srgbClr val="000000"/>
                      </a:solidFill>
                      <a:prstDash val="solid"/>
                      <a:round/>
                      <a:headEnd type="none" w="med" len="med"/>
                      <a:tailEnd type="none" w="med" len="med"/>
                    </a:lnT>
                    <a:lnB w="8446" cap="flat" cmpd="sng" algn="ctr">
                      <a:solidFill>
                        <a:srgbClr val="000000"/>
                      </a:solidFill>
                      <a:prstDash val="solid"/>
                      <a:round/>
                      <a:headEnd type="none" w="med" len="med"/>
                      <a:tailEnd type="none" w="med" len="med"/>
                    </a:lnB>
                    <a:solidFill>
                      <a:srgbClr val="DEE7D1"/>
                    </a:solidFill>
                  </a:tcPr>
                </a:tc>
                <a:tc>
                  <a:txBody>
                    <a:bodyPr/>
                    <a:lstStyle/>
                    <a:p>
                      <a:pPr algn="just" rtl="0"/>
                      <a:r>
                        <a:rPr lang="fr-FR" sz="1400" b="0" i="0" dirty="0">
                          <a:solidFill>
                            <a:srgbClr val="000000"/>
                          </a:solidFill>
                          <a:effectLst/>
                        </a:rPr>
                        <a:t>Faible concurrence structurée </a:t>
                      </a:r>
                      <a:endParaRPr lang="fr-FR" sz="1400" dirty="0">
                        <a:effectLst/>
                      </a:endParaRPr>
                    </a:p>
                    <a:p>
                      <a:pPr algn="just" rtl="0"/>
                      <a:r>
                        <a:rPr lang="fr-FR" sz="1400" b="0" i="0" dirty="0">
                          <a:solidFill>
                            <a:srgbClr val="000000"/>
                          </a:solidFill>
                          <a:effectLst/>
                        </a:rPr>
                        <a:t>en Algérie dans le domaine des plateformes agricoles </a:t>
                      </a:r>
                      <a:endParaRPr lang="fr-FR" sz="1400" dirty="0">
                        <a:effectLst/>
                      </a:endParaRPr>
                    </a:p>
                  </a:txBody>
                  <a:tcPr marL="54530" marR="54530" marT="27265" marB="27265" anchor="ctr">
                    <a:lnL w="8446" cap="flat" cmpd="sng" algn="ctr">
                      <a:solidFill>
                        <a:srgbClr val="000000"/>
                      </a:solidFill>
                      <a:prstDash val="solid"/>
                      <a:round/>
                      <a:headEnd type="none" w="med" len="med"/>
                      <a:tailEnd type="none" w="med" len="med"/>
                    </a:lnL>
                    <a:lnR w="8446" cap="flat" cmpd="sng" algn="ctr">
                      <a:solidFill>
                        <a:srgbClr val="000000"/>
                      </a:solidFill>
                      <a:prstDash val="solid"/>
                      <a:round/>
                      <a:headEnd type="none" w="med" len="med"/>
                      <a:tailEnd type="none" w="med" len="med"/>
                    </a:lnR>
                    <a:lnT w="8446" cap="flat" cmpd="sng" algn="ctr">
                      <a:solidFill>
                        <a:srgbClr val="000000"/>
                      </a:solidFill>
                      <a:prstDash val="solid"/>
                      <a:round/>
                      <a:headEnd type="none" w="med" len="med"/>
                      <a:tailEnd type="none" w="med" len="med"/>
                    </a:lnT>
                    <a:lnB w="8446" cap="flat" cmpd="sng" algn="ctr">
                      <a:solidFill>
                        <a:srgbClr val="000000"/>
                      </a:solidFill>
                      <a:prstDash val="solid"/>
                      <a:round/>
                      <a:headEnd type="none" w="med" len="med"/>
                      <a:tailEnd type="none" w="med" len="med"/>
                    </a:lnB>
                    <a:solidFill>
                      <a:srgbClr val="DEE7D1"/>
                    </a:solidFill>
                  </a:tcPr>
                </a:tc>
                <a:tc>
                  <a:txBody>
                    <a:bodyPr/>
                    <a:lstStyle/>
                    <a:p>
                      <a:r>
                        <a:rPr lang="fr-FR" sz="1400" dirty="0">
                          <a:effectLst/>
                        </a:rPr>
                        <a:t>Faible confiance actuelle dans les transactions numériques et paiements en ligne.</a:t>
                      </a:r>
                    </a:p>
                  </a:txBody>
                  <a:tcPr marL="54530" marR="54530" marT="27265" marB="27265" anchor="ctr">
                    <a:lnL w="8446" cap="flat" cmpd="sng" algn="ctr">
                      <a:solidFill>
                        <a:srgbClr val="000000"/>
                      </a:solidFill>
                      <a:prstDash val="solid"/>
                      <a:round/>
                      <a:headEnd type="none" w="med" len="med"/>
                      <a:tailEnd type="none" w="med" len="med"/>
                    </a:lnL>
                    <a:lnR w="8446" cap="flat" cmpd="sng" algn="ctr">
                      <a:solidFill>
                        <a:srgbClr val="000000"/>
                      </a:solidFill>
                      <a:prstDash val="solid"/>
                      <a:round/>
                      <a:headEnd type="none" w="med" len="med"/>
                      <a:tailEnd type="none" w="med" len="med"/>
                    </a:lnR>
                    <a:lnT w="8446" cap="flat" cmpd="sng" algn="ctr">
                      <a:solidFill>
                        <a:srgbClr val="000000"/>
                      </a:solidFill>
                      <a:prstDash val="solid"/>
                      <a:round/>
                      <a:headEnd type="none" w="med" len="med"/>
                      <a:tailEnd type="none" w="med" len="med"/>
                    </a:lnT>
                    <a:lnB w="8446" cap="flat" cmpd="sng" algn="ctr">
                      <a:solidFill>
                        <a:srgbClr val="000000"/>
                      </a:solidFill>
                      <a:prstDash val="solid"/>
                      <a:round/>
                      <a:headEnd type="none" w="med" len="med"/>
                      <a:tailEnd type="none" w="med" len="med"/>
                    </a:lnB>
                    <a:solidFill>
                      <a:srgbClr val="DEE7D1"/>
                    </a:solidFill>
                  </a:tcPr>
                </a:tc>
                <a:extLst>
                  <a:ext uri="{0D108BD9-81ED-4DB2-BD59-A6C34878D82A}">
                    <a16:rowId xmlns:a16="http://schemas.microsoft.com/office/drawing/2014/main" xmlns="" val="492676459"/>
                  </a:ext>
                </a:extLst>
              </a:tr>
              <a:tr h="1660656">
                <a:tc>
                  <a:txBody>
                    <a:bodyPr/>
                    <a:lstStyle/>
                    <a:p>
                      <a:r>
                        <a:rPr lang="fr-FR" sz="1400" dirty="0">
                          <a:effectLst/>
                        </a:rPr>
                        <a:t>Intégration d’outils innovants d’analyse spatiale pour l’exploitation agricole (télédétection, SIG, IA).</a:t>
                      </a:r>
                    </a:p>
                  </a:txBody>
                  <a:tcPr marL="54530" marR="54530" marT="27265" marB="27265" anchor="ctr">
                    <a:lnL w="8446" cap="flat" cmpd="sng" algn="ctr">
                      <a:solidFill>
                        <a:srgbClr val="000000"/>
                      </a:solidFill>
                      <a:prstDash val="solid"/>
                      <a:round/>
                      <a:headEnd type="none" w="med" len="med"/>
                      <a:tailEnd type="none" w="med" len="med"/>
                    </a:lnL>
                    <a:lnR w="8446" cap="flat" cmpd="sng" algn="ctr">
                      <a:solidFill>
                        <a:srgbClr val="000000"/>
                      </a:solidFill>
                      <a:prstDash val="solid"/>
                      <a:round/>
                      <a:headEnd type="none" w="med" len="med"/>
                      <a:tailEnd type="none" w="med" len="med"/>
                    </a:lnR>
                    <a:lnT w="8446" cap="flat" cmpd="sng" algn="ctr">
                      <a:solidFill>
                        <a:srgbClr val="000000"/>
                      </a:solidFill>
                      <a:prstDash val="solid"/>
                      <a:round/>
                      <a:headEnd type="none" w="med" len="med"/>
                      <a:tailEnd type="none" w="med" len="med"/>
                    </a:lnT>
                    <a:lnB w="8446" cap="flat" cmpd="sng" algn="ctr">
                      <a:solidFill>
                        <a:srgbClr val="000000"/>
                      </a:solidFill>
                      <a:prstDash val="solid"/>
                      <a:round/>
                      <a:headEnd type="none" w="med" len="med"/>
                      <a:tailEnd type="none" w="med" len="med"/>
                    </a:lnB>
                    <a:solidFill>
                      <a:srgbClr val="EFF3EA"/>
                    </a:solidFill>
                  </a:tcPr>
                </a:tc>
                <a:tc>
                  <a:txBody>
                    <a:bodyPr/>
                    <a:lstStyle/>
                    <a:p>
                      <a:endParaRPr lang="fr-FR" sz="1100" dirty="0">
                        <a:effectLst/>
                      </a:endParaRPr>
                    </a:p>
                  </a:txBody>
                  <a:tcPr marL="54530" marR="54530" marT="27265" marB="27265" anchor="ctr">
                    <a:lnL w="8446" cap="flat" cmpd="sng" algn="ctr">
                      <a:solidFill>
                        <a:srgbClr val="000000"/>
                      </a:solidFill>
                      <a:prstDash val="solid"/>
                      <a:round/>
                      <a:headEnd type="none" w="med" len="med"/>
                      <a:tailEnd type="none" w="med" len="med"/>
                    </a:lnL>
                    <a:lnR w="8446" cap="flat" cmpd="sng" algn="ctr">
                      <a:solidFill>
                        <a:srgbClr val="000000"/>
                      </a:solidFill>
                      <a:prstDash val="solid"/>
                      <a:round/>
                      <a:headEnd type="none" w="med" len="med"/>
                      <a:tailEnd type="none" w="med" len="med"/>
                    </a:lnR>
                    <a:lnT w="8446" cap="flat" cmpd="sng" algn="ctr">
                      <a:solidFill>
                        <a:srgbClr val="000000"/>
                      </a:solidFill>
                      <a:prstDash val="solid"/>
                      <a:round/>
                      <a:headEnd type="none" w="med" len="med"/>
                      <a:tailEnd type="none" w="med" len="med"/>
                    </a:lnT>
                    <a:lnB w="8446" cap="flat" cmpd="sng" algn="ctr">
                      <a:solidFill>
                        <a:srgbClr val="000000"/>
                      </a:solidFill>
                      <a:prstDash val="solid"/>
                      <a:round/>
                      <a:headEnd type="none" w="med" len="med"/>
                      <a:tailEnd type="none" w="med" len="med"/>
                    </a:lnB>
                    <a:solidFill>
                      <a:srgbClr val="EFF3EA"/>
                    </a:solidFill>
                  </a:tcPr>
                </a:tc>
                <a:tc>
                  <a:txBody>
                    <a:bodyPr/>
                    <a:lstStyle/>
                    <a:p>
                      <a:r>
                        <a:rPr lang="fr-FR" sz="1400" dirty="0">
                          <a:effectLst/>
                        </a:rPr>
                        <a:t>Potentiel d’expansion au marché nationale </a:t>
                      </a:r>
                    </a:p>
                  </a:txBody>
                  <a:tcPr marL="54530" marR="54530" marT="27265" marB="27265" anchor="ctr">
                    <a:lnL w="8446" cap="flat" cmpd="sng" algn="ctr">
                      <a:solidFill>
                        <a:srgbClr val="000000"/>
                      </a:solidFill>
                      <a:prstDash val="solid"/>
                      <a:round/>
                      <a:headEnd type="none" w="med" len="med"/>
                      <a:tailEnd type="none" w="med" len="med"/>
                    </a:lnL>
                    <a:lnR w="8446" cap="flat" cmpd="sng" algn="ctr">
                      <a:solidFill>
                        <a:srgbClr val="000000"/>
                      </a:solidFill>
                      <a:prstDash val="solid"/>
                      <a:round/>
                      <a:headEnd type="none" w="med" len="med"/>
                      <a:tailEnd type="none" w="med" len="med"/>
                    </a:lnR>
                    <a:lnT w="8446" cap="flat" cmpd="sng" algn="ctr">
                      <a:solidFill>
                        <a:srgbClr val="000000"/>
                      </a:solidFill>
                      <a:prstDash val="solid"/>
                      <a:round/>
                      <a:headEnd type="none" w="med" len="med"/>
                      <a:tailEnd type="none" w="med" len="med"/>
                    </a:lnT>
                    <a:lnB w="8446" cap="flat" cmpd="sng" algn="ctr">
                      <a:solidFill>
                        <a:srgbClr val="000000"/>
                      </a:solidFill>
                      <a:prstDash val="solid"/>
                      <a:round/>
                      <a:headEnd type="none" w="med" len="med"/>
                      <a:tailEnd type="none" w="med" len="med"/>
                    </a:lnB>
                    <a:solidFill>
                      <a:srgbClr val="EFF3EA"/>
                    </a:solidFill>
                  </a:tcPr>
                </a:tc>
                <a:tc>
                  <a:txBody>
                    <a:bodyPr/>
                    <a:lstStyle/>
                    <a:p>
                      <a:endParaRPr lang="fr-FR" sz="1100" dirty="0">
                        <a:effectLst/>
                      </a:endParaRPr>
                    </a:p>
                  </a:txBody>
                  <a:tcPr marL="54530" marR="54530" marT="27265" marB="27265" anchor="ctr">
                    <a:lnL w="8446" cap="flat" cmpd="sng" algn="ctr">
                      <a:solidFill>
                        <a:srgbClr val="000000"/>
                      </a:solidFill>
                      <a:prstDash val="solid"/>
                      <a:round/>
                      <a:headEnd type="none" w="med" len="med"/>
                      <a:tailEnd type="none" w="med" len="med"/>
                    </a:lnL>
                    <a:lnR w="8446" cap="flat" cmpd="sng" algn="ctr">
                      <a:solidFill>
                        <a:srgbClr val="000000"/>
                      </a:solidFill>
                      <a:prstDash val="solid"/>
                      <a:round/>
                      <a:headEnd type="none" w="med" len="med"/>
                      <a:tailEnd type="none" w="med" len="med"/>
                    </a:lnR>
                    <a:lnT w="8446" cap="flat" cmpd="sng" algn="ctr">
                      <a:solidFill>
                        <a:srgbClr val="000000"/>
                      </a:solidFill>
                      <a:prstDash val="solid"/>
                      <a:round/>
                      <a:headEnd type="none" w="med" len="med"/>
                      <a:tailEnd type="none" w="med" len="med"/>
                    </a:lnT>
                    <a:lnB w="8446" cap="flat" cmpd="sng" algn="ctr">
                      <a:solidFill>
                        <a:srgbClr val="000000"/>
                      </a:solidFill>
                      <a:prstDash val="solid"/>
                      <a:round/>
                      <a:headEnd type="none" w="med" len="med"/>
                      <a:tailEnd type="none" w="med" len="med"/>
                    </a:lnB>
                    <a:solidFill>
                      <a:srgbClr val="EFF3EA"/>
                    </a:solidFill>
                  </a:tcPr>
                </a:tc>
                <a:extLst>
                  <a:ext uri="{0D108BD9-81ED-4DB2-BD59-A6C34878D82A}">
                    <a16:rowId xmlns:a16="http://schemas.microsoft.com/office/drawing/2014/main" xmlns="" val="1212069679"/>
                  </a:ext>
                </a:extLst>
              </a:tr>
            </a:tbl>
          </a:graphicData>
        </a:graphic>
      </p:graphicFrame>
      <p:sp>
        <p:nvSpPr>
          <p:cNvPr id="12" name="Rectangle 1">
            <a:extLst>
              <a:ext uri="{FF2B5EF4-FFF2-40B4-BE49-F238E27FC236}">
                <a16:creationId xmlns:a16="http://schemas.microsoft.com/office/drawing/2014/main" xmlns="" id="{7A436A42-530A-4E67-86C7-0B19C081A310}"/>
              </a:ext>
            </a:extLst>
          </p:cNvPr>
          <p:cNvSpPr>
            <a:spLocks noChangeArrowheads="1"/>
          </p:cNvSpPr>
          <p:nvPr/>
        </p:nvSpPr>
        <p:spPr bwMode="auto">
          <a:xfrm>
            <a:off x="2117725" y="1547812"/>
            <a:ext cx="55604788" cy="45719"/>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fr-FR"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AFAFA"/>
        </a:solidFill>
        <a:effectLst/>
      </p:bgPr>
    </p:bg>
    <p:spTree>
      <p:nvGrpSpPr>
        <p:cNvPr id="1" name=""/>
        <p:cNvGrpSpPr/>
        <p:nvPr/>
      </p:nvGrpSpPr>
      <p:grpSpPr>
        <a:xfrm>
          <a:off x="0" y="0"/>
          <a:ext cx="0" cy="0"/>
          <a:chOff x="0" y="0"/>
          <a:chExt cx="0" cy="0"/>
        </a:xfrm>
      </p:grpSpPr>
      <p:sp>
        <p:nvSpPr>
          <p:cNvPr id="2" name="Freeform 2"/>
          <p:cNvSpPr/>
          <p:nvPr/>
        </p:nvSpPr>
        <p:spPr>
          <a:xfrm rot="-1199392">
            <a:off x="7427971" y="5537399"/>
            <a:ext cx="13171332" cy="7441803"/>
          </a:xfrm>
          <a:custGeom>
            <a:avLst/>
            <a:gdLst/>
            <a:ahLst/>
            <a:cxnLst/>
            <a:rect l="l" t="t" r="r" b="b"/>
            <a:pathLst>
              <a:path w="13171332" h="7441803">
                <a:moveTo>
                  <a:pt x="0" y="0"/>
                </a:moveTo>
                <a:lnTo>
                  <a:pt x="13171333" y="0"/>
                </a:lnTo>
                <a:lnTo>
                  <a:pt x="13171333" y="7441802"/>
                </a:lnTo>
                <a:lnTo>
                  <a:pt x="0" y="7441802"/>
                </a:lnTo>
                <a:lnTo>
                  <a:pt x="0" y="0"/>
                </a:lnTo>
                <a:close/>
              </a:path>
            </a:pathLst>
          </a:custGeom>
          <a:blipFill>
            <a:blip r:embed="rId2">
              <a:alphaModFix amt="10999"/>
              <a:extLst>
                <a:ext uri="{96DAC541-7B7A-43D3-8B79-37D633B846F1}">
                  <asvg:svgBlip xmlns:asvg="http://schemas.microsoft.com/office/drawing/2016/SVG/main" xmlns="" r:embed="rId3"/>
                </a:ext>
              </a:extLst>
            </a:blip>
            <a:stretch>
              <a:fillRect/>
            </a:stretch>
          </a:blipFill>
        </p:spPr>
      </p:sp>
      <p:sp>
        <p:nvSpPr>
          <p:cNvPr id="3" name="TextBox 3"/>
          <p:cNvSpPr txBox="1"/>
          <p:nvPr/>
        </p:nvSpPr>
        <p:spPr>
          <a:xfrm>
            <a:off x="2129081" y="8769351"/>
            <a:ext cx="3240466" cy="309245"/>
          </a:xfrm>
          <a:prstGeom prst="rect">
            <a:avLst/>
          </a:prstGeom>
        </p:spPr>
        <p:txBody>
          <a:bodyPr lIns="0" tIns="0" rIns="0" bIns="0" rtlCol="0" anchor="t">
            <a:spAutoFit/>
          </a:bodyPr>
          <a:lstStyle/>
          <a:p>
            <a:pPr algn="l">
              <a:lnSpc>
                <a:spcPts val="2380"/>
              </a:lnSpc>
              <a:spcBef>
                <a:spcPct val="0"/>
              </a:spcBef>
            </a:pPr>
            <a:r>
              <a:rPr lang="en-US" sz="1700" dirty="0">
                <a:solidFill>
                  <a:srgbClr val="0D0A1E"/>
                </a:solidFill>
                <a:latin typeface="Telegraf"/>
                <a:ea typeface="Telegraf"/>
                <a:cs typeface="Telegraf"/>
                <a:sym typeface="Telegraf"/>
              </a:rPr>
              <a:t>ANALYSE DU MARCHÉ CIBLE</a:t>
            </a:r>
          </a:p>
        </p:txBody>
      </p:sp>
      <p:sp>
        <p:nvSpPr>
          <p:cNvPr id="4" name="AutoShape 4"/>
          <p:cNvSpPr/>
          <p:nvPr/>
        </p:nvSpPr>
        <p:spPr>
          <a:xfrm rot="5400000">
            <a:off x="1834638" y="8937626"/>
            <a:ext cx="317498" cy="0"/>
          </a:xfrm>
          <a:prstGeom prst="line">
            <a:avLst/>
          </a:prstGeom>
          <a:ln w="38100" cap="flat">
            <a:solidFill>
              <a:srgbClr val="9CC453"/>
            </a:solidFill>
            <a:prstDash val="solid"/>
            <a:headEnd type="none" w="sm" len="sm"/>
            <a:tailEnd type="none" w="sm" len="sm"/>
          </a:ln>
        </p:spPr>
      </p:sp>
      <p:sp>
        <p:nvSpPr>
          <p:cNvPr id="5" name="AutoShape 5"/>
          <p:cNvSpPr/>
          <p:nvPr/>
        </p:nvSpPr>
        <p:spPr>
          <a:xfrm>
            <a:off x="5369547" y="8952549"/>
            <a:ext cx="5000282" cy="0"/>
          </a:xfrm>
          <a:prstGeom prst="line">
            <a:avLst/>
          </a:prstGeom>
          <a:ln w="9525" cap="flat">
            <a:solidFill>
              <a:srgbClr val="000000"/>
            </a:solidFill>
            <a:prstDash val="solid"/>
            <a:headEnd type="none" w="sm" len="sm"/>
            <a:tailEnd type="none" w="sm" len="sm"/>
          </a:ln>
        </p:spPr>
      </p:sp>
      <p:grpSp>
        <p:nvGrpSpPr>
          <p:cNvPr id="6" name="Group 6"/>
          <p:cNvGrpSpPr/>
          <p:nvPr/>
        </p:nvGrpSpPr>
        <p:grpSpPr>
          <a:xfrm>
            <a:off x="1698525" y="768960"/>
            <a:ext cx="122392" cy="429165"/>
            <a:chOff x="0" y="0"/>
            <a:chExt cx="159850" cy="560512"/>
          </a:xfrm>
        </p:grpSpPr>
        <p:sp>
          <p:nvSpPr>
            <p:cNvPr id="7" name="Freeform 7"/>
            <p:cNvSpPr/>
            <p:nvPr/>
          </p:nvSpPr>
          <p:spPr>
            <a:xfrm>
              <a:off x="0" y="0"/>
              <a:ext cx="159850" cy="560512"/>
            </a:xfrm>
            <a:custGeom>
              <a:avLst/>
              <a:gdLst/>
              <a:ahLst/>
              <a:cxnLst/>
              <a:rect l="l" t="t" r="r" b="b"/>
              <a:pathLst>
                <a:path w="159850" h="560512">
                  <a:moveTo>
                    <a:pt x="0" y="0"/>
                  </a:moveTo>
                  <a:lnTo>
                    <a:pt x="159850" y="0"/>
                  </a:lnTo>
                  <a:lnTo>
                    <a:pt x="159850" y="560512"/>
                  </a:lnTo>
                  <a:lnTo>
                    <a:pt x="0" y="560512"/>
                  </a:lnTo>
                  <a:close/>
                </a:path>
              </a:pathLst>
            </a:custGeom>
            <a:solidFill>
              <a:srgbClr val="9CC453"/>
            </a:solidFill>
          </p:spPr>
        </p:sp>
        <p:sp>
          <p:nvSpPr>
            <p:cNvPr id="8" name="TextBox 8"/>
            <p:cNvSpPr txBox="1"/>
            <p:nvPr/>
          </p:nvSpPr>
          <p:spPr>
            <a:xfrm>
              <a:off x="0" y="-66675"/>
              <a:ext cx="159850" cy="627187"/>
            </a:xfrm>
            <a:prstGeom prst="rect">
              <a:avLst/>
            </a:prstGeom>
          </p:spPr>
          <p:txBody>
            <a:bodyPr lIns="50800" tIns="50800" rIns="50800" bIns="50800" rtlCol="0" anchor="ctr"/>
            <a:lstStyle/>
            <a:p>
              <a:pPr algn="ctr">
                <a:lnSpc>
                  <a:spcPts val="2520"/>
                </a:lnSpc>
              </a:pPr>
              <a:endParaRPr dirty="0"/>
            </a:p>
          </p:txBody>
        </p:sp>
      </p:grpSp>
      <p:sp>
        <p:nvSpPr>
          <p:cNvPr id="9" name="TextBox 9"/>
          <p:cNvSpPr txBox="1"/>
          <p:nvPr/>
        </p:nvSpPr>
        <p:spPr>
          <a:xfrm>
            <a:off x="1592900" y="8751571"/>
            <a:ext cx="381437" cy="335280"/>
          </a:xfrm>
          <a:prstGeom prst="rect">
            <a:avLst/>
          </a:prstGeom>
        </p:spPr>
        <p:txBody>
          <a:bodyPr lIns="0" tIns="0" rIns="0" bIns="0" rtlCol="0" anchor="t">
            <a:spAutoFit/>
          </a:bodyPr>
          <a:lstStyle/>
          <a:p>
            <a:pPr algn="just">
              <a:lnSpc>
                <a:spcPts val="2520"/>
              </a:lnSpc>
              <a:spcBef>
                <a:spcPct val="0"/>
              </a:spcBef>
            </a:pPr>
            <a:r>
              <a:rPr lang="en-US" sz="1800" b="1" dirty="0">
                <a:solidFill>
                  <a:srgbClr val="0D0A1E"/>
                </a:solidFill>
                <a:latin typeface="Telegraf Bold"/>
                <a:ea typeface="Telegraf Bold"/>
                <a:cs typeface="Telegraf Bold"/>
                <a:sym typeface="Telegraf Bold"/>
              </a:rPr>
              <a:t>13</a:t>
            </a:r>
          </a:p>
        </p:txBody>
      </p:sp>
      <p:sp>
        <p:nvSpPr>
          <p:cNvPr id="10" name="TextBox 10"/>
          <p:cNvSpPr txBox="1"/>
          <p:nvPr/>
        </p:nvSpPr>
        <p:spPr>
          <a:xfrm>
            <a:off x="1993387" y="549083"/>
            <a:ext cx="10878458" cy="1725930"/>
          </a:xfrm>
          <a:prstGeom prst="rect">
            <a:avLst/>
          </a:prstGeom>
        </p:spPr>
        <p:txBody>
          <a:bodyPr lIns="0" tIns="0" rIns="0" bIns="0" rtlCol="0" anchor="t">
            <a:spAutoFit/>
          </a:bodyPr>
          <a:lstStyle/>
          <a:p>
            <a:pPr algn="l">
              <a:lnSpc>
                <a:spcPts val="6719"/>
              </a:lnSpc>
            </a:pPr>
            <a:r>
              <a:rPr lang="en-US" sz="4800" b="1" dirty="0">
                <a:solidFill>
                  <a:srgbClr val="0D0A1E"/>
                </a:solidFill>
                <a:latin typeface="Telegraf Bold"/>
                <a:ea typeface="Telegraf Bold"/>
                <a:cs typeface="Telegraf Bold"/>
                <a:sym typeface="Telegraf Bold"/>
              </a:rPr>
              <a:t>ANALYSE DU MARCHÉ CIBLE</a:t>
            </a:r>
          </a:p>
          <a:p>
            <a:pPr algn="l">
              <a:lnSpc>
                <a:spcPts val="6719"/>
              </a:lnSpc>
              <a:spcBef>
                <a:spcPct val="0"/>
              </a:spcBef>
            </a:pPr>
            <a:endParaRPr lang="en-US" sz="4800" b="1" dirty="0">
              <a:solidFill>
                <a:srgbClr val="0D0A1E"/>
              </a:solidFill>
              <a:latin typeface="Telegraf Bold"/>
              <a:ea typeface="Telegraf Bold"/>
              <a:cs typeface="Telegraf Bold"/>
              <a:sym typeface="Telegraf Bold"/>
            </a:endParaRPr>
          </a:p>
        </p:txBody>
      </p:sp>
      <p:sp>
        <p:nvSpPr>
          <p:cNvPr id="11" name="TextBox 11"/>
          <p:cNvSpPr txBox="1"/>
          <p:nvPr/>
        </p:nvSpPr>
        <p:spPr>
          <a:xfrm>
            <a:off x="701042" y="2571898"/>
            <a:ext cx="16611598" cy="5143203"/>
          </a:xfrm>
          <a:prstGeom prst="rect">
            <a:avLst/>
          </a:prstGeom>
        </p:spPr>
        <p:txBody>
          <a:bodyPr wrap="square" lIns="0" tIns="0" rIns="0" bIns="0" rtlCol="0" anchor="t">
            <a:spAutoFit/>
          </a:bodyPr>
          <a:lstStyle/>
          <a:p>
            <a:pPr>
              <a:lnSpc>
                <a:spcPts val="3080"/>
              </a:lnSpc>
              <a:spcBef>
                <a:spcPct val="0"/>
              </a:spcBef>
            </a:pPr>
            <a:r>
              <a:rPr lang="fr-FR" sz="2200" dirty="0">
                <a:solidFill>
                  <a:srgbClr val="0D0A1E"/>
                </a:solidFill>
                <a:latin typeface="Telegraf"/>
              </a:rPr>
              <a:t/>
            </a:r>
            <a:br>
              <a:rPr lang="fr-FR" sz="2200" dirty="0">
                <a:solidFill>
                  <a:srgbClr val="0D0A1E"/>
                </a:solidFill>
                <a:latin typeface="Telegraf"/>
              </a:rPr>
            </a:br>
            <a:r>
              <a:rPr lang="fr-FR" sz="2200" dirty="0">
                <a:solidFill>
                  <a:srgbClr val="0D0A1E"/>
                </a:solidFill>
                <a:latin typeface="Telegraf"/>
              </a:rPr>
              <a:t> • Les petits agriculteurs à la recherche de main-d’œuvre, d’équipements, de pépinières et de services de conseil.</a:t>
            </a:r>
            <a:br>
              <a:rPr lang="fr-FR" sz="2200" dirty="0">
                <a:solidFill>
                  <a:srgbClr val="0D0A1E"/>
                </a:solidFill>
                <a:latin typeface="Telegraf"/>
              </a:rPr>
            </a:br>
            <a:r>
              <a:rPr lang="fr-FR" sz="2200" dirty="0">
                <a:solidFill>
                  <a:srgbClr val="0D0A1E"/>
                </a:solidFill>
                <a:latin typeface="Telegraf"/>
              </a:rPr>
              <a:t> • Les grands agriculteurs et exploitants souhaitant optimiser leurs opérations, réduire les coûts et développer l’exportation.</a:t>
            </a:r>
            <a:br>
              <a:rPr lang="fr-FR" sz="2200" dirty="0">
                <a:solidFill>
                  <a:srgbClr val="0D0A1E"/>
                </a:solidFill>
                <a:latin typeface="Telegraf"/>
              </a:rPr>
            </a:br>
            <a:r>
              <a:rPr lang="fr-FR" sz="2200" dirty="0">
                <a:solidFill>
                  <a:srgbClr val="0D0A1E"/>
                </a:solidFill>
                <a:latin typeface="Telegraf"/>
              </a:rPr>
              <a:t> • Les exploitations familiales ayant besoin de canaux de vente directe sans intermédiaires.</a:t>
            </a:r>
            <a:br>
              <a:rPr lang="fr-FR" sz="2200" dirty="0">
                <a:solidFill>
                  <a:srgbClr val="0D0A1E"/>
                </a:solidFill>
                <a:latin typeface="Telegraf"/>
              </a:rPr>
            </a:br>
            <a:r>
              <a:rPr lang="fr-FR" sz="2200" dirty="0">
                <a:solidFill>
                  <a:srgbClr val="0D0A1E"/>
                </a:solidFill>
                <a:latin typeface="Telegraf"/>
              </a:rPr>
              <a:t> • Les commerçants agricoles (grossistes et détaillants) achetant des produits frais.</a:t>
            </a:r>
            <a:br>
              <a:rPr lang="fr-FR" sz="2200" dirty="0">
                <a:solidFill>
                  <a:srgbClr val="0D0A1E"/>
                </a:solidFill>
                <a:latin typeface="Telegraf"/>
              </a:rPr>
            </a:br>
            <a:r>
              <a:rPr lang="fr-FR" sz="2200" dirty="0">
                <a:solidFill>
                  <a:srgbClr val="0D0A1E"/>
                </a:solidFill>
                <a:latin typeface="Telegraf"/>
              </a:rPr>
              <a:t> • Les fournisseurs de machines agricoles, d’intrants, d’engrais et de produits phytosanitaires cherchant à élargir leur réseau.</a:t>
            </a:r>
            <a:br>
              <a:rPr lang="fr-FR" sz="2200" dirty="0">
                <a:solidFill>
                  <a:srgbClr val="0D0A1E"/>
                </a:solidFill>
                <a:latin typeface="Telegraf"/>
              </a:rPr>
            </a:br>
            <a:r>
              <a:rPr lang="fr-FR" sz="2200" dirty="0">
                <a:solidFill>
                  <a:srgbClr val="0D0A1E"/>
                </a:solidFill>
                <a:latin typeface="Telegraf"/>
              </a:rPr>
              <a:t> • Les entreprises agricoles et coopératives intéressées par des solutions de coordination et de mutualisation de la production.</a:t>
            </a:r>
            <a:br>
              <a:rPr lang="fr-FR" sz="2200" dirty="0">
                <a:solidFill>
                  <a:srgbClr val="0D0A1E"/>
                </a:solidFill>
                <a:latin typeface="Telegraf"/>
              </a:rPr>
            </a:br>
            <a:r>
              <a:rPr lang="fr-FR" sz="2200" dirty="0">
                <a:solidFill>
                  <a:srgbClr val="0D0A1E"/>
                </a:solidFill>
                <a:latin typeface="Telegraf"/>
              </a:rPr>
              <a:t> • Les sociétés de transport et de logistique assurant la livraison des produits (camions standards ou réfrigérés).</a:t>
            </a:r>
            <a:br>
              <a:rPr lang="fr-FR" sz="2200" dirty="0">
                <a:solidFill>
                  <a:srgbClr val="0D0A1E"/>
                </a:solidFill>
                <a:latin typeface="Telegraf"/>
              </a:rPr>
            </a:br>
            <a:r>
              <a:rPr lang="fr-FR" sz="2200" dirty="0">
                <a:solidFill>
                  <a:srgbClr val="0D0A1E"/>
                </a:solidFill>
                <a:latin typeface="Telegraf"/>
              </a:rPr>
              <a:t> • La main-d’œuvre agricole qualifiée (taille, récolte, plantation, serres plastiques, aménagement paysager) utilisant la plateforme pour proposer leurs services.</a:t>
            </a:r>
            <a:br>
              <a:rPr lang="fr-FR" sz="2200" dirty="0">
                <a:solidFill>
                  <a:srgbClr val="0D0A1E"/>
                </a:solidFill>
                <a:latin typeface="Telegraf"/>
              </a:rPr>
            </a:br>
            <a:r>
              <a:rPr lang="fr-FR" sz="2200" dirty="0">
                <a:solidFill>
                  <a:srgbClr val="0D0A1E"/>
                </a:solidFill>
                <a:latin typeface="Telegraf"/>
              </a:rPr>
              <a:t> • Les investisseurs et exportateurs à la recherche d’opportunités vers les marchés africains et européens.</a:t>
            </a:r>
            <a:br>
              <a:rPr lang="fr-FR" sz="2200" dirty="0">
                <a:solidFill>
                  <a:srgbClr val="0D0A1E"/>
                </a:solidFill>
                <a:latin typeface="Telegraf"/>
              </a:rPr>
            </a:br>
            <a:r>
              <a:rPr lang="fr-FR" sz="2200" dirty="0">
                <a:solidFill>
                  <a:srgbClr val="0D0A1E"/>
                </a:solidFill>
                <a:latin typeface="Telegraf"/>
              </a:rPr>
              <a:t> • Les institutions publiques bénéficiant de données et de statistiques fiables pour réguler le marché.</a:t>
            </a:r>
            <a:br>
              <a:rPr lang="fr-FR" sz="2200" dirty="0">
                <a:solidFill>
                  <a:srgbClr val="0D0A1E"/>
                </a:solidFill>
                <a:latin typeface="Telegraf"/>
              </a:rPr>
            </a:br>
            <a:r>
              <a:rPr lang="fr-FR" sz="2200" dirty="0">
                <a:solidFill>
                  <a:srgbClr val="0D0A1E"/>
                </a:solidFill>
                <a:latin typeface="Telegraf"/>
              </a:rPr>
              <a:t> • Les consommateurs finaux qui accèdent à des produits de meilleure qualité à des prix équitables.</a:t>
            </a:r>
            <a:endParaRPr lang="en-US" sz="2200" dirty="0">
              <a:solidFill>
                <a:srgbClr val="0D0A1E"/>
              </a:solidFill>
              <a:latin typeface="Telegraf"/>
              <a:sym typeface="Telegraf"/>
            </a:endParaRPr>
          </a:p>
        </p:txBody>
      </p:sp>
      <p:sp>
        <p:nvSpPr>
          <p:cNvPr id="12" name="TextBox 12"/>
          <p:cNvSpPr txBox="1"/>
          <p:nvPr/>
        </p:nvSpPr>
        <p:spPr>
          <a:xfrm>
            <a:off x="975360" y="1476145"/>
            <a:ext cx="12200746" cy="2191361"/>
          </a:xfrm>
          <a:prstGeom prst="rect">
            <a:avLst/>
          </a:prstGeom>
        </p:spPr>
        <p:txBody>
          <a:bodyPr lIns="0" tIns="0" rIns="0" bIns="0" rtlCol="0" anchor="t">
            <a:spAutoFit/>
          </a:bodyPr>
          <a:lstStyle/>
          <a:p>
            <a:pPr algn="l">
              <a:lnSpc>
                <a:spcPts val="5741"/>
              </a:lnSpc>
            </a:pPr>
            <a:r>
              <a:rPr lang="fr-FR" sz="4100" b="1" dirty="0">
                <a:solidFill>
                  <a:srgbClr val="358F5C"/>
                </a:solidFill>
                <a:latin typeface="Telegraf Bold"/>
                <a:ea typeface="Telegraf Bold"/>
                <a:cs typeface="Telegraf Bold"/>
                <a:sym typeface="Telegraf Bold"/>
              </a:rPr>
              <a:t>La plateforme s’adresse à l’ensemble des acteurs du secteur agricole, en ciblant :</a:t>
            </a:r>
            <a:br>
              <a:rPr lang="fr-FR" sz="4100" b="1" dirty="0">
                <a:solidFill>
                  <a:srgbClr val="358F5C"/>
                </a:solidFill>
                <a:latin typeface="Telegraf Bold"/>
                <a:ea typeface="Telegraf Bold"/>
                <a:cs typeface="Telegraf Bold"/>
                <a:sym typeface="Telegraf Bold"/>
              </a:rPr>
            </a:br>
            <a:endParaRPr lang="en-US" sz="4100" b="1" dirty="0">
              <a:solidFill>
                <a:srgbClr val="358F5C"/>
              </a:solidFill>
              <a:latin typeface="Telegraf Bold"/>
              <a:ea typeface="Telegraf Bold"/>
              <a:cs typeface="Telegraf Bold"/>
              <a:sym typeface="Telegraf Bold"/>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rot="-1199392">
            <a:off x="10331475" y="4233622"/>
            <a:ext cx="13171332" cy="7441803"/>
          </a:xfrm>
          <a:custGeom>
            <a:avLst/>
            <a:gdLst/>
            <a:ahLst/>
            <a:cxnLst/>
            <a:rect l="l" t="t" r="r" b="b"/>
            <a:pathLst>
              <a:path w="13171332" h="7441803">
                <a:moveTo>
                  <a:pt x="0" y="0"/>
                </a:moveTo>
                <a:lnTo>
                  <a:pt x="13171332" y="0"/>
                </a:lnTo>
                <a:lnTo>
                  <a:pt x="13171332" y="7441802"/>
                </a:lnTo>
                <a:lnTo>
                  <a:pt x="0" y="7441802"/>
                </a:lnTo>
                <a:lnTo>
                  <a:pt x="0" y="0"/>
                </a:lnTo>
                <a:close/>
              </a:path>
            </a:pathLst>
          </a:custGeom>
          <a:blipFill>
            <a:blip r:embed="rId2">
              <a:alphaModFix amt="10999"/>
              <a:extLst>
                <a:ext uri="{96DAC541-7B7A-43D3-8B79-37D633B846F1}">
                  <asvg:svgBlip xmlns:asvg="http://schemas.microsoft.com/office/drawing/2016/SVG/main" xmlns="" r:embed="rId3"/>
                </a:ext>
              </a:extLst>
            </a:blip>
            <a:stretch>
              <a:fillRect/>
            </a:stretch>
          </a:blipFill>
        </p:spPr>
      </p:sp>
      <p:sp>
        <p:nvSpPr>
          <p:cNvPr id="3" name="TextBox 3"/>
          <p:cNvSpPr txBox="1"/>
          <p:nvPr/>
        </p:nvSpPr>
        <p:spPr>
          <a:xfrm>
            <a:off x="2215455" y="9629594"/>
            <a:ext cx="2631668" cy="309245"/>
          </a:xfrm>
          <a:prstGeom prst="rect">
            <a:avLst/>
          </a:prstGeom>
        </p:spPr>
        <p:txBody>
          <a:bodyPr lIns="0" tIns="0" rIns="0" bIns="0" rtlCol="0" anchor="t">
            <a:spAutoFit/>
          </a:bodyPr>
          <a:lstStyle/>
          <a:p>
            <a:pPr algn="l">
              <a:lnSpc>
                <a:spcPts val="2380"/>
              </a:lnSpc>
              <a:spcBef>
                <a:spcPct val="0"/>
              </a:spcBef>
            </a:pPr>
            <a:r>
              <a:rPr lang="en-US" sz="1700" dirty="0">
                <a:solidFill>
                  <a:srgbClr val="0D0A1E"/>
                </a:solidFill>
                <a:latin typeface="Telegraf"/>
                <a:ea typeface="Telegraf"/>
                <a:cs typeface="Telegraf"/>
                <a:sym typeface="Telegraf"/>
              </a:rPr>
              <a:t>MODÈLE ÉCONOMIQUE</a:t>
            </a:r>
          </a:p>
        </p:txBody>
      </p:sp>
      <p:sp>
        <p:nvSpPr>
          <p:cNvPr id="4" name="AutoShape 4"/>
          <p:cNvSpPr/>
          <p:nvPr/>
        </p:nvSpPr>
        <p:spPr>
          <a:xfrm>
            <a:off x="2079761" y="9658170"/>
            <a:ext cx="0" cy="317498"/>
          </a:xfrm>
          <a:prstGeom prst="line">
            <a:avLst/>
          </a:prstGeom>
          <a:ln w="38100" cap="flat">
            <a:solidFill>
              <a:srgbClr val="9CC453"/>
            </a:solidFill>
            <a:prstDash val="solid"/>
            <a:headEnd type="none" w="sm" len="sm"/>
            <a:tailEnd type="none" w="sm" len="sm"/>
          </a:ln>
        </p:spPr>
      </p:sp>
      <p:sp>
        <p:nvSpPr>
          <p:cNvPr id="5" name="AutoShape 5"/>
          <p:cNvSpPr/>
          <p:nvPr/>
        </p:nvSpPr>
        <p:spPr>
          <a:xfrm>
            <a:off x="4847123" y="9812792"/>
            <a:ext cx="11761603" cy="0"/>
          </a:xfrm>
          <a:prstGeom prst="line">
            <a:avLst/>
          </a:prstGeom>
          <a:ln w="9525" cap="flat">
            <a:solidFill>
              <a:srgbClr val="000000"/>
            </a:solidFill>
            <a:prstDash val="solid"/>
            <a:headEnd type="none" w="sm" len="sm"/>
            <a:tailEnd type="none" w="sm" len="sm"/>
          </a:ln>
        </p:spPr>
      </p:sp>
      <p:sp>
        <p:nvSpPr>
          <p:cNvPr id="12" name="TextBox 12"/>
          <p:cNvSpPr txBox="1"/>
          <p:nvPr/>
        </p:nvSpPr>
        <p:spPr>
          <a:xfrm>
            <a:off x="519128" y="-44626"/>
            <a:ext cx="12865663" cy="1512570"/>
          </a:xfrm>
          <a:prstGeom prst="rect">
            <a:avLst/>
          </a:prstGeom>
        </p:spPr>
        <p:txBody>
          <a:bodyPr lIns="0" tIns="0" rIns="0" bIns="0" rtlCol="0" anchor="t">
            <a:spAutoFit/>
          </a:bodyPr>
          <a:lstStyle/>
          <a:p>
            <a:pPr algn="l">
              <a:lnSpc>
                <a:spcPts val="5880"/>
              </a:lnSpc>
            </a:pPr>
            <a:r>
              <a:rPr lang="en-US" sz="3600" b="1" dirty="0">
                <a:solidFill>
                  <a:srgbClr val="0D0A1E"/>
                </a:solidFill>
                <a:latin typeface="Telegraf Bold"/>
                <a:ea typeface="Telegraf Bold"/>
                <a:cs typeface="Telegraf Bold"/>
                <a:sym typeface="Telegraf Bold"/>
              </a:rPr>
              <a:t>MODÈLE ÉCONOMIQUE (BUSINESS MODEL)</a:t>
            </a:r>
          </a:p>
          <a:p>
            <a:pPr algn="l">
              <a:lnSpc>
                <a:spcPts val="5880"/>
              </a:lnSpc>
              <a:spcBef>
                <a:spcPct val="0"/>
              </a:spcBef>
            </a:pPr>
            <a:endParaRPr lang="en-US" sz="4200" b="1" dirty="0">
              <a:solidFill>
                <a:srgbClr val="0D0A1E"/>
              </a:solidFill>
              <a:latin typeface="Telegraf Bold"/>
              <a:ea typeface="Telegraf Bold"/>
              <a:cs typeface="Telegraf Bold"/>
              <a:sym typeface="Telegraf Bold"/>
            </a:endParaRPr>
          </a:p>
        </p:txBody>
      </p:sp>
      <p:sp>
        <p:nvSpPr>
          <p:cNvPr id="13" name="TextBox 13"/>
          <p:cNvSpPr txBox="1"/>
          <p:nvPr/>
        </p:nvSpPr>
        <p:spPr>
          <a:xfrm>
            <a:off x="1679274" y="9611814"/>
            <a:ext cx="381437" cy="335280"/>
          </a:xfrm>
          <a:prstGeom prst="rect">
            <a:avLst/>
          </a:prstGeom>
        </p:spPr>
        <p:txBody>
          <a:bodyPr lIns="0" tIns="0" rIns="0" bIns="0" rtlCol="0" anchor="t">
            <a:spAutoFit/>
          </a:bodyPr>
          <a:lstStyle/>
          <a:p>
            <a:pPr algn="just">
              <a:lnSpc>
                <a:spcPts val="2520"/>
              </a:lnSpc>
              <a:spcBef>
                <a:spcPct val="0"/>
              </a:spcBef>
            </a:pPr>
            <a:r>
              <a:rPr lang="en-US" sz="1800" b="1" dirty="0">
                <a:solidFill>
                  <a:srgbClr val="0D0A1E"/>
                </a:solidFill>
                <a:latin typeface="Telegraf Bold"/>
                <a:ea typeface="Telegraf Bold"/>
                <a:cs typeface="Telegraf Bold"/>
                <a:sym typeface="Telegraf Bold"/>
              </a:rPr>
              <a:t>14</a:t>
            </a:r>
          </a:p>
        </p:txBody>
      </p:sp>
      <p:sp>
        <p:nvSpPr>
          <p:cNvPr id="15" name="TextBox 15"/>
          <p:cNvSpPr txBox="1"/>
          <p:nvPr/>
        </p:nvSpPr>
        <p:spPr>
          <a:xfrm>
            <a:off x="519128" y="568706"/>
            <a:ext cx="8593754" cy="1014705"/>
          </a:xfrm>
          <a:prstGeom prst="rect">
            <a:avLst/>
          </a:prstGeom>
        </p:spPr>
        <p:txBody>
          <a:bodyPr lIns="0" tIns="0" rIns="0" bIns="0" rtlCol="0" anchor="t">
            <a:spAutoFit/>
          </a:bodyPr>
          <a:lstStyle/>
          <a:p>
            <a:pPr marL="0" lvl="0" indent="0" algn="l">
              <a:lnSpc>
                <a:spcPts val="3921"/>
              </a:lnSpc>
              <a:spcBef>
                <a:spcPct val="0"/>
              </a:spcBef>
            </a:pPr>
            <a:r>
              <a:rPr lang="en-US" sz="2800" b="1" u="none" strike="noStrike" dirty="0">
                <a:solidFill>
                  <a:srgbClr val="358F5C"/>
                </a:solidFill>
                <a:latin typeface="Telegraf Bold"/>
                <a:ea typeface="Telegraf Bold"/>
                <a:cs typeface="Telegraf Bold"/>
                <a:sym typeface="Telegraf Bold"/>
              </a:rPr>
              <a:t>Notre plateforme génère ses revenus à travers plusieurs canaux complémentaires :</a:t>
            </a:r>
          </a:p>
        </p:txBody>
      </p:sp>
      <p:sp>
        <p:nvSpPr>
          <p:cNvPr id="20" name="TextBox 20"/>
          <p:cNvSpPr txBox="1"/>
          <p:nvPr/>
        </p:nvSpPr>
        <p:spPr>
          <a:xfrm>
            <a:off x="9312457" y="6056458"/>
            <a:ext cx="8463851" cy="372666"/>
          </a:xfrm>
          <a:prstGeom prst="rect">
            <a:avLst/>
          </a:prstGeom>
        </p:spPr>
        <p:txBody>
          <a:bodyPr wrap="square" lIns="0" tIns="0" rIns="0" bIns="0" rtlCol="0" anchor="t">
            <a:spAutoFit/>
          </a:bodyPr>
          <a:lstStyle/>
          <a:p>
            <a:pPr marL="0" lvl="0" indent="0" algn="l">
              <a:lnSpc>
                <a:spcPts val="3080"/>
              </a:lnSpc>
              <a:spcBef>
                <a:spcPct val="0"/>
              </a:spcBef>
            </a:pPr>
            <a:r>
              <a:rPr lang="en-US" sz="2200" u="none" strike="noStrike" dirty="0">
                <a:solidFill>
                  <a:srgbClr val="FFFFFF"/>
                </a:solidFill>
                <a:latin typeface="Telegraf"/>
                <a:ea typeface="Telegraf"/>
                <a:cs typeface="Telegraf"/>
                <a:sym typeface="Telegraf"/>
              </a:rPr>
              <a:t>.</a:t>
            </a:r>
          </a:p>
        </p:txBody>
      </p:sp>
      <p:sp>
        <p:nvSpPr>
          <p:cNvPr id="18" name="TextBox 8">
            <a:extLst>
              <a:ext uri="{FF2B5EF4-FFF2-40B4-BE49-F238E27FC236}">
                <a16:creationId xmlns:a16="http://schemas.microsoft.com/office/drawing/2014/main" xmlns="" id="{A30C261A-46A5-4A5E-8F32-100E56990D0F}"/>
              </a:ext>
            </a:extLst>
          </p:cNvPr>
          <p:cNvSpPr txBox="1"/>
          <p:nvPr/>
        </p:nvSpPr>
        <p:spPr>
          <a:xfrm>
            <a:off x="7315200" y="2229331"/>
            <a:ext cx="7525319" cy="1767193"/>
          </a:xfrm>
          <a:prstGeom prst="rect">
            <a:avLst/>
          </a:prstGeom>
        </p:spPr>
        <p:txBody>
          <a:bodyPr lIns="50800" tIns="50800" rIns="50800" bIns="50800" rtlCol="0" anchor="ctr"/>
          <a:lstStyle/>
          <a:p>
            <a:pPr algn="ctr">
              <a:lnSpc>
                <a:spcPts val="2520"/>
              </a:lnSpc>
            </a:pPr>
            <a:endParaRPr dirty="0"/>
          </a:p>
        </p:txBody>
      </p:sp>
      <p:grpSp>
        <p:nvGrpSpPr>
          <p:cNvPr id="23" name="Group 6">
            <a:extLst>
              <a:ext uri="{FF2B5EF4-FFF2-40B4-BE49-F238E27FC236}">
                <a16:creationId xmlns:a16="http://schemas.microsoft.com/office/drawing/2014/main" xmlns="" id="{C70C6754-E035-48B7-AFDD-225F3B45DBFE}"/>
              </a:ext>
            </a:extLst>
          </p:cNvPr>
          <p:cNvGrpSpPr/>
          <p:nvPr/>
        </p:nvGrpSpPr>
        <p:grpSpPr>
          <a:xfrm>
            <a:off x="646560" y="1781736"/>
            <a:ext cx="16879436" cy="7294304"/>
            <a:chOff x="0" y="0"/>
            <a:chExt cx="3212212" cy="897755"/>
          </a:xfrm>
        </p:grpSpPr>
        <p:sp>
          <p:nvSpPr>
            <p:cNvPr id="24" name="Freeform 7">
              <a:extLst>
                <a:ext uri="{FF2B5EF4-FFF2-40B4-BE49-F238E27FC236}">
                  <a16:creationId xmlns:a16="http://schemas.microsoft.com/office/drawing/2014/main" xmlns="" id="{52822723-C685-48EC-A063-93CDDB1C847A}"/>
                </a:ext>
              </a:extLst>
            </p:cNvPr>
            <p:cNvSpPr/>
            <p:nvPr/>
          </p:nvSpPr>
          <p:spPr>
            <a:xfrm>
              <a:off x="0" y="0"/>
              <a:ext cx="3212211" cy="897755"/>
            </a:xfrm>
            <a:custGeom>
              <a:avLst/>
              <a:gdLst/>
              <a:ahLst/>
              <a:cxnLst/>
              <a:rect l="l" t="t" r="r" b="b"/>
              <a:pathLst>
                <a:path w="3212211" h="897755">
                  <a:moveTo>
                    <a:pt x="32373" y="0"/>
                  </a:moveTo>
                  <a:lnTo>
                    <a:pt x="3179838" y="0"/>
                  </a:lnTo>
                  <a:cubicBezTo>
                    <a:pt x="3197717" y="0"/>
                    <a:pt x="3212211" y="14494"/>
                    <a:pt x="3212211" y="32373"/>
                  </a:cubicBezTo>
                  <a:lnTo>
                    <a:pt x="3212211" y="865381"/>
                  </a:lnTo>
                  <a:cubicBezTo>
                    <a:pt x="3212211" y="883261"/>
                    <a:pt x="3197717" y="897755"/>
                    <a:pt x="3179838" y="897755"/>
                  </a:cubicBezTo>
                  <a:lnTo>
                    <a:pt x="32373" y="897755"/>
                  </a:lnTo>
                  <a:cubicBezTo>
                    <a:pt x="23787" y="897755"/>
                    <a:pt x="15553" y="894344"/>
                    <a:pt x="9482" y="888273"/>
                  </a:cubicBezTo>
                  <a:cubicBezTo>
                    <a:pt x="3411" y="882202"/>
                    <a:pt x="0" y="873967"/>
                    <a:pt x="0" y="865381"/>
                  </a:cubicBezTo>
                  <a:lnTo>
                    <a:pt x="0" y="32373"/>
                  </a:lnTo>
                  <a:cubicBezTo>
                    <a:pt x="0" y="14494"/>
                    <a:pt x="14494" y="0"/>
                    <a:pt x="32373" y="0"/>
                  </a:cubicBezTo>
                  <a:close/>
                </a:path>
              </a:pathLst>
            </a:custGeom>
            <a:solidFill>
              <a:srgbClr val="CACACA"/>
            </a:solidFill>
          </p:spPr>
        </p:sp>
        <p:sp>
          <p:nvSpPr>
            <p:cNvPr id="25" name="TextBox 8">
              <a:extLst>
                <a:ext uri="{FF2B5EF4-FFF2-40B4-BE49-F238E27FC236}">
                  <a16:creationId xmlns:a16="http://schemas.microsoft.com/office/drawing/2014/main" xmlns="" id="{14959C64-9D2A-4338-A2F5-543750B1938D}"/>
                </a:ext>
              </a:extLst>
            </p:cNvPr>
            <p:cNvSpPr txBox="1"/>
            <p:nvPr/>
          </p:nvSpPr>
          <p:spPr>
            <a:xfrm>
              <a:off x="0" y="-66675"/>
              <a:ext cx="3212212" cy="964430"/>
            </a:xfrm>
            <a:prstGeom prst="rect">
              <a:avLst/>
            </a:prstGeom>
          </p:spPr>
          <p:txBody>
            <a:bodyPr lIns="50800" tIns="50800" rIns="50800" bIns="50800" rtlCol="0" anchor="ctr"/>
            <a:lstStyle/>
            <a:p>
              <a:pPr algn="ctr">
                <a:lnSpc>
                  <a:spcPts val="2520"/>
                </a:lnSpc>
              </a:pPr>
              <a:endParaRPr dirty="0"/>
            </a:p>
          </p:txBody>
        </p:sp>
      </p:grpSp>
      <p:sp>
        <p:nvSpPr>
          <p:cNvPr id="50" name="TextBox 49">
            <a:extLst>
              <a:ext uri="{FF2B5EF4-FFF2-40B4-BE49-F238E27FC236}">
                <a16:creationId xmlns:a16="http://schemas.microsoft.com/office/drawing/2014/main" xmlns="" id="{756030D6-AAD5-4F92-B515-F1ACD5443331}"/>
              </a:ext>
            </a:extLst>
          </p:cNvPr>
          <p:cNvSpPr txBox="1"/>
          <p:nvPr/>
        </p:nvSpPr>
        <p:spPr>
          <a:xfrm>
            <a:off x="744075" y="1834279"/>
            <a:ext cx="16781914" cy="7294305"/>
          </a:xfrm>
          <a:prstGeom prst="rect">
            <a:avLst/>
          </a:prstGeom>
          <a:noFill/>
        </p:spPr>
        <p:txBody>
          <a:bodyPr wrap="square">
            <a:spAutoFit/>
          </a:bodyPr>
          <a:lstStyle/>
          <a:p>
            <a:pPr>
              <a:buFont typeface="+mj-lt"/>
              <a:buAutoNum type="arabicPeriod"/>
            </a:pPr>
            <a:r>
              <a:rPr lang="fr-FR" b="1" dirty="0"/>
              <a:t>Abonnements</a:t>
            </a:r>
            <a:r>
              <a:rPr lang="fr-FR" dirty="0"/>
              <a:t/>
            </a:r>
            <a:br>
              <a:rPr lang="fr-FR" dirty="0"/>
            </a:br>
            <a:r>
              <a:rPr lang="fr-FR" dirty="0"/>
              <a:t>El Ghella offre un espace numérique aux experts agricoles, leur permettant de créer des profils professionnels sur la plateforme contre un abonnement mensuel fixe. Cela assure une source de revenus récurrents et stables.</a:t>
            </a:r>
          </a:p>
          <a:p>
            <a:pPr>
              <a:buFont typeface="+mj-lt"/>
              <a:buAutoNum type="arabicPeriod"/>
            </a:pPr>
            <a:r>
              <a:rPr lang="fr-FR" b="1" dirty="0"/>
              <a:t>Main-d’œuvre agricole saisonnière</a:t>
            </a:r>
            <a:r>
              <a:rPr lang="fr-FR" dirty="0"/>
              <a:t/>
            </a:r>
            <a:br>
              <a:rPr lang="fr-FR" dirty="0"/>
            </a:br>
            <a:r>
              <a:rPr lang="fr-FR" dirty="0"/>
              <a:t>El Ghella dispose de ses propres équipes de travail saisonnières, spécialisées dans des tâches comme la plantation, la récolte, l’irrigation, la taille et l’entretien des cultures. Le service est fourni directement aux agriculteurs, avec des tarifs définis, garantissant qualité et respect des délais.</a:t>
            </a:r>
          </a:p>
          <a:p>
            <a:pPr>
              <a:buFont typeface="+mj-lt"/>
              <a:buAutoNum type="arabicPeriod"/>
            </a:pPr>
            <a:r>
              <a:rPr lang="fr-FR" b="1" dirty="0"/>
              <a:t>Transport et livraison</a:t>
            </a:r>
            <a:r>
              <a:rPr lang="fr-FR" dirty="0"/>
              <a:t/>
            </a:r>
            <a:br>
              <a:rPr lang="fr-FR" dirty="0"/>
            </a:br>
            <a:r>
              <a:rPr lang="fr-FR" dirty="0"/>
              <a:t>El Ghella gère un réseau de transporteurs partenaires qui assurent le déplacement des produits agricoles depuis les exploitations jusqu’aux marchés, unités de stockage ou ports d’exportation. Le service est proposé directement, avec fiabilité et rapidité garanties.</a:t>
            </a:r>
          </a:p>
          <a:p>
            <a:pPr>
              <a:buFont typeface="+mj-lt"/>
              <a:buAutoNum type="arabicPeriod"/>
            </a:pPr>
            <a:r>
              <a:rPr lang="fr-FR" b="1" dirty="0"/>
              <a:t>Création de vergers</a:t>
            </a:r>
            <a:r>
              <a:rPr lang="fr-FR" dirty="0"/>
              <a:t/>
            </a:r>
            <a:br>
              <a:rPr lang="fr-FR" dirty="0"/>
            </a:br>
            <a:r>
              <a:rPr lang="fr-FR" dirty="0"/>
              <a:t>Un service destiné aux agriculteurs souhaitant investir dans les cultures arboricoles. El Ghella prend en charge l’intégralité du processus, de la plantation à la mise en production.</a:t>
            </a:r>
          </a:p>
          <a:p>
            <a:pPr>
              <a:buFont typeface="+mj-lt"/>
              <a:buAutoNum type="arabicPeriod"/>
            </a:pPr>
            <a:r>
              <a:rPr lang="fr-FR" b="1" dirty="0"/>
              <a:t>Serres agricoles (plastiques)</a:t>
            </a:r>
            <a:r>
              <a:rPr lang="fr-FR" dirty="0"/>
              <a:t/>
            </a:r>
            <a:br>
              <a:rPr lang="fr-FR" dirty="0"/>
            </a:br>
            <a:r>
              <a:rPr lang="fr-FR" dirty="0"/>
              <a:t>El Ghella propose des services de construction et d’équipement de serres agricoles, incluant l’infrastructure et les outils techniques nécessaires, afin d’augmenter la productivité.</a:t>
            </a:r>
          </a:p>
          <a:p>
            <a:pPr>
              <a:buFont typeface="+mj-lt"/>
              <a:buAutoNum type="arabicPeriod"/>
            </a:pPr>
            <a:r>
              <a:rPr lang="fr-FR" b="1" dirty="0"/>
              <a:t>Aménagement des espaces verts</a:t>
            </a:r>
            <a:r>
              <a:rPr lang="fr-FR" dirty="0"/>
              <a:t/>
            </a:r>
            <a:br>
              <a:rPr lang="fr-FR" dirty="0"/>
            </a:br>
            <a:r>
              <a:rPr lang="fr-FR" dirty="0"/>
              <a:t>Un service dédié aux particuliers et aux institutions, englobant la conception, la réalisation et l’entretien de jardins et d’espaces verts.</a:t>
            </a:r>
          </a:p>
          <a:p>
            <a:pPr>
              <a:buFont typeface="+mj-lt"/>
              <a:buAutoNum type="arabicPeriod"/>
            </a:pPr>
            <a:r>
              <a:rPr lang="fr-FR" b="1" dirty="0"/>
              <a:t>Services de conseil et d’analyses scientifiques</a:t>
            </a:r>
            <a:r>
              <a:rPr lang="fr-FR" dirty="0"/>
              <a:t/>
            </a:r>
            <a:br>
              <a:rPr lang="fr-FR" dirty="0"/>
            </a:br>
            <a:r>
              <a:rPr lang="fr-FR" dirty="0"/>
              <a:t>El Ghella s’appuie sur les technologies de télédétection et les images satellitaires pour réaliser des analyses précises des sols, de l’eau et des cultures. La plateforme fournit également des conseils spécialisés basés sur ces données, afin d’aider les agriculteurs et entreprises à prendre de meilleures décisions.</a:t>
            </a:r>
          </a:p>
          <a:p>
            <a:pPr>
              <a:buFont typeface="+mj-lt"/>
              <a:buAutoNum type="arabicPeriod"/>
            </a:pPr>
            <a:r>
              <a:rPr lang="fr-FR" b="1" dirty="0"/>
              <a:t>Accompagnement à l’export</a:t>
            </a:r>
            <a:r>
              <a:rPr lang="fr-FR" dirty="0"/>
              <a:t/>
            </a:r>
            <a:br>
              <a:rPr lang="fr-FR" dirty="0"/>
            </a:br>
            <a:r>
              <a:rPr lang="fr-FR" dirty="0"/>
              <a:t>El Ghella accompagne les producteurs souhaitant exporter leurs produits agricoles, en offrant un appui logistique, administratif et commercial. La plateforme perçoit une commission sur chaque opération.</a:t>
            </a:r>
          </a:p>
          <a:p>
            <a:pPr>
              <a:buFont typeface="+mj-lt"/>
              <a:buAutoNum type="arabicPeriod"/>
            </a:pPr>
            <a:r>
              <a:rPr lang="fr-FR" b="1" dirty="0"/>
              <a:t>Publicité</a:t>
            </a:r>
            <a:r>
              <a:rPr lang="fr-FR" dirty="0"/>
              <a:t/>
            </a:r>
            <a:br>
              <a:rPr lang="fr-FR" dirty="0"/>
            </a:br>
            <a:r>
              <a:rPr lang="fr-FR" dirty="0"/>
              <a:t>La plateforme met à disposition des espaces publicitaires pour les marques, entreprises agricoles et fournisseurs afin de promouvoir leurs produits et services.</a:t>
            </a:r>
          </a:p>
          <a:p>
            <a:pPr>
              <a:buFont typeface="+mj-lt"/>
              <a:buAutoNum type="arabicPeriod"/>
            </a:pPr>
            <a:r>
              <a:rPr lang="fr-FR" b="1" dirty="0"/>
              <a:t>Offres spéciales et partenariats</a:t>
            </a:r>
            <a:r>
              <a:rPr lang="fr-FR" dirty="0"/>
              <a:t/>
            </a:r>
            <a:br>
              <a:rPr lang="fr-FR" dirty="0"/>
            </a:br>
            <a:r>
              <a:rPr lang="fr-FR" dirty="0"/>
              <a:t>El Ghella propose des formules spéciales aux entreprises et institutions, en les connectant directement aux agriculteurs et clients, et en percevant une commission ou un pourcentage sur chaque service.</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rot="-1199392">
            <a:off x="11913439" y="5537399"/>
            <a:ext cx="13171332" cy="7441803"/>
          </a:xfrm>
          <a:custGeom>
            <a:avLst/>
            <a:gdLst/>
            <a:ahLst/>
            <a:cxnLst/>
            <a:rect l="l" t="t" r="r" b="b"/>
            <a:pathLst>
              <a:path w="13171332" h="7441803">
                <a:moveTo>
                  <a:pt x="0" y="0"/>
                </a:moveTo>
                <a:lnTo>
                  <a:pt x="13171332" y="0"/>
                </a:lnTo>
                <a:lnTo>
                  <a:pt x="13171332" y="7441802"/>
                </a:lnTo>
                <a:lnTo>
                  <a:pt x="0" y="7441802"/>
                </a:lnTo>
                <a:lnTo>
                  <a:pt x="0" y="0"/>
                </a:lnTo>
                <a:close/>
              </a:path>
            </a:pathLst>
          </a:custGeom>
          <a:blipFill>
            <a:blip r:embed="rId2">
              <a:alphaModFix amt="10999"/>
              <a:extLst>
                <a:ext uri="{96DAC541-7B7A-43D3-8B79-37D633B846F1}">
                  <asvg:svgBlip xmlns:asvg="http://schemas.microsoft.com/office/drawing/2016/SVG/main" xmlns="" r:embed="rId3"/>
                </a:ext>
              </a:extLst>
            </a:blip>
            <a:stretch>
              <a:fillRect/>
            </a:stretch>
          </a:blipFill>
        </p:spPr>
      </p:sp>
      <p:sp>
        <p:nvSpPr>
          <p:cNvPr id="3" name="TextBox 3"/>
          <p:cNvSpPr txBox="1"/>
          <p:nvPr/>
        </p:nvSpPr>
        <p:spPr>
          <a:xfrm>
            <a:off x="2215455" y="9629594"/>
            <a:ext cx="2631668" cy="309245"/>
          </a:xfrm>
          <a:prstGeom prst="rect">
            <a:avLst/>
          </a:prstGeom>
        </p:spPr>
        <p:txBody>
          <a:bodyPr lIns="0" tIns="0" rIns="0" bIns="0" rtlCol="0" anchor="t">
            <a:spAutoFit/>
          </a:bodyPr>
          <a:lstStyle/>
          <a:p>
            <a:pPr algn="l">
              <a:lnSpc>
                <a:spcPts val="2380"/>
              </a:lnSpc>
              <a:spcBef>
                <a:spcPct val="0"/>
              </a:spcBef>
            </a:pPr>
            <a:r>
              <a:rPr lang="en-US" sz="1700" dirty="0">
                <a:solidFill>
                  <a:srgbClr val="0D0A1E"/>
                </a:solidFill>
                <a:latin typeface="Telegraf"/>
                <a:ea typeface="Telegraf"/>
                <a:cs typeface="Telegraf"/>
                <a:sym typeface="Telegraf"/>
              </a:rPr>
              <a:t>MODÈLE ÉCONOMIQUE</a:t>
            </a:r>
          </a:p>
        </p:txBody>
      </p:sp>
      <p:sp>
        <p:nvSpPr>
          <p:cNvPr id="4" name="AutoShape 4"/>
          <p:cNvSpPr/>
          <p:nvPr/>
        </p:nvSpPr>
        <p:spPr>
          <a:xfrm>
            <a:off x="2079761" y="9658170"/>
            <a:ext cx="0" cy="317498"/>
          </a:xfrm>
          <a:prstGeom prst="line">
            <a:avLst/>
          </a:prstGeom>
          <a:ln w="38100" cap="flat">
            <a:solidFill>
              <a:srgbClr val="9CC453"/>
            </a:solidFill>
            <a:prstDash val="solid"/>
            <a:headEnd type="none" w="sm" len="sm"/>
            <a:tailEnd type="none" w="sm" len="sm"/>
          </a:ln>
        </p:spPr>
      </p:sp>
      <p:sp>
        <p:nvSpPr>
          <p:cNvPr id="5" name="AutoShape 5"/>
          <p:cNvSpPr/>
          <p:nvPr/>
        </p:nvSpPr>
        <p:spPr>
          <a:xfrm>
            <a:off x="4847123" y="9812792"/>
            <a:ext cx="11761603" cy="0"/>
          </a:xfrm>
          <a:prstGeom prst="line">
            <a:avLst/>
          </a:prstGeom>
          <a:ln w="9525" cap="flat">
            <a:solidFill>
              <a:srgbClr val="000000"/>
            </a:solidFill>
            <a:prstDash val="solid"/>
            <a:headEnd type="none" w="sm" len="sm"/>
            <a:tailEnd type="none" w="sm" len="sm"/>
          </a:ln>
        </p:spPr>
      </p:sp>
      <p:sp>
        <p:nvSpPr>
          <p:cNvPr id="13" name="TextBox 13"/>
          <p:cNvSpPr txBox="1"/>
          <p:nvPr/>
        </p:nvSpPr>
        <p:spPr>
          <a:xfrm>
            <a:off x="1679274" y="9611814"/>
            <a:ext cx="381437" cy="301365"/>
          </a:xfrm>
          <a:prstGeom prst="rect">
            <a:avLst/>
          </a:prstGeom>
        </p:spPr>
        <p:txBody>
          <a:bodyPr lIns="0" tIns="0" rIns="0" bIns="0" rtlCol="0" anchor="t">
            <a:spAutoFit/>
          </a:bodyPr>
          <a:lstStyle/>
          <a:p>
            <a:pPr algn="just">
              <a:lnSpc>
                <a:spcPts val="2520"/>
              </a:lnSpc>
              <a:spcBef>
                <a:spcPct val="0"/>
              </a:spcBef>
            </a:pPr>
            <a:r>
              <a:rPr lang="en-US" sz="1800" b="1" dirty="0">
                <a:solidFill>
                  <a:srgbClr val="0D0A1E"/>
                </a:solidFill>
                <a:latin typeface="Telegraf Bold"/>
                <a:ea typeface="Telegraf Bold"/>
                <a:cs typeface="Telegraf Bold"/>
                <a:sym typeface="Telegraf Bold"/>
              </a:rPr>
              <a:t>15</a:t>
            </a:r>
          </a:p>
        </p:txBody>
      </p:sp>
      <p:sp>
        <p:nvSpPr>
          <p:cNvPr id="14" name="TextBox 14"/>
          <p:cNvSpPr txBox="1"/>
          <p:nvPr/>
        </p:nvSpPr>
        <p:spPr>
          <a:xfrm>
            <a:off x="2889699" y="2459741"/>
            <a:ext cx="12020009" cy="770211"/>
          </a:xfrm>
          <a:prstGeom prst="rect">
            <a:avLst/>
          </a:prstGeom>
        </p:spPr>
        <p:txBody>
          <a:bodyPr lIns="0" tIns="0" rIns="0" bIns="0" rtlCol="0" anchor="t">
            <a:spAutoFit/>
          </a:bodyPr>
          <a:lstStyle/>
          <a:p>
            <a:pPr marL="0" lvl="0" indent="0" algn="l">
              <a:lnSpc>
                <a:spcPts val="3080"/>
              </a:lnSpc>
              <a:spcBef>
                <a:spcPct val="0"/>
              </a:spcBef>
            </a:pPr>
            <a:r>
              <a:rPr lang="en-US" sz="2200" u="none" strike="noStrike" dirty="0">
                <a:solidFill>
                  <a:srgbClr val="0D0A1E"/>
                </a:solidFill>
                <a:latin typeface="Telegraf"/>
                <a:ea typeface="Telegraf"/>
                <a:cs typeface="Telegraf"/>
                <a:sym typeface="Telegraf"/>
              </a:rPr>
              <a:t>.</a:t>
            </a:r>
          </a:p>
          <a:p>
            <a:pPr marL="0" lvl="0" indent="0" algn="l">
              <a:lnSpc>
                <a:spcPts val="3080"/>
              </a:lnSpc>
              <a:spcBef>
                <a:spcPct val="0"/>
              </a:spcBef>
            </a:pPr>
            <a:endParaRPr lang="en-US" sz="2200" u="none" strike="noStrike" dirty="0">
              <a:solidFill>
                <a:srgbClr val="0D0A1E"/>
              </a:solidFill>
              <a:latin typeface="Telegraf"/>
              <a:ea typeface="Telegraf"/>
              <a:cs typeface="Telegraf"/>
              <a:sym typeface="Telegraf"/>
            </a:endParaRPr>
          </a:p>
        </p:txBody>
      </p:sp>
      <p:sp>
        <p:nvSpPr>
          <p:cNvPr id="21" name="Rectangle 1">
            <a:extLst>
              <a:ext uri="{FF2B5EF4-FFF2-40B4-BE49-F238E27FC236}">
                <a16:creationId xmlns:a16="http://schemas.microsoft.com/office/drawing/2014/main" xmlns="" id="{58BD7A72-F1AE-4AA3-BE9C-6730D9875BBD}"/>
              </a:ext>
            </a:extLst>
          </p:cNvPr>
          <p:cNvSpPr>
            <a:spLocks noChangeArrowheads="1"/>
          </p:cNvSpPr>
          <p:nvPr/>
        </p:nvSpPr>
        <p:spPr bwMode="auto">
          <a:xfrm>
            <a:off x="0" y="-184666"/>
            <a:ext cx="184731" cy="369332"/>
          </a:xfrm>
          <a:prstGeom prst="rect">
            <a:avLst/>
          </a:prstGeom>
          <a:solidFill>
            <a:srgbClr val="212121"/>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fr-FR" altLang="fr-FR" sz="1800" b="0" i="0" u="none" strike="noStrike" cap="none" normalizeH="0" baseline="0" dirty="0">
              <a:ln>
                <a:noFill/>
              </a:ln>
              <a:solidFill>
                <a:schemeClr val="tx1"/>
              </a:solidFill>
              <a:effectLst/>
              <a:latin typeface="Arial" panose="020B0604020202020204" pitchFamily="34" charset="0"/>
            </a:endParaRPr>
          </a:p>
        </p:txBody>
      </p:sp>
      <p:graphicFrame>
        <p:nvGraphicFramePr>
          <p:cNvPr id="29" name="Table 29">
            <a:extLst>
              <a:ext uri="{FF2B5EF4-FFF2-40B4-BE49-F238E27FC236}">
                <a16:creationId xmlns:a16="http://schemas.microsoft.com/office/drawing/2014/main" xmlns="" id="{FFCE7D08-0D04-44E0-9AAD-B7B2F93C121E}"/>
              </a:ext>
            </a:extLst>
          </p:cNvPr>
          <p:cNvGraphicFramePr>
            <a:graphicFrameLocks noGrp="1"/>
          </p:cNvGraphicFramePr>
          <p:nvPr>
            <p:extLst>
              <p:ext uri="{D42A27DB-BD31-4B8C-83A1-F6EECF244321}">
                <p14:modId xmlns:p14="http://schemas.microsoft.com/office/powerpoint/2010/main" xmlns="" val="2969352086"/>
              </p:ext>
            </p:extLst>
          </p:nvPr>
        </p:nvGraphicFramePr>
        <p:xfrm>
          <a:off x="1438799" y="1336168"/>
          <a:ext cx="14921808" cy="7614663"/>
        </p:xfrm>
        <a:graphic>
          <a:graphicData uri="http://schemas.openxmlformats.org/drawingml/2006/table">
            <a:tbl>
              <a:tblPr firstRow="1" bandRow="1">
                <a:tableStyleId>{F5AB1C69-6EDB-4FF4-983F-18BD219EF322}</a:tableStyleId>
              </a:tblPr>
              <a:tblGrid>
                <a:gridCol w="2486968">
                  <a:extLst>
                    <a:ext uri="{9D8B030D-6E8A-4147-A177-3AD203B41FA5}">
                      <a16:colId xmlns:a16="http://schemas.microsoft.com/office/drawing/2014/main" xmlns="" val="2324383887"/>
                    </a:ext>
                  </a:extLst>
                </a:gridCol>
                <a:gridCol w="2486968">
                  <a:extLst>
                    <a:ext uri="{9D8B030D-6E8A-4147-A177-3AD203B41FA5}">
                      <a16:colId xmlns:a16="http://schemas.microsoft.com/office/drawing/2014/main" xmlns="" val="1090384067"/>
                    </a:ext>
                  </a:extLst>
                </a:gridCol>
                <a:gridCol w="2486968">
                  <a:extLst>
                    <a:ext uri="{9D8B030D-6E8A-4147-A177-3AD203B41FA5}">
                      <a16:colId xmlns:a16="http://schemas.microsoft.com/office/drawing/2014/main" xmlns="" val="3767475152"/>
                    </a:ext>
                  </a:extLst>
                </a:gridCol>
                <a:gridCol w="2486968">
                  <a:extLst>
                    <a:ext uri="{9D8B030D-6E8A-4147-A177-3AD203B41FA5}">
                      <a16:colId xmlns:a16="http://schemas.microsoft.com/office/drawing/2014/main" xmlns="" val="1853201743"/>
                    </a:ext>
                  </a:extLst>
                </a:gridCol>
                <a:gridCol w="2486968">
                  <a:extLst>
                    <a:ext uri="{9D8B030D-6E8A-4147-A177-3AD203B41FA5}">
                      <a16:colId xmlns:a16="http://schemas.microsoft.com/office/drawing/2014/main" xmlns="" val="1190926173"/>
                    </a:ext>
                  </a:extLst>
                </a:gridCol>
                <a:gridCol w="2486968">
                  <a:extLst>
                    <a:ext uri="{9D8B030D-6E8A-4147-A177-3AD203B41FA5}">
                      <a16:colId xmlns:a16="http://schemas.microsoft.com/office/drawing/2014/main" xmlns="" val="3388115079"/>
                    </a:ext>
                  </a:extLst>
                </a:gridCol>
              </a:tblGrid>
              <a:tr h="844268">
                <a:tc>
                  <a:txBody>
                    <a:bodyPr/>
                    <a:lstStyle/>
                    <a:p>
                      <a:r>
                        <a:rPr lang="fr-FR" dirty="0"/>
                        <a:t>Service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fr-FR" dirty="0"/>
                        <a:t>Tarif (DA)</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fr-FR" dirty="0"/>
                        <a:t>Clients Pessimiste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fr-FR" dirty="0"/>
                        <a:t>Clients Optimiste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fr-FR" dirty="0"/>
                        <a:t>Revenus Pessimiste (DA)</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fr-FR" dirty="0"/>
                        <a:t>Revenus Optimiste (DA)</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2090547281"/>
                  </a:ext>
                </a:extLst>
              </a:tr>
              <a:tr h="844268">
                <a:tc>
                  <a:txBody>
                    <a:bodyPr/>
                    <a:lstStyle/>
                    <a:p>
                      <a:r>
                        <a:rPr lang="fr-FR" dirty="0"/>
                        <a:t>Consultations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fr-FR" dirty="0"/>
                        <a:t>6,000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fr-FR" dirty="0"/>
                        <a:t>60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fr-FR" dirty="0"/>
                        <a:t>180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fr-FR" dirty="0"/>
                        <a:t>360,000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fr-FR" dirty="0"/>
                        <a:t>1,080,000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295709527"/>
                  </a:ext>
                </a:extLst>
              </a:tr>
              <a:tr h="590987">
                <a:tc>
                  <a:txBody>
                    <a:bodyPr/>
                    <a:lstStyle/>
                    <a:p>
                      <a:r>
                        <a:rPr lang="fr-FR" dirty="0"/>
                        <a:t>Main d'œuvre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fr-FR" dirty="0"/>
                        <a:t>80,000 – 300,000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fr-FR" dirty="0"/>
                        <a:t>10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fr-FR" dirty="0"/>
                        <a:t>24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fr-FR" dirty="0"/>
                        <a:t>800,000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fr-FR" dirty="0"/>
                        <a:t>7,200,000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2231108817"/>
                  </a:ext>
                </a:extLst>
              </a:tr>
              <a:tr h="720299">
                <a:tc>
                  <a:txBody>
                    <a:bodyPr/>
                    <a:lstStyle/>
                    <a:p>
                      <a:r>
                        <a:rPr lang="fr-FR" dirty="0"/>
                        <a:t>Création de vergers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fr-FR" dirty="0"/>
                        <a:t>350/m² (1000 m²)</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fr-FR" dirty="0"/>
                        <a:t>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fr-FR" dirty="0"/>
                        <a:t>14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fr-FR" dirty="0"/>
                        <a:t>1,400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fr-FR" dirty="0"/>
                        <a:t>4,900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2160110290"/>
                  </a:ext>
                </a:extLst>
              </a:tr>
              <a:tr h="590987">
                <a:tc>
                  <a:txBody>
                    <a:bodyPr/>
                    <a:lstStyle/>
                    <a:p>
                      <a:r>
                        <a:rPr lang="fr-FR" dirty="0"/>
                        <a:t>Serres plastiques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fr-FR" dirty="0"/>
                        <a:t>120,000 – 300,000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fr-FR" dirty="0"/>
                        <a:t>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fr-FR" dirty="0"/>
                        <a:t>10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fr-FR" dirty="0"/>
                        <a:t>480,000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fr-FR" dirty="0"/>
                        <a:t>3,000,000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3172905007"/>
                  </a:ext>
                </a:extLst>
              </a:tr>
              <a:tr h="590987">
                <a:tc>
                  <a:txBody>
                    <a:bodyPr/>
                    <a:lstStyle/>
                    <a:p>
                      <a:r>
                        <a:rPr lang="fr-FR" dirty="0"/>
                        <a:t>Aménagement des espaces verts</a:t>
                      </a:r>
                      <a:endParaRPr lang="ar-SA"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fr-FR" dirty="0"/>
                        <a:t>120,000 – 450,000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fr-FR" dirty="0"/>
                        <a:t>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fr-FR" dirty="0"/>
                        <a:t>24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fr-FR" dirty="0"/>
                        <a:t>720,000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fr-FR" dirty="0"/>
                        <a:t>10,800,000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1490478043"/>
                  </a:ext>
                </a:extLst>
              </a:tr>
              <a:tr h="504209">
                <a:tc>
                  <a:txBody>
                    <a:bodyPr/>
                    <a:lstStyle/>
                    <a:p>
                      <a:r>
                        <a:rPr lang="fr-FR" dirty="0"/>
                        <a:t>Transport et livraison</a:t>
                      </a:r>
                      <a:endParaRPr lang="ar-SA"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fr-FR" dirty="0"/>
                        <a:t>10% (~14,500)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fr-FR" dirty="0"/>
                        <a:t>10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fr-FR" dirty="0"/>
                        <a:t>23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fr-FR" dirty="0"/>
                        <a:t>145,000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fr-FR" dirty="0"/>
                        <a:t>333,500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3547784442"/>
                  </a:ext>
                </a:extLst>
              </a:tr>
              <a:tr h="590987">
                <a:tc>
                  <a:txBody>
                    <a:bodyPr/>
                    <a:lstStyle/>
                    <a:p>
                      <a:r>
                        <a:rPr lang="fr-FR" dirty="0"/>
                        <a:t>Accompagnement à l’export</a:t>
                      </a:r>
                      <a:endParaRPr lang="ar-SA"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fr-FR" dirty="0"/>
                        <a:t>20% (~500,000)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fr-FR" dirty="0"/>
                        <a:t>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fr-FR" dirty="0"/>
                        <a:t>7</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fr-FR" dirty="0"/>
                        <a:t>200,000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fr-FR" dirty="0"/>
                        <a:t>700,000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3210735758"/>
                  </a:ext>
                </a:extLst>
              </a:tr>
              <a:tr h="504209">
                <a:tc>
                  <a:txBody>
                    <a:bodyPr/>
                    <a:lstStyle/>
                    <a:p>
                      <a:r>
                        <a:rPr lang="fr-FR" dirty="0"/>
                        <a:t>Publicités </a:t>
                      </a:r>
                      <a:endParaRPr lang="ar-SA"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fr-FR" dirty="0"/>
                        <a:t>150,000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fr-FR" dirty="0"/>
                        <a:t>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fr-FR" dirty="0"/>
                        <a:t>30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fr-FR" dirty="0"/>
                        <a:t>600,000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fr-FR" dirty="0"/>
                        <a:t>4,500,000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2138389350"/>
                  </a:ext>
                </a:extLst>
              </a:tr>
              <a:tr h="590987">
                <a:tc>
                  <a:txBody>
                    <a:bodyPr/>
                    <a:lstStyle/>
                    <a:p>
                      <a:r>
                        <a:rPr lang="fr-FR" dirty="0"/>
                        <a:t>Offres spéciales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fr-FR" dirty="0"/>
                        <a:t>10,000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fr-FR" dirty="0"/>
                        <a:t>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fr-FR" dirty="0"/>
                        <a:t>30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fr-FR" dirty="0"/>
                        <a:t>40,000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fr-FR" dirty="0"/>
                        <a:t>300,000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2803378827"/>
                  </a:ext>
                </a:extLst>
              </a:tr>
              <a:tr h="391791">
                <a:tc>
                  <a:txBody>
                    <a:bodyPr/>
                    <a:lstStyle/>
                    <a:p>
                      <a:r>
                        <a:rPr lang="fr-FR" dirty="0"/>
                        <a:t>Abonnements des experts </a:t>
                      </a:r>
                      <a:endParaRPr lang="ar-SA"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fr-FR" dirty="0"/>
                        <a:t>3,000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fr-FR" dirty="0"/>
                        <a:t>30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fr-FR" dirty="0"/>
                        <a:t>150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fr-FR" dirty="0"/>
                        <a:t>90,000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fr-FR" dirty="0"/>
                        <a:t>450,000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3059918990"/>
                  </a:ext>
                </a:extLst>
              </a:tr>
              <a:tr h="504209">
                <a:tc>
                  <a:txBody>
                    <a:bodyPr/>
                    <a:lstStyle/>
                    <a:p>
                      <a:r>
                        <a:rPr lang="fr-FR" b="1" dirty="0"/>
                        <a:t>TOTAL</a:t>
                      </a:r>
                      <a:endParaRPr lang="fr-FR"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fr-FR" dirty="0"/>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fr-FR" b="1" dirty="0"/>
                        <a:t>134</a:t>
                      </a:r>
                      <a:endParaRPr lang="fr-FR"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fr-FR" b="1" dirty="0"/>
                        <a:t>492</a:t>
                      </a:r>
                      <a:endParaRPr lang="fr-FR"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fr-FR" b="1" dirty="0"/>
                        <a:t>3,436,400</a:t>
                      </a:r>
                      <a:endParaRPr lang="fr-FR"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fr-FR" b="1" dirty="0"/>
                        <a:t>28,368,400</a:t>
                      </a:r>
                      <a:endParaRPr lang="fr-FR"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2993975054"/>
                  </a:ext>
                </a:extLst>
              </a:tr>
            </a:tbl>
          </a:graphicData>
        </a:graphic>
      </p:graphicFrame>
      <p:sp>
        <p:nvSpPr>
          <p:cNvPr id="11" name="TextBox 10">
            <a:extLst>
              <a:ext uri="{FF2B5EF4-FFF2-40B4-BE49-F238E27FC236}">
                <a16:creationId xmlns:a16="http://schemas.microsoft.com/office/drawing/2014/main" xmlns="" id="{F5D4C42C-76D0-499E-8403-F447C2F24DD7}"/>
              </a:ext>
            </a:extLst>
          </p:cNvPr>
          <p:cNvSpPr txBox="1"/>
          <p:nvPr/>
        </p:nvSpPr>
        <p:spPr>
          <a:xfrm>
            <a:off x="914400" y="474207"/>
            <a:ext cx="12980894" cy="548676"/>
          </a:xfrm>
          <a:prstGeom prst="rect">
            <a:avLst/>
          </a:prstGeom>
          <a:noFill/>
        </p:spPr>
        <p:txBody>
          <a:bodyPr wrap="square">
            <a:spAutoFit/>
          </a:bodyPr>
          <a:lstStyle/>
          <a:p>
            <a:pPr marL="0" lvl="0" indent="0" algn="l">
              <a:lnSpc>
                <a:spcPts val="3921"/>
              </a:lnSpc>
              <a:spcBef>
                <a:spcPct val="0"/>
              </a:spcBef>
            </a:pPr>
            <a:r>
              <a:rPr lang="fr-FR" sz="2400" b="1" u="none" strike="noStrike" dirty="0">
                <a:solidFill>
                  <a:srgbClr val="358F5C"/>
                </a:solidFill>
                <a:latin typeface="Telegraf Bold"/>
                <a:ea typeface="Telegraf Bold"/>
                <a:cs typeface="Telegraf Bold"/>
                <a:sym typeface="Telegraf Bold"/>
              </a:rPr>
              <a:t>Tableau de modélisation financière – Scénarios pessimiste et optimiste : </a:t>
            </a:r>
            <a:endParaRPr lang="en-US" sz="2400" b="1" u="none" strike="noStrike" dirty="0">
              <a:solidFill>
                <a:srgbClr val="358F5C"/>
              </a:solidFill>
              <a:latin typeface="Telegraf Bold"/>
              <a:ea typeface="Telegraf Bold"/>
              <a:cs typeface="Telegraf Bold"/>
              <a:sym typeface="Telegraf Bold"/>
            </a:endParaRPr>
          </a:p>
        </p:txBody>
      </p:sp>
    </p:spTree>
    <p:extLst>
      <p:ext uri="{BB962C8B-B14F-4D97-AF65-F5344CB8AC3E}">
        <p14:creationId xmlns:p14="http://schemas.microsoft.com/office/powerpoint/2010/main" xmlns="" val="316681489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AFAFA"/>
        </a:solidFill>
        <a:effectLst/>
      </p:bgPr>
    </p:bg>
    <p:spTree>
      <p:nvGrpSpPr>
        <p:cNvPr id="1" name=""/>
        <p:cNvGrpSpPr/>
        <p:nvPr/>
      </p:nvGrpSpPr>
      <p:grpSpPr>
        <a:xfrm>
          <a:off x="0" y="0"/>
          <a:ext cx="0" cy="0"/>
          <a:chOff x="0" y="0"/>
          <a:chExt cx="0" cy="0"/>
        </a:xfrm>
      </p:grpSpPr>
      <p:sp>
        <p:nvSpPr>
          <p:cNvPr id="2" name="TextBox 2"/>
          <p:cNvSpPr txBox="1"/>
          <p:nvPr/>
        </p:nvSpPr>
        <p:spPr>
          <a:xfrm>
            <a:off x="2129081" y="9427631"/>
            <a:ext cx="1466120" cy="351790"/>
          </a:xfrm>
          <a:prstGeom prst="rect">
            <a:avLst/>
          </a:prstGeom>
        </p:spPr>
        <p:txBody>
          <a:bodyPr lIns="0" tIns="0" rIns="0" bIns="0" rtlCol="0" anchor="t">
            <a:spAutoFit/>
          </a:bodyPr>
          <a:lstStyle/>
          <a:p>
            <a:pPr algn="l">
              <a:lnSpc>
                <a:spcPts val="2659"/>
              </a:lnSpc>
              <a:spcBef>
                <a:spcPct val="0"/>
              </a:spcBef>
            </a:pPr>
            <a:r>
              <a:rPr lang="en-US" sz="1899" dirty="0">
                <a:solidFill>
                  <a:srgbClr val="0D0A1E"/>
                </a:solidFill>
                <a:latin typeface="Telegraf"/>
                <a:ea typeface="Telegraf"/>
                <a:cs typeface="Telegraf"/>
                <a:sym typeface="Telegraf"/>
              </a:rPr>
              <a:t>ROADMAP </a:t>
            </a:r>
          </a:p>
        </p:txBody>
      </p:sp>
      <p:sp>
        <p:nvSpPr>
          <p:cNvPr id="3" name="AutoShape 3"/>
          <p:cNvSpPr/>
          <p:nvPr/>
        </p:nvSpPr>
        <p:spPr>
          <a:xfrm>
            <a:off x="1993387" y="9482242"/>
            <a:ext cx="0" cy="317498"/>
          </a:xfrm>
          <a:prstGeom prst="line">
            <a:avLst/>
          </a:prstGeom>
          <a:ln w="38100" cap="flat">
            <a:solidFill>
              <a:srgbClr val="9CC453"/>
            </a:solidFill>
            <a:prstDash val="solid"/>
            <a:headEnd type="none" w="sm" len="sm"/>
            <a:tailEnd type="none" w="sm" len="sm"/>
          </a:ln>
        </p:spPr>
      </p:sp>
      <p:sp>
        <p:nvSpPr>
          <p:cNvPr id="4" name="AutoShape 4"/>
          <p:cNvSpPr/>
          <p:nvPr/>
        </p:nvSpPr>
        <p:spPr>
          <a:xfrm>
            <a:off x="3595201" y="9636864"/>
            <a:ext cx="12927150" cy="0"/>
          </a:xfrm>
          <a:prstGeom prst="line">
            <a:avLst/>
          </a:prstGeom>
          <a:ln w="9525" cap="flat">
            <a:solidFill>
              <a:srgbClr val="000000"/>
            </a:solidFill>
            <a:prstDash val="solid"/>
            <a:headEnd type="none" w="sm" len="sm"/>
            <a:tailEnd type="none" w="sm" len="sm"/>
          </a:ln>
        </p:spPr>
      </p:sp>
      <p:sp>
        <p:nvSpPr>
          <p:cNvPr id="7" name="TextBox 7"/>
          <p:cNvSpPr txBox="1"/>
          <p:nvPr/>
        </p:nvSpPr>
        <p:spPr>
          <a:xfrm>
            <a:off x="990600" y="168312"/>
            <a:ext cx="10748234" cy="2255520"/>
          </a:xfrm>
          <a:prstGeom prst="rect">
            <a:avLst/>
          </a:prstGeom>
        </p:spPr>
        <p:txBody>
          <a:bodyPr lIns="0" tIns="0" rIns="0" bIns="0" rtlCol="0" anchor="t">
            <a:spAutoFit/>
          </a:bodyPr>
          <a:lstStyle/>
          <a:p>
            <a:pPr algn="l">
              <a:lnSpc>
                <a:spcPts val="5880"/>
              </a:lnSpc>
            </a:pPr>
            <a:r>
              <a:rPr lang="en-US" sz="4200" b="1" dirty="0">
                <a:solidFill>
                  <a:srgbClr val="0D0A1E"/>
                </a:solidFill>
                <a:latin typeface="Telegraf Bold"/>
                <a:ea typeface="Telegraf Bold"/>
                <a:cs typeface="Telegraf Bold"/>
                <a:sym typeface="Telegraf Bold"/>
              </a:rPr>
              <a:t>ROADMAP DU PROJET ET STRATÉGIE DE DÉVELOPPEMENT</a:t>
            </a:r>
          </a:p>
          <a:p>
            <a:pPr algn="l">
              <a:lnSpc>
                <a:spcPts val="5880"/>
              </a:lnSpc>
              <a:spcBef>
                <a:spcPct val="0"/>
              </a:spcBef>
            </a:pPr>
            <a:endParaRPr lang="en-US" sz="4200" b="1" dirty="0">
              <a:solidFill>
                <a:srgbClr val="0D0A1E"/>
              </a:solidFill>
              <a:latin typeface="Telegraf Bold"/>
              <a:ea typeface="Telegraf Bold"/>
              <a:cs typeface="Telegraf Bold"/>
              <a:sym typeface="Telegraf Bold"/>
            </a:endParaRPr>
          </a:p>
        </p:txBody>
      </p:sp>
      <p:sp>
        <p:nvSpPr>
          <p:cNvPr id="8" name="TextBox 8"/>
          <p:cNvSpPr txBox="1"/>
          <p:nvPr/>
        </p:nvSpPr>
        <p:spPr>
          <a:xfrm>
            <a:off x="1592900" y="9435886"/>
            <a:ext cx="381437" cy="301365"/>
          </a:xfrm>
          <a:prstGeom prst="rect">
            <a:avLst/>
          </a:prstGeom>
        </p:spPr>
        <p:txBody>
          <a:bodyPr lIns="0" tIns="0" rIns="0" bIns="0" rtlCol="0" anchor="t">
            <a:spAutoFit/>
          </a:bodyPr>
          <a:lstStyle/>
          <a:p>
            <a:pPr algn="just">
              <a:lnSpc>
                <a:spcPts val="2520"/>
              </a:lnSpc>
              <a:spcBef>
                <a:spcPct val="0"/>
              </a:spcBef>
            </a:pPr>
            <a:r>
              <a:rPr lang="en-US" sz="1800" b="1" dirty="0">
                <a:solidFill>
                  <a:srgbClr val="0D0A1E"/>
                </a:solidFill>
                <a:latin typeface="Telegraf Bold"/>
                <a:ea typeface="Telegraf Bold"/>
                <a:cs typeface="Telegraf Bold"/>
                <a:sym typeface="Telegraf Bold"/>
              </a:rPr>
              <a:t>16</a:t>
            </a:r>
          </a:p>
        </p:txBody>
      </p:sp>
      <p:graphicFrame>
        <p:nvGraphicFramePr>
          <p:cNvPr id="9" name="Table 8">
            <a:extLst>
              <a:ext uri="{FF2B5EF4-FFF2-40B4-BE49-F238E27FC236}">
                <a16:creationId xmlns:a16="http://schemas.microsoft.com/office/drawing/2014/main" xmlns="" id="{96754B20-93E6-423C-983E-768382CD3459}"/>
              </a:ext>
            </a:extLst>
          </p:cNvPr>
          <p:cNvGraphicFramePr>
            <a:graphicFrameLocks noGrp="1"/>
          </p:cNvGraphicFramePr>
          <p:nvPr>
            <p:extLst>
              <p:ext uri="{D42A27DB-BD31-4B8C-83A1-F6EECF244321}">
                <p14:modId xmlns:p14="http://schemas.microsoft.com/office/powerpoint/2010/main" xmlns="" val="3226425818"/>
              </p:ext>
            </p:extLst>
          </p:nvPr>
        </p:nvGraphicFramePr>
        <p:xfrm>
          <a:off x="3048000" y="1600200"/>
          <a:ext cx="13428048" cy="7428408"/>
        </p:xfrm>
        <a:graphic>
          <a:graphicData uri="http://schemas.openxmlformats.org/drawingml/2006/table">
            <a:tbl>
              <a:tblPr/>
              <a:tblGrid>
                <a:gridCol w="3357012">
                  <a:extLst>
                    <a:ext uri="{9D8B030D-6E8A-4147-A177-3AD203B41FA5}">
                      <a16:colId xmlns:a16="http://schemas.microsoft.com/office/drawing/2014/main" xmlns="" val="748734416"/>
                    </a:ext>
                  </a:extLst>
                </a:gridCol>
                <a:gridCol w="3357012">
                  <a:extLst>
                    <a:ext uri="{9D8B030D-6E8A-4147-A177-3AD203B41FA5}">
                      <a16:colId xmlns:a16="http://schemas.microsoft.com/office/drawing/2014/main" xmlns="" val="1761479775"/>
                    </a:ext>
                  </a:extLst>
                </a:gridCol>
                <a:gridCol w="3357012">
                  <a:extLst>
                    <a:ext uri="{9D8B030D-6E8A-4147-A177-3AD203B41FA5}">
                      <a16:colId xmlns:a16="http://schemas.microsoft.com/office/drawing/2014/main" xmlns="" val="473029048"/>
                    </a:ext>
                  </a:extLst>
                </a:gridCol>
                <a:gridCol w="3357012">
                  <a:extLst>
                    <a:ext uri="{9D8B030D-6E8A-4147-A177-3AD203B41FA5}">
                      <a16:colId xmlns:a16="http://schemas.microsoft.com/office/drawing/2014/main" xmlns="" val="1593236793"/>
                    </a:ext>
                  </a:extLst>
                </a:gridCol>
              </a:tblGrid>
              <a:tr h="543195">
                <a:tc>
                  <a:txBody>
                    <a:bodyPr/>
                    <a:lstStyle/>
                    <a:p>
                      <a:endParaRPr lang="fr-FR" sz="500" dirty="0">
                        <a:effectLst/>
                      </a:endParaRPr>
                    </a:p>
                  </a:txBody>
                  <a:tcPr marL="22736" marR="22736" marT="11368" marB="11368" anchor="ctr">
                    <a:lnL w="8446" cap="flat" cmpd="sng" algn="ctr">
                      <a:solidFill>
                        <a:srgbClr val="000000"/>
                      </a:solidFill>
                      <a:prstDash val="solid"/>
                      <a:round/>
                      <a:headEnd type="none" w="med" len="med"/>
                      <a:tailEnd type="none" w="med" len="med"/>
                    </a:lnL>
                    <a:lnR w="8446" cap="flat" cmpd="sng" algn="ctr">
                      <a:solidFill>
                        <a:srgbClr val="000000"/>
                      </a:solidFill>
                      <a:prstDash val="solid"/>
                      <a:round/>
                      <a:headEnd type="none" w="med" len="med"/>
                      <a:tailEnd type="none" w="med" len="med"/>
                    </a:lnR>
                    <a:lnT w="8446" cap="flat" cmpd="sng" algn="ctr">
                      <a:solidFill>
                        <a:srgbClr val="000000"/>
                      </a:solidFill>
                      <a:prstDash val="solid"/>
                      <a:round/>
                      <a:headEnd type="none" w="med" len="med"/>
                      <a:tailEnd type="none" w="med" len="med"/>
                    </a:lnT>
                    <a:lnB w="8446" cap="flat" cmpd="sng" algn="ctr">
                      <a:solidFill>
                        <a:srgbClr val="000000"/>
                      </a:solidFill>
                      <a:prstDash val="solid"/>
                      <a:round/>
                      <a:headEnd type="none" w="med" len="med"/>
                      <a:tailEnd type="none" w="med" len="med"/>
                    </a:lnB>
                    <a:solidFill>
                      <a:srgbClr val="9BBB59"/>
                    </a:solidFill>
                  </a:tcPr>
                </a:tc>
                <a:tc>
                  <a:txBody>
                    <a:bodyPr/>
                    <a:lstStyle/>
                    <a:p>
                      <a:r>
                        <a:rPr lang="fr-FR" sz="1100" b="1" dirty="0">
                          <a:effectLst/>
                        </a:rPr>
                        <a:t>0–6 mois</a:t>
                      </a:r>
                    </a:p>
                  </a:txBody>
                  <a:tcPr marL="22736" marR="22736" marT="11368" marB="11368" anchor="ctr">
                    <a:lnL w="8446" cap="flat" cmpd="sng" algn="ctr">
                      <a:solidFill>
                        <a:srgbClr val="000000"/>
                      </a:solidFill>
                      <a:prstDash val="solid"/>
                      <a:round/>
                      <a:headEnd type="none" w="med" len="med"/>
                      <a:tailEnd type="none" w="med" len="med"/>
                    </a:lnL>
                    <a:lnR w="8446" cap="flat" cmpd="sng" algn="ctr">
                      <a:solidFill>
                        <a:srgbClr val="000000"/>
                      </a:solidFill>
                      <a:prstDash val="solid"/>
                      <a:round/>
                      <a:headEnd type="none" w="med" len="med"/>
                      <a:tailEnd type="none" w="med" len="med"/>
                    </a:lnR>
                    <a:lnT w="8446" cap="flat" cmpd="sng" algn="ctr">
                      <a:solidFill>
                        <a:srgbClr val="000000"/>
                      </a:solidFill>
                      <a:prstDash val="solid"/>
                      <a:round/>
                      <a:headEnd type="none" w="med" len="med"/>
                      <a:tailEnd type="none" w="med" len="med"/>
                    </a:lnT>
                    <a:lnB w="8446" cap="flat" cmpd="sng" algn="ctr">
                      <a:solidFill>
                        <a:srgbClr val="000000"/>
                      </a:solidFill>
                      <a:prstDash val="solid"/>
                      <a:round/>
                      <a:headEnd type="none" w="med" len="med"/>
                      <a:tailEnd type="none" w="med" len="med"/>
                    </a:lnB>
                    <a:solidFill>
                      <a:srgbClr val="9BBB59"/>
                    </a:solidFill>
                  </a:tcPr>
                </a:tc>
                <a:tc>
                  <a:txBody>
                    <a:bodyPr/>
                    <a:lstStyle/>
                    <a:p>
                      <a:pPr algn="ctr" rtl="0"/>
                      <a:r>
                        <a:rPr lang="fr-FR" sz="1600" b="1" i="0" dirty="0">
                          <a:solidFill>
                            <a:srgbClr val="000000"/>
                          </a:solidFill>
                          <a:effectLst/>
                        </a:rPr>
                        <a:t>6–12 mois</a:t>
                      </a:r>
                      <a:endParaRPr lang="fr-FR" sz="1600" b="1" i="0" dirty="0">
                        <a:solidFill>
                          <a:srgbClr val="FFFFFF"/>
                        </a:solidFill>
                        <a:effectLst/>
                      </a:endParaRPr>
                    </a:p>
                  </a:txBody>
                  <a:tcPr marL="22736" marR="22736" marT="11368" marB="11368" anchor="ctr">
                    <a:lnL w="8446" cap="flat" cmpd="sng" algn="ctr">
                      <a:solidFill>
                        <a:srgbClr val="000000"/>
                      </a:solidFill>
                      <a:prstDash val="solid"/>
                      <a:round/>
                      <a:headEnd type="none" w="med" len="med"/>
                      <a:tailEnd type="none" w="med" len="med"/>
                    </a:lnL>
                    <a:lnR w="8446" cap="flat" cmpd="sng" algn="ctr">
                      <a:solidFill>
                        <a:srgbClr val="000000"/>
                      </a:solidFill>
                      <a:prstDash val="solid"/>
                      <a:round/>
                      <a:headEnd type="none" w="med" len="med"/>
                      <a:tailEnd type="none" w="med" len="med"/>
                    </a:lnR>
                    <a:lnT w="8446" cap="flat" cmpd="sng" algn="ctr">
                      <a:solidFill>
                        <a:srgbClr val="000000"/>
                      </a:solidFill>
                      <a:prstDash val="solid"/>
                      <a:round/>
                      <a:headEnd type="none" w="med" len="med"/>
                      <a:tailEnd type="none" w="med" len="med"/>
                    </a:lnT>
                    <a:lnB w="8446" cap="flat" cmpd="sng" algn="ctr">
                      <a:solidFill>
                        <a:srgbClr val="000000"/>
                      </a:solidFill>
                      <a:prstDash val="solid"/>
                      <a:round/>
                      <a:headEnd type="none" w="med" len="med"/>
                      <a:tailEnd type="none" w="med" len="med"/>
                    </a:lnB>
                    <a:solidFill>
                      <a:srgbClr val="9BBB59"/>
                    </a:solidFill>
                  </a:tcPr>
                </a:tc>
                <a:tc>
                  <a:txBody>
                    <a:bodyPr/>
                    <a:lstStyle/>
                    <a:p>
                      <a:pPr algn="ctr"/>
                      <a:r>
                        <a:rPr lang="fr-FR" sz="1600" b="1" dirty="0">
                          <a:effectLst/>
                        </a:rPr>
                        <a:t>12–36 mois</a:t>
                      </a:r>
                    </a:p>
                  </a:txBody>
                  <a:tcPr marL="22736" marR="22736" marT="11368" marB="11368" anchor="ctr">
                    <a:lnL w="8446" cap="flat" cmpd="sng" algn="ctr">
                      <a:solidFill>
                        <a:srgbClr val="000000"/>
                      </a:solidFill>
                      <a:prstDash val="solid"/>
                      <a:round/>
                      <a:headEnd type="none" w="med" len="med"/>
                      <a:tailEnd type="none" w="med" len="med"/>
                    </a:lnL>
                    <a:lnR w="8446" cap="flat" cmpd="sng" algn="ctr">
                      <a:solidFill>
                        <a:srgbClr val="000000"/>
                      </a:solidFill>
                      <a:prstDash val="solid"/>
                      <a:round/>
                      <a:headEnd type="none" w="med" len="med"/>
                      <a:tailEnd type="none" w="med" len="med"/>
                    </a:lnR>
                    <a:lnT w="8446" cap="flat" cmpd="sng" algn="ctr">
                      <a:solidFill>
                        <a:srgbClr val="000000"/>
                      </a:solidFill>
                      <a:prstDash val="solid"/>
                      <a:round/>
                      <a:headEnd type="none" w="med" len="med"/>
                      <a:tailEnd type="none" w="med" len="med"/>
                    </a:lnT>
                    <a:lnB w="8446" cap="flat" cmpd="sng" algn="ctr">
                      <a:solidFill>
                        <a:srgbClr val="000000"/>
                      </a:solidFill>
                      <a:prstDash val="solid"/>
                      <a:round/>
                      <a:headEnd type="none" w="med" len="med"/>
                      <a:tailEnd type="none" w="med" len="med"/>
                    </a:lnB>
                    <a:solidFill>
                      <a:srgbClr val="9BBB59"/>
                    </a:solidFill>
                  </a:tcPr>
                </a:tc>
                <a:extLst>
                  <a:ext uri="{0D108BD9-81ED-4DB2-BD59-A6C34878D82A}">
                    <a16:rowId xmlns:a16="http://schemas.microsoft.com/office/drawing/2014/main" xmlns="" val="2293702337"/>
                  </a:ext>
                </a:extLst>
              </a:tr>
              <a:tr h="938832">
                <a:tc>
                  <a:txBody>
                    <a:bodyPr/>
                    <a:lstStyle/>
                    <a:p>
                      <a:pPr algn="ctr"/>
                      <a:r>
                        <a:rPr lang="fr-FR" sz="1400" b="1" dirty="0">
                          <a:effectLst/>
                        </a:rPr>
                        <a:t>DÉVELOPPEMENT TECHNIQUE</a:t>
                      </a:r>
                    </a:p>
                  </a:txBody>
                  <a:tcPr marL="22736" marR="22736" marT="11368" marB="11368" anchor="ctr">
                    <a:lnL w="8446" cap="flat" cmpd="sng" algn="ctr">
                      <a:solidFill>
                        <a:srgbClr val="000000"/>
                      </a:solidFill>
                      <a:prstDash val="solid"/>
                      <a:round/>
                      <a:headEnd type="none" w="med" len="med"/>
                      <a:tailEnd type="none" w="med" len="med"/>
                    </a:lnL>
                    <a:lnR w="8446" cap="flat" cmpd="sng" algn="ctr">
                      <a:solidFill>
                        <a:srgbClr val="000000"/>
                      </a:solidFill>
                      <a:prstDash val="solid"/>
                      <a:round/>
                      <a:headEnd type="none" w="med" len="med"/>
                      <a:tailEnd type="none" w="med" len="med"/>
                    </a:lnR>
                    <a:lnT w="8446" cap="flat" cmpd="sng" algn="ctr">
                      <a:solidFill>
                        <a:srgbClr val="000000"/>
                      </a:solidFill>
                      <a:prstDash val="solid"/>
                      <a:round/>
                      <a:headEnd type="none" w="med" len="med"/>
                      <a:tailEnd type="none" w="med" len="med"/>
                    </a:lnT>
                    <a:lnB w="8446" cap="flat" cmpd="sng" algn="ctr">
                      <a:solidFill>
                        <a:srgbClr val="000000"/>
                      </a:solidFill>
                      <a:prstDash val="solid"/>
                      <a:round/>
                      <a:headEnd type="none" w="med" len="med"/>
                      <a:tailEnd type="none" w="med" len="med"/>
                    </a:lnB>
                    <a:solidFill>
                      <a:srgbClr val="E7E7E7"/>
                    </a:solidFill>
                  </a:tcPr>
                </a:tc>
                <a:tc>
                  <a:txBody>
                    <a:bodyPr/>
                    <a:lstStyle/>
                    <a:p>
                      <a:pPr algn="l" rtl="0"/>
                      <a:r>
                        <a:rPr lang="fr-FR" sz="1400" b="0" i="0" dirty="0">
                          <a:solidFill>
                            <a:srgbClr val="000000"/>
                          </a:solidFill>
                          <a:effectLst/>
                        </a:rPr>
                        <a:t>-Application mobile.</a:t>
                      </a:r>
                      <a:endParaRPr lang="fr-FR" sz="1400" dirty="0">
                        <a:effectLst/>
                      </a:endParaRPr>
                    </a:p>
                    <a:p>
                      <a:pPr algn="l" rtl="0"/>
                      <a:r>
                        <a:rPr lang="fr-FR" sz="1400" b="0" i="0" dirty="0">
                          <a:solidFill>
                            <a:srgbClr val="000000"/>
                          </a:solidFill>
                          <a:effectLst/>
                        </a:rPr>
                        <a:t>-Collecte des données sur les cultures dans la région de Bouira.</a:t>
                      </a:r>
                      <a:endParaRPr lang="fr-FR" sz="1400" dirty="0">
                        <a:effectLst/>
                      </a:endParaRPr>
                    </a:p>
                  </a:txBody>
                  <a:tcPr marL="22736" marR="22736" marT="11368" marB="11368" anchor="ctr">
                    <a:lnL w="8446" cap="flat" cmpd="sng" algn="ctr">
                      <a:solidFill>
                        <a:srgbClr val="000000"/>
                      </a:solidFill>
                      <a:prstDash val="solid"/>
                      <a:round/>
                      <a:headEnd type="none" w="med" len="med"/>
                      <a:tailEnd type="none" w="med" len="med"/>
                    </a:lnL>
                    <a:lnR w="8446" cap="flat" cmpd="sng" algn="ctr">
                      <a:solidFill>
                        <a:srgbClr val="000000"/>
                      </a:solidFill>
                      <a:prstDash val="solid"/>
                      <a:round/>
                      <a:headEnd type="none" w="med" len="med"/>
                      <a:tailEnd type="none" w="med" len="med"/>
                    </a:lnR>
                    <a:lnT w="8446" cap="flat" cmpd="sng" algn="ctr">
                      <a:solidFill>
                        <a:srgbClr val="000000"/>
                      </a:solidFill>
                      <a:prstDash val="solid"/>
                      <a:round/>
                      <a:headEnd type="none" w="med" len="med"/>
                      <a:tailEnd type="none" w="med" len="med"/>
                    </a:lnT>
                    <a:lnB w="8446" cap="flat" cmpd="sng" algn="ctr">
                      <a:solidFill>
                        <a:srgbClr val="000000"/>
                      </a:solidFill>
                      <a:prstDash val="solid"/>
                      <a:round/>
                      <a:headEnd type="none" w="med" len="med"/>
                      <a:tailEnd type="none" w="med" len="med"/>
                    </a:lnB>
                    <a:solidFill>
                      <a:srgbClr val="E7E7E7"/>
                    </a:solidFill>
                  </a:tcPr>
                </a:tc>
                <a:tc>
                  <a:txBody>
                    <a:bodyPr/>
                    <a:lstStyle/>
                    <a:p>
                      <a:pPr algn="l" rtl="0"/>
                      <a:r>
                        <a:rPr lang="fr-FR" sz="1400" b="0" i="0" dirty="0">
                          <a:solidFill>
                            <a:srgbClr val="000000"/>
                          </a:solidFill>
                          <a:effectLst/>
                        </a:rPr>
                        <a:t>-La réalisation d’un algorithme national de contrôle des prix des produits agricole.</a:t>
                      </a:r>
                      <a:endParaRPr lang="fr-FR" sz="1400" dirty="0">
                        <a:effectLst/>
                      </a:endParaRPr>
                    </a:p>
                    <a:p>
                      <a:pPr algn="l" rtl="0"/>
                      <a:r>
                        <a:rPr lang="fr-FR" sz="1400" b="0" i="0" dirty="0">
                          <a:solidFill>
                            <a:srgbClr val="000000"/>
                          </a:solidFill>
                          <a:effectLst/>
                        </a:rPr>
                        <a:t>-Plateforme de traçabilité des produits agricoles.</a:t>
                      </a:r>
                      <a:endParaRPr lang="fr-FR" sz="1400" dirty="0">
                        <a:effectLst/>
                      </a:endParaRPr>
                    </a:p>
                  </a:txBody>
                  <a:tcPr marL="22736" marR="22736" marT="11368" marB="11368" anchor="ctr">
                    <a:lnL w="8446" cap="flat" cmpd="sng" algn="ctr">
                      <a:solidFill>
                        <a:srgbClr val="000000"/>
                      </a:solidFill>
                      <a:prstDash val="solid"/>
                      <a:round/>
                      <a:headEnd type="none" w="med" len="med"/>
                      <a:tailEnd type="none" w="med" len="med"/>
                    </a:lnL>
                    <a:lnR w="8446" cap="flat" cmpd="sng" algn="ctr">
                      <a:solidFill>
                        <a:srgbClr val="000000"/>
                      </a:solidFill>
                      <a:prstDash val="solid"/>
                      <a:round/>
                      <a:headEnd type="none" w="med" len="med"/>
                      <a:tailEnd type="none" w="med" len="med"/>
                    </a:lnR>
                    <a:lnT w="8446" cap="flat" cmpd="sng" algn="ctr">
                      <a:solidFill>
                        <a:srgbClr val="000000"/>
                      </a:solidFill>
                      <a:prstDash val="solid"/>
                      <a:round/>
                      <a:headEnd type="none" w="med" len="med"/>
                      <a:tailEnd type="none" w="med" len="med"/>
                    </a:lnT>
                    <a:lnB w="8446" cap="flat" cmpd="sng" algn="ctr">
                      <a:solidFill>
                        <a:srgbClr val="000000"/>
                      </a:solidFill>
                      <a:prstDash val="solid"/>
                      <a:round/>
                      <a:headEnd type="none" w="med" len="med"/>
                      <a:tailEnd type="none" w="med" len="med"/>
                    </a:lnB>
                    <a:solidFill>
                      <a:srgbClr val="E7E7E7"/>
                    </a:solidFill>
                  </a:tcPr>
                </a:tc>
                <a:tc>
                  <a:txBody>
                    <a:bodyPr/>
                    <a:lstStyle/>
                    <a:p>
                      <a:pPr algn="l" rtl="0"/>
                      <a:r>
                        <a:rPr lang="fr-FR" sz="1400" b="0" i="0" dirty="0">
                          <a:solidFill>
                            <a:srgbClr val="000000"/>
                          </a:solidFill>
                          <a:effectLst/>
                        </a:rPr>
                        <a:t>-Système de recommandation intelligent.</a:t>
                      </a:r>
                      <a:endParaRPr lang="fr-FR" sz="1400" dirty="0">
                        <a:effectLst/>
                      </a:endParaRPr>
                    </a:p>
                    <a:p>
                      <a:pPr algn="l" rtl="0"/>
                      <a:r>
                        <a:rPr lang="fr-FR" sz="1400" b="0" i="0" dirty="0">
                          <a:solidFill>
                            <a:srgbClr val="000000"/>
                          </a:solidFill>
                          <a:effectLst/>
                        </a:rPr>
                        <a:t>-Intégration IoT(Internet of Things).</a:t>
                      </a:r>
                      <a:endParaRPr lang="fr-FR" sz="1400" dirty="0">
                        <a:effectLst/>
                      </a:endParaRPr>
                    </a:p>
                  </a:txBody>
                  <a:tcPr marL="22736" marR="22736" marT="11368" marB="11368" anchor="ctr">
                    <a:lnL w="8446" cap="flat" cmpd="sng" algn="ctr">
                      <a:solidFill>
                        <a:srgbClr val="000000"/>
                      </a:solidFill>
                      <a:prstDash val="solid"/>
                      <a:round/>
                      <a:headEnd type="none" w="med" len="med"/>
                      <a:tailEnd type="none" w="med" len="med"/>
                    </a:lnL>
                    <a:lnR w="6350" cap="flat" cmpd="sng" algn="ctr">
                      <a:solidFill>
                        <a:srgbClr val="D9D9D9"/>
                      </a:solidFill>
                      <a:prstDash val="solid"/>
                      <a:round/>
                      <a:headEnd type="none" w="med" len="med"/>
                      <a:tailEnd type="none" w="med" len="med"/>
                    </a:lnR>
                    <a:lnT w="8446" cap="flat" cmpd="sng" algn="ctr">
                      <a:solidFill>
                        <a:srgbClr val="000000"/>
                      </a:solidFill>
                      <a:prstDash val="solid"/>
                      <a:round/>
                      <a:headEnd type="none" w="med" len="med"/>
                      <a:tailEnd type="none" w="med" len="med"/>
                    </a:lnT>
                    <a:lnB w="8446" cap="flat" cmpd="sng" algn="ctr">
                      <a:solidFill>
                        <a:srgbClr val="000000"/>
                      </a:solidFill>
                      <a:prstDash val="solid"/>
                      <a:round/>
                      <a:headEnd type="none" w="med" len="med"/>
                      <a:tailEnd type="none" w="med" len="med"/>
                    </a:lnB>
                    <a:solidFill>
                      <a:srgbClr val="E7E7E7"/>
                    </a:solidFill>
                  </a:tcPr>
                </a:tc>
                <a:extLst>
                  <a:ext uri="{0D108BD9-81ED-4DB2-BD59-A6C34878D82A}">
                    <a16:rowId xmlns:a16="http://schemas.microsoft.com/office/drawing/2014/main" xmlns="" val="2735755653"/>
                  </a:ext>
                </a:extLst>
              </a:tr>
              <a:tr h="1334468">
                <a:tc>
                  <a:txBody>
                    <a:bodyPr/>
                    <a:lstStyle/>
                    <a:p>
                      <a:pPr algn="ctr"/>
                      <a:r>
                        <a:rPr lang="fr-FR" sz="1400" b="1" dirty="0">
                          <a:effectLst/>
                        </a:rPr>
                        <a:t>LANCEMENT COMMERCIAL</a:t>
                      </a:r>
                    </a:p>
                  </a:txBody>
                  <a:tcPr marL="22736" marR="22736" marT="11368" marB="11368" anchor="ctr">
                    <a:lnL w="8446" cap="flat" cmpd="sng" algn="ctr">
                      <a:solidFill>
                        <a:srgbClr val="000000"/>
                      </a:solidFill>
                      <a:prstDash val="solid"/>
                      <a:round/>
                      <a:headEnd type="none" w="med" len="med"/>
                      <a:tailEnd type="none" w="med" len="med"/>
                    </a:lnL>
                    <a:lnR w="8446" cap="flat" cmpd="sng" algn="ctr">
                      <a:solidFill>
                        <a:srgbClr val="000000"/>
                      </a:solidFill>
                      <a:prstDash val="solid"/>
                      <a:round/>
                      <a:headEnd type="none" w="med" len="med"/>
                      <a:tailEnd type="none" w="med" len="med"/>
                    </a:lnR>
                    <a:lnT w="8446" cap="flat" cmpd="sng" algn="ctr">
                      <a:solidFill>
                        <a:srgbClr val="000000"/>
                      </a:solidFill>
                      <a:prstDash val="solid"/>
                      <a:round/>
                      <a:headEnd type="none" w="med" len="med"/>
                      <a:tailEnd type="none" w="med" len="med"/>
                    </a:lnT>
                    <a:lnB w="8446" cap="flat" cmpd="sng" algn="ctr">
                      <a:solidFill>
                        <a:srgbClr val="000000"/>
                      </a:solidFill>
                      <a:prstDash val="solid"/>
                      <a:round/>
                      <a:headEnd type="none" w="med" len="med"/>
                      <a:tailEnd type="none" w="med" len="med"/>
                    </a:lnB>
                    <a:solidFill>
                      <a:srgbClr val="FFFFFF"/>
                    </a:solidFill>
                  </a:tcPr>
                </a:tc>
                <a:tc>
                  <a:txBody>
                    <a:bodyPr/>
                    <a:lstStyle/>
                    <a:p>
                      <a:pPr algn="l" rtl="0"/>
                      <a:r>
                        <a:rPr lang="fr-FR" sz="1400" b="1" i="0" dirty="0">
                          <a:solidFill>
                            <a:srgbClr val="000000"/>
                          </a:solidFill>
                          <a:effectLst/>
                        </a:rPr>
                        <a:t>1. Présence terrain : </a:t>
                      </a:r>
                      <a:r>
                        <a:rPr lang="fr-FR" sz="1400" b="0" i="0" dirty="0">
                          <a:solidFill>
                            <a:srgbClr val="000000"/>
                          </a:solidFill>
                          <a:effectLst/>
                        </a:rPr>
                        <a:t>visites des marchés agricoles, coopératives et chambres d’agriculture pour présenter la plateforme.</a:t>
                      </a:r>
                      <a:endParaRPr lang="fr-FR" sz="1400" dirty="0">
                        <a:effectLst/>
                      </a:endParaRPr>
                    </a:p>
                    <a:p>
                      <a:pPr algn="l" rtl="0"/>
                      <a:r>
                        <a:rPr lang="fr-FR" sz="1400" b="1" i="0" dirty="0">
                          <a:solidFill>
                            <a:srgbClr val="000000"/>
                          </a:solidFill>
                          <a:effectLst/>
                        </a:rPr>
                        <a:t>2. Marketing digital local : </a:t>
                      </a:r>
                      <a:r>
                        <a:rPr lang="fr-FR" sz="1400" b="0" i="0" dirty="0">
                          <a:solidFill>
                            <a:srgbClr val="000000"/>
                          </a:solidFill>
                          <a:effectLst/>
                        </a:rPr>
                        <a:t>campagnes sponsorisées sur Facebook</a:t>
                      </a:r>
                      <a:endParaRPr lang="fr-FR" sz="1400" dirty="0">
                        <a:effectLst/>
                      </a:endParaRPr>
                    </a:p>
                    <a:p>
                      <a:pPr algn="l" rtl="0"/>
                      <a:r>
                        <a:rPr lang="fr-FR" sz="1400" b="1" i="0" dirty="0">
                          <a:solidFill>
                            <a:srgbClr val="000000"/>
                          </a:solidFill>
                          <a:effectLst/>
                        </a:rPr>
                        <a:t>3. Incentives gratuits : </a:t>
                      </a:r>
                      <a:r>
                        <a:rPr lang="fr-FR" sz="1400" b="0" i="0" dirty="0">
                          <a:solidFill>
                            <a:srgbClr val="000000"/>
                          </a:solidFill>
                          <a:effectLst/>
                        </a:rPr>
                        <a:t>utilisation gratuite pendant 3 mois + concours avec cadeaux (plants, petits outils).</a:t>
                      </a:r>
                      <a:endParaRPr lang="fr-FR" sz="1400" dirty="0">
                        <a:effectLst/>
                      </a:endParaRPr>
                    </a:p>
                  </a:txBody>
                  <a:tcPr marL="22736" marR="22736" marT="11368" marB="11368" anchor="ctr">
                    <a:lnL w="8446" cap="flat" cmpd="sng" algn="ctr">
                      <a:solidFill>
                        <a:srgbClr val="000000"/>
                      </a:solidFill>
                      <a:prstDash val="solid"/>
                      <a:round/>
                      <a:headEnd type="none" w="med" len="med"/>
                      <a:tailEnd type="none" w="med" len="med"/>
                    </a:lnL>
                    <a:lnR w="8446" cap="flat" cmpd="sng" algn="ctr">
                      <a:solidFill>
                        <a:srgbClr val="000000"/>
                      </a:solidFill>
                      <a:prstDash val="solid"/>
                      <a:round/>
                      <a:headEnd type="none" w="med" len="med"/>
                      <a:tailEnd type="none" w="med" len="med"/>
                    </a:lnR>
                    <a:lnT w="8446" cap="flat" cmpd="sng" algn="ctr">
                      <a:solidFill>
                        <a:srgbClr val="000000"/>
                      </a:solidFill>
                      <a:prstDash val="solid"/>
                      <a:round/>
                      <a:headEnd type="none" w="med" len="med"/>
                      <a:tailEnd type="none" w="med" len="med"/>
                    </a:lnT>
                    <a:lnB w="8446" cap="flat" cmpd="sng" algn="ctr">
                      <a:solidFill>
                        <a:srgbClr val="000000"/>
                      </a:solidFill>
                      <a:prstDash val="solid"/>
                      <a:round/>
                      <a:headEnd type="none" w="med" len="med"/>
                      <a:tailEnd type="none" w="med" len="med"/>
                    </a:lnB>
                    <a:solidFill>
                      <a:srgbClr val="FFFFFF"/>
                    </a:solidFill>
                  </a:tcPr>
                </a:tc>
                <a:tc>
                  <a:txBody>
                    <a:bodyPr/>
                    <a:lstStyle/>
                    <a:p>
                      <a:pPr algn="l" rtl="0"/>
                      <a:r>
                        <a:rPr lang="fr-FR" sz="1400" b="1" i="0" dirty="0">
                          <a:solidFill>
                            <a:srgbClr val="000000"/>
                          </a:solidFill>
                          <a:effectLst/>
                        </a:rPr>
                        <a:t>1. Réseau d’ambassadeurs locaux : </a:t>
                      </a:r>
                      <a:r>
                        <a:rPr lang="fr-FR" sz="1400" b="0" i="0" dirty="0">
                          <a:solidFill>
                            <a:srgbClr val="000000"/>
                          </a:solidFill>
                          <a:effectLst/>
                        </a:rPr>
                        <a:t>agriculteurs leaders qui recommandent la plateforme dans leurs régions.</a:t>
                      </a:r>
                      <a:endParaRPr lang="fr-FR" sz="1400" dirty="0">
                        <a:effectLst/>
                      </a:endParaRPr>
                    </a:p>
                    <a:p>
                      <a:pPr algn="l" rtl="0"/>
                      <a:r>
                        <a:rPr lang="fr-FR" sz="1400" b="1" i="0" dirty="0">
                          <a:solidFill>
                            <a:srgbClr val="000000"/>
                          </a:solidFill>
                          <a:effectLst/>
                        </a:rPr>
                        <a:t>2. Partenariats stratégiques </a:t>
                      </a:r>
                      <a:r>
                        <a:rPr lang="fr-FR" sz="1400" b="0" i="0" dirty="0">
                          <a:solidFill>
                            <a:srgbClr val="000000"/>
                          </a:solidFill>
                          <a:effectLst/>
                        </a:rPr>
                        <a:t>: avec des pépinières, laboratoires d’analyses de sol et sociétés de transport</a:t>
                      </a:r>
                      <a:endParaRPr lang="fr-FR" sz="1400" dirty="0">
                        <a:effectLst/>
                      </a:endParaRPr>
                    </a:p>
                    <a:p>
                      <a:pPr algn="l" rtl="0"/>
                      <a:r>
                        <a:rPr lang="fr-FR" sz="1400" b="1" i="0" dirty="0">
                          <a:solidFill>
                            <a:srgbClr val="000000"/>
                          </a:solidFill>
                          <a:effectLst/>
                        </a:rPr>
                        <a:t>3. Événements agricoles : </a:t>
                      </a:r>
                      <a:r>
                        <a:rPr lang="fr-FR" sz="1400" b="0" i="0" dirty="0">
                          <a:solidFill>
                            <a:srgbClr val="000000"/>
                          </a:solidFill>
                          <a:effectLst/>
                        </a:rPr>
                        <a:t>organisation d’ateliers + participation aux foires et salons nationaux pour sensibiliser les agriculteurs.</a:t>
                      </a:r>
                      <a:endParaRPr lang="fr-FR" sz="1400" dirty="0">
                        <a:effectLst/>
                      </a:endParaRPr>
                    </a:p>
                  </a:txBody>
                  <a:tcPr marL="22736" marR="22736" marT="11368" marB="11368" anchor="ctr">
                    <a:lnL w="8446" cap="flat" cmpd="sng" algn="ctr">
                      <a:solidFill>
                        <a:srgbClr val="000000"/>
                      </a:solidFill>
                      <a:prstDash val="solid"/>
                      <a:round/>
                      <a:headEnd type="none" w="med" len="med"/>
                      <a:tailEnd type="none" w="med" len="med"/>
                    </a:lnL>
                    <a:lnR w="8446" cap="flat" cmpd="sng" algn="ctr">
                      <a:solidFill>
                        <a:srgbClr val="000000"/>
                      </a:solidFill>
                      <a:prstDash val="solid"/>
                      <a:round/>
                      <a:headEnd type="none" w="med" len="med"/>
                      <a:tailEnd type="none" w="med" len="med"/>
                    </a:lnR>
                    <a:lnT w="8446" cap="flat" cmpd="sng" algn="ctr">
                      <a:solidFill>
                        <a:srgbClr val="000000"/>
                      </a:solidFill>
                      <a:prstDash val="solid"/>
                      <a:round/>
                      <a:headEnd type="none" w="med" len="med"/>
                      <a:tailEnd type="none" w="med" len="med"/>
                    </a:lnT>
                    <a:lnB w="8446" cap="flat" cmpd="sng" algn="ctr">
                      <a:solidFill>
                        <a:srgbClr val="000000"/>
                      </a:solidFill>
                      <a:prstDash val="solid"/>
                      <a:round/>
                      <a:headEnd type="none" w="med" len="med"/>
                      <a:tailEnd type="none" w="med" len="med"/>
                    </a:lnB>
                    <a:solidFill>
                      <a:srgbClr val="FFFFFF"/>
                    </a:solidFill>
                  </a:tcPr>
                </a:tc>
                <a:tc>
                  <a:txBody>
                    <a:bodyPr/>
                    <a:lstStyle/>
                    <a:p>
                      <a:pPr algn="l" rtl="0"/>
                      <a:r>
                        <a:rPr lang="fr-FR" sz="1400" b="1" i="0" dirty="0">
                          <a:solidFill>
                            <a:srgbClr val="000000"/>
                          </a:solidFill>
                          <a:effectLst/>
                        </a:rPr>
                        <a:t>1. Programme de fidélisation : </a:t>
                      </a:r>
                      <a:r>
                        <a:rPr lang="fr-FR" sz="1400" b="0" i="0" dirty="0">
                          <a:solidFill>
                            <a:srgbClr val="000000"/>
                          </a:solidFill>
                          <a:effectLst/>
                        </a:rPr>
                        <a:t>points, réductions et avantages pour transformer les utilisateurs en ambassadeurs naturels.</a:t>
                      </a:r>
                    </a:p>
                    <a:p>
                      <a:pPr algn="l" rtl="0"/>
                      <a:r>
                        <a:rPr lang="fr-FR" sz="1400" b="1" i="0" dirty="0">
                          <a:solidFill>
                            <a:srgbClr val="000000"/>
                          </a:solidFill>
                          <a:effectLst/>
                        </a:rPr>
                        <a:t>2. Collaboration institutionnelle : </a:t>
                      </a:r>
                      <a:r>
                        <a:rPr lang="fr-FR" sz="1400" b="0" i="0" dirty="0">
                          <a:solidFill>
                            <a:srgbClr val="000000"/>
                          </a:solidFill>
                          <a:effectLst/>
                        </a:rPr>
                        <a:t>partenariats avec ministères, banques agricoles et fonds de soutien pour élargir la base d’utilisateurs.</a:t>
                      </a:r>
                      <a:endParaRPr lang="fr-FR" sz="1400" dirty="0">
                        <a:effectLst/>
                      </a:endParaRPr>
                    </a:p>
                  </a:txBody>
                  <a:tcPr marL="22736" marR="22736" marT="11368" marB="11368" anchor="ctr">
                    <a:lnL w="8446" cap="flat" cmpd="sng" algn="ctr">
                      <a:solidFill>
                        <a:srgbClr val="000000"/>
                      </a:solidFill>
                      <a:prstDash val="solid"/>
                      <a:round/>
                      <a:headEnd type="none" w="med" len="med"/>
                      <a:tailEnd type="none" w="med" len="med"/>
                    </a:lnL>
                    <a:lnR w="8446" cap="flat" cmpd="sng" algn="ctr">
                      <a:solidFill>
                        <a:srgbClr val="000000"/>
                      </a:solidFill>
                      <a:prstDash val="solid"/>
                      <a:round/>
                      <a:headEnd type="none" w="med" len="med"/>
                      <a:tailEnd type="none" w="med" len="med"/>
                    </a:lnR>
                    <a:lnT w="8446" cap="flat" cmpd="sng" algn="ctr">
                      <a:solidFill>
                        <a:srgbClr val="000000"/>
                      </a:solidFill>
                      <a:prstDash val="solid"/>
                      <a:round/>
                      <a:headEnd type="none" w="med" len="med"/>
                      <a:tailEnd type="none" w="med" len="med"/>
                    </a:lnT>
                    <a:lnB w="8446"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xmlns="" val="528464383"/>
                  </a:ext>
                </a:extLst>
              </a:tr>
              <a:tr h="1730105">
                <a:tc>
                  <a:txBody>
                    <a:bodyPr/>
                    <a:lstStyle/>
                    <a:p>
                      <a:pPr algn="ctr"/>
                      <a:r>
                        <a:rPr lang="fr-FR" sz="1400" b="1" dirty="0">
                          <a:effectLst/>
                        </a:rPr>
                        <a:t>EXPANSION</a:t>
                      </a:r>
                    </a:p>
                  </a:txBody>
                  <a:tcPr marL="22736" marR="22736" marT="11368" marB="11368" anchor="ctr">
                    <a:lnL w="8446" cap="flat" cmpd="sng" algn="ctr">
                      <a:solidFill>
                        <a:srgbClr val="000000"/>
                      </a:solidFill>
                      <a:prstDash val="solid"/>
                      <a:round/>
                      <a:headEnd type="none" w="med" len="med"/>
                      <a:tailEnd type="none" w="med" len="med"/>
                    </a:lnL>
                    <a:lnR w="8446" cap="flat" cmpd="sng" algn="ctr">
                      <a:solidFill>
                        <a:srgbClr val="000000"/>
                      </a:solidFill>
                      <a:prstDash val="solid"/>
                      <a:round/>
                      <a:headEnd type="none" w="med" len="med"/>
                      <a:tailEnd type="none" w="med" len="med"/>
                    </a:lnR>
                    <a:lnT w="8446" cap="flat" cmpd="sng" algn="ctr">
                      <a:solidFill>
                        <a:srgbClr val="000000"/>
                      </a:solidFill>
                      <a:prstDash val="solid"/>
                      <a:round/>
                      <a:headEnd type="none" w="med" len="med"/>
                      <a:tailEnd type="none" w="med" len="med"/>
                    </a:lnT>
                    <a:lnB w="8446" cap="flat" cmpd="sng" algn="ctr">
                      <a:solidFill>
                        <a:srgbClr val="000000"/>
                      </a:solidFill>
                      <a:prstDash val="solid"/>
                      <a:round/>
                      <a:headEnd type="none" w="med" len="med"/>
                      <a:tailEnd type="none" w="med" len="med"/>
                    </a:lnB>
                    <a:solidFill>
                      <a:srgbClr val="E7E7E7"/>
                    </a:solidFill>
                  </a:tcPr>
                </a:tc>
                <a:tc>
                  <a:txBody>
                    <a:bodyPr/>
                    <a:lstStyle/>
                    <a:p>
                      <a:pPr algn="l" rtl="0"/>
                      <a:r>
                        <a:rPr lang="fr-FR" sz="1400" b="0" i="0" dirty="0">
                          <a:solidFill>
                            <a:srgbClr val="000000"/>
                          </a:solidFill>
                          <a:effectLst/>
                        </a:rPr>
                        <a:t>Atteindre 1 00 utilisateurs actifs</a:t>
                      </a:r>
                      <a:endParaRPr lang="fr-FR" sz="1400" dirty="0">
                        <a:effectLst/>
                      </a:endParaRPr>
                    </a:p>
                    <a:p>
                      <a:pPr algn="l" rtl="0"/>
                      <a:r>
                        <a:rPr lang="fr-FR" sz="1400" b="0" i="0" dirty="0">
                          <a:solidFill>
                            <a:srgbClr val="000000"/>
                          </a:solidFill>
                          <a:effectLst/>
                        </a:rPr>
                        <a:t>Conclure 3 partenariats </a:t>
                      </a:r>
                      <a:endParaRPr lang="fr-FR" sz="1400" dirty="0">
                        <a:effectLst/>
                      </a:endParaRPr>
                    </a:p>
                    <a:p>
                      <a:pPr algn="l" rtl="0"/>
                      <a:r>
                        <a:rPr lang="fr-FR" sz="1400" b="0" i="0" dirty="0">
                          <a:solidFill>
                            <a:srgbClr val="000000"/>
                          </a:solidFill>
                          <a:effectLst/>
                        </a:rPr>
                        <a:t>Obtenir et exécuter des projets locaux dans la wilaya de Bouira, principalement dans le domaine de la main-d’œuvre agricole.</a:t>
                      </a:r>
                      <a:endParaRPr lang="fr-FR" sz="1400" dirty="0">
                        <a:effectLst/>
                      </a:endParaRPr>
                    </a:p>
                  </a:txBody>
                  <a:tcPr marL="22736" marR="22736" marT="11368" marB="11368" anchor="ctr">
                    <a:lnL w="8446" cap="flat" cmpd="sng" algn="ctr">
                      <a:solidFill>
                        <a:srgbClr val="000000"/>
                      </a:solidFill>
                      <a:prstDash val="solid"/>
                      <a:round/>
                      <a:headEnd type="none" w="med" len="med"/>
                      <a:tailEnd type="none" w="med" len="med"/>
                    </a:lnL>
                    <a:lnR w="8446" cap="flat" cmpd="sng" algn="ctr">
                      <a:solidFill>
                        <a:srgbClr val="000000"/>
                      </a:solidFill>
                      <a:prstDash val="solid"/>
                      <a:round/>
                      <a:headEnd type="none" w="med" len="med"/>
                      <a:tailEnd type="none" w="med" len="med"/>
                    </a:lnR>
                    <a:lnT w="8446" cap="flat" cmpd="sng" algn="ctr">
                      <a:solidFill>
                        <a:srgbClr val="000000"/>
                      </a:solidFill>
                      <a:prstDash val="solid"/>
                      <a:round/>
                      <a:headEnd type="none" w="med" len="med"/>
                      <a:tailEnd type="none" w="med" len="med"/>
                    </a:lnT>
                    <a:lnB w="8446" cap="flat" cmpd="sng" algn="ctr">
                      <a:solidFill>
                        <a:srgbClr val="000000"/>
                      </a:solidFill>
                      <a:prstDash val="solid"/>
                      <a:round/>
                      <a:headEnd type="none" w="med" len="med"/>
                      <a:tailEnd type="none" w="med" len="med"/>
                    </a:lnB>
                    <a:solidFill>
                      <a:srgbClr val="E7E7E7"/>
                    </a:solidFill>
                  </a:tcPr>
                </a:tc>
                <a:tc>
                  <a:txBody>
                    <a:bodyPr/>
                    <a:lstStyle/>
                    <a:p>
                      <a:pPr algn="l" rtl="0"/>
                      <a:r>
                        <a:rPr lang="fr-FR" sz="1400" b="0" i="0" dirty="0">
                          <a:solidFill>
                            <a:srgbClr val="000000"/>
                          </a:solidFill>
                          <a:effectLst/>
                        </a:rPr>
                        <a:t>1 000 transactions par mois sur la plateforme.</a:t>
                      </a:r>
                      <a:endParaRPr lang="fr-FR" sz="1400" dirty="0">
                        <a:effectLst/>
                      </a:endParaRPr>
                    </a:p>
                    <a:p>
                      <a:pPr algn="l" rtl="0"/>
                      <a:r>
                        <a:rPr lang="fr-FR" sz="1400" b="0" i="0" dirty="0">
                          <a:solidFill>
                            <a:srgbClr val="000000"/>
                          </a:solidFill>
                          <a:effectLst/>
                        </a:rPr>
                        <a:t>5 partenariats stratégiques avec des entreprises agricoles </a:t>
                      </a:r>
                      <a:endParaRPr lang="fr-FR" sz="1400" dirty="0">
                        <a:effectLst/>
                      </a:endParaRPr>
                    </a:p>
                    <a:p>
                      <a:pPr algn="l" rtl="0"/>
                      <a:r>
                        <a:rPr lang="fr-FR" sz="1400" b="0" i="0" dirty="0">
                          <a:solidFill>
                            <a:srgbClr val="000000"/>
                          </a:solidFill>
                          <a:effectLst/>
                        </a:rPr>
                        <a:t>Superviser et coordonner des projets à l’échelle de la wilaya, en élargissant notre offre de main-d’œuvre qualifiée et nos services directs.</a:t>
                      </a:r>
                      <a:endParaRPr lang="fr-FR" sz="1400" dirty="0">
                        <a:effectLst/>
                      </a:endParaRPr>
                    </a:p>
                  </a:txBody>
                  <a:tcPr marL="22736" marR="22736" marT="11368" marB="11368" anchor="ctr">
                    <a:lnL w="8446" cap="flat" cmpd="sng" algn="ctr">
                      <a:solidFill>
                        <a:srgbClr val="000000"/>
                      </a:solidFill>
                      <a:prstDash val="solid"/>
                      <a:round/>
                      <a:headEnd type="none" w="med" len="med"/>
                      <a:tailEnd type="none" w="med" len="med"/>
                    </a:lnL>
                    <a:lnR w="8446" cap="flat" cmpd="sng" algn="ctr">
                      <a:solidFill>
                        <a:srgbClr val="000000"/>
                      </a:solidFill>
                      <a:prstDash val="solid"/>
                      <a:round/>
                      <a:headEnd type="none" w="med" len="med"/>
                      <a:tailEnd type="none" w="med" len="med"/>
                    </a:lnR>
                    <a:lnT w="8446" cap="flat" cmpd="sng" algn="ctr">
                      <a:solidFill>
                        <a:srgbClr val="000000"/>
                      </a:solidFill>
                      <a:prstDash val="solid"/>
                      <a:round/>
                      <a:headEnd type="none" w="med" len="med"/>
                      <a:tailEnd type="none" w="med" len="med"/>
                    </a:lnT>
                    <a:lnB w="8446" cap="flat" cmpd="sng" algn="ctr">
                      <a:solidFill>
                        <a:srgbClr val="000000"/>
                      </a:solidFill>
                      <a:prstDash val="solid"/>
                      <a:round/>
                      <a:headEnd type="none" w="med" len="med"/>
                      <a:tailEnd type="none" w="med" len="med"/>
                    </a:lnB>
                    <a:solidFill>
                      <a:srgbClr val="E7E7E7"/>
                    </a:solidFill>
                  </a:tcPr>
                </a:tc>
                <a:tc>
                  <a:txBody>
                    <a:bodyPr/>
                    <a:lstStyle/>
                    <a:p>
                      <a:pPr algn="l" rtl="0"/>
                      <a:r>
                        <a:rPr lang="fr-FR" sz="1400" b="0" i="0" dirty="0">
                          <a:solidFill>
                            <a:srgbClr val="000000"/>
                          </a:solidFill>
                          <a:effectLst/>
                        </a:rPr>
                        <a:t>Forte de la position stratégique de l’Algérie, la plateforme aspire à devenir la passerelle incontournable du marché agricole entre l’Afrique et l’Europe</a:t>
                      </a:r>
                      <a:endParaRPr lang="fr-FR" sz="1400" dirty="0">
                        <a:effectLst/>
                      </a:endParaRPr>
                    </a:p>
                    <a:p>
                      <a:pPr algn="l" rtl="0"/>
                      <a:r>
                        <a:rPr lang="fr-FR" sz="1400" b="0" i="0" dirty="0">
                          <a:solidFill>
                            <a:srgbClr val="000000"/>
                          </a:solidFill>
                          <a:effectLst/>
                        </a:rPr>
                        <a:t>Assurer la supervision et la gestion de l’ensemble des services de la plateforme dans les 58 wilayas du pays.</a:t>
                      </a:r>
                      <a:endParaRPr lang="fr-FR" sz="1400" dirty="0">
                        <a:effectLst/>
                      </a:endParaRPr>
                    </a:p>
                  </a:txBody>
                  <a:tcPr marL="22736" marR="22736" marT="11368" marB="11368" anchor="ctr">
                    <a:lnL w="8446" cap="flat" cmpd="sng" algn="ctr">
                      <a:solidFill>
                        <a:srgbClr val="000000"/>
                      </a:solidFill>
                      <a:prstDash val="solid"/>
                      <a:round/>
                      <a:headEnd type="none" w="med" len="med"/>
                      <a:tailEnd type="none" w="med" len="med"/>
                    </a:lnL>
                    <a:lnR w="8446" cap="flat" cmpd="sng" algn="ctr">
                      <a:solidFill>
                        <a:srgbClr val="000000"/>
                      </a:solidFill>
                      <a:prstDash val="solid"/>
                      <a:round/>
                      <a:headEnd type="none" w="med" len="med"/>
                      <a:tailEnd type="none" w="med" len="med"/>
                    </a:lnR>
                    <a:lnT w="8446" cap="flat" cmpd="sng" algn="ctr">
                      <a:solidFill>
                        <a:srgbClr val="000000"/>
                      </a:solidFill>
                      <a:prstDash val="solid"/>
                      <a:round/>
                      <a:headEnd type="none" w="med" len="med"/>
                      <a:tailEnd type="none" w="med" len="med"/>
                    </a:lnT>
                    <a:lnB w="8446" cap="flat" cmpd="sng" algn="ctr">
                      <a:solidFill>
                        <a:srgbClr val="000000"/>
                      </a:solidFill>
                      <a:prstDash val="solid"/>
                      <a:round/>
                      <a:headEnd type="none" w="med" len="med"/>
                      <a:tailEnd type="none" w="med" len="med"/>
                    </a:lnB>
                    <a:solidFill>
                      <a:srgbClr val="E7E7E7"/>
                    </a:solidFill>
                  </a:tcPr>
                </a:tc>
                <a:extLst>
                  <a:ext uri="{0D108BD9-81ED-4DB2-BD59-A6C34878D82A}">
                    <a16:rowId xmlns:a16="http://schemas.microsoft.com/office/drawing/2014/main" xmlns="" val="1482882388"/>
                  </a:ext>
                </a:extLst>
              </a:tr>
              <a:tr h="1334468">
                <a:tc>
                  <a:txBody>
                    <a:bodyPr/>
                    <a:lstStyle/>
                    <a:p>
                      <a:pPr algn="ctr"/>
                      <a:r>
                        <a:rPr lang="fr-FR" sz="1400" b="1" dirty="0">
                          <a:effectLst/>
                        </a:rPr>
                        <a:t>Ressources Humaines</a:t>
                      </a:r>
                    </a:p>
                  </a:txBody>
                  <a:tcPr marL="22736" marR="22736" marT="11368" marB="11368" anchor="ctr">
                    <a:lnL w="8446" cap="flat" cmpd="sng" algn="ctr">
                      <a:solidFill>
                        <a:srgbClr val="000000"/>
                      </a:solidFill>
                      <a:prstDash val="solid"/>
                      <a:round/>
                      <a:headEnd type="none" w="med" len="med"/>
                      <a:tailEnd type="none" w="med" len="med"/>
                    </a:lnL>
                    <a:lnR w="8446" cap="flat" cmpd="sng" algn="ctr">
                      <a:solidFill>
                        <a:srgbClr val="000000"/>
                      </a:solidFill>
                      <a:prstDash val="solid"/>
                      <a:round/>
                      <a:headEnd type="none" w="med" len="med"/>
                      <a:tailEnd type="none" w="med" len="med"/>
                    </a:lnR>
                    <a:lnT w="8446" cap="flat" cmpd="sng" algn="ctr">
                      <a:solidFill>
                        <a:srgbClr val="000000"/>
                      </a:solidFill>
                      <a:prstDash val="solid"/>
                      <a:round/>
                      <a:headEnd type="none" w="med" len="med"/>
                      <a:tailEnd type="none" w="med" len="med"/>
                    </a:lnT>
                    <a:lnB w="8446" cap="flat" cmpd="sng" algn="ctr">
                      <a:solidFill>
                        <a:srgbClr val="000000"/>
                      </a:solidFill>
                      <a:prstDash val="solid"/>
                      <a:round/>
                      <a:headEnd type="none" w="med" len="med"/>
                      <a:tailEnd type="none" w="med" len="med"/>
                    </a:lnB>
                    <a:solidFill>
                      <a:srgbClr val="FFFFFF"/>
                    </a:solidFill>
                  </a:tcPr>
                </a:tc>
                <a:tc>
                  <a:txBody>
                    <a:bodyPr/>
                    <a:lstStyle/>
                    <a:p>
                      <a:pPr algn="l" rtl="0"/>
                      <a:r>
                        <a:rPr lang="fr-FR" sz="1400" b="0" i="0" dirty="0">
                          <a:solidFill>
                            <a:srgbClr val="000000"/>
                          </a:solidFill>
                          <a:effectLst/>
                        </a:rPr>
                        <a:t>2 Développeurs informaticiens.</a:t>
                      </a:r>
                      <a:endParaRPr lang="fr-FR" sz="1400" dirty="0">
                        <a:effectLst/>
                      </a:endParaRPr>
                    </a:p>
                    <a:p>
                      <a:pPr algn="l" rtl="0"/>
                      <a:r>
                        <a:rPr lang="fr-FR" sz="1400" b="0" i="0" dirty="0">
                          <a:solidFill>
                            <a:srgbClr val="000000"/>
                          </a:solidFill>
                          <a:effectLst/>
                        </a:rPr>
                        <a:t>1responsable marketing /1 contable </a:t>
                      </a:r>
                      <a:endParaRPr lang="fr-FR" sz="1400" dirty="0">
                        <a:effectLst/>
                      </a:endParaRPr>
                    </a:p>
                    <a:p>
                      <a:pPr algn="l" rtl="0"/>
                      <a:r>
                        <a:rPr lang="fr-FR" sz="1400" b="0" i="0" dirty="0">
                          <a:solidFill>
                            <a:srgbClr val="000000"/>
                          </a:solidFill>
                          <a:effectLst/>
                        </a:rPr>
                        <a:t>Une équipe de 10 personnes pour main d’auvres </a:t>
                      </a:r>
                      <a:endParaRPr lang="fr-FR" sz="1400" dirty="0">
                        <a:effectLst/>
                      </a:endParaRPr>
                    </a:p>
                  </a:txBody>
                  <a:tcPr marL="22736" marR="22736" marT="11368" marB="11368" anchor="ctr">
                    <a:lnL w="8446" cap="flat" cmpd="sng" algn="ctr">
                      <a:solidFill>
                        <a:srgbClr val="000000"/>
                      </a:solidFill>
                      <a:prstDash val="solid"/>
                      <a:round/>
                      <a:headEnd type="none" w="med" len="med"/>
                      <a:tailEnd type="none" w="med" len="med"/>
                    </a:lnL>
                    <a:lnR w="8446" cap="flat" cmpd="sng" algn="ctr">
                      <a:solidFill>
                        <a:srgbClr val="000000"/>
                      </a:solidFill>
                      <a:prstDash val="solid"/>
                      <a:round/>
                      <a:headEnd type="none" w="med" len="med"/>
                      <a:tailEnd type="none" w="med" len="med"/>
                    </a:lnR>
                    <a:lnT w="8446" cap="flat" cmpd="sng" algn="ctr">
                      <a:solidFill>
                        <a:srgbClr val="000000"/>
                      </a:solidFill>
                      <a:prstDash val="solid"/>
                      <a:round/>
                      <a:headEnd type="none" w="med" len="med"/>
                      <a:tailEnd type="none" w="med" len="med"/>
                    </a:lnT>
                    <a:lnB w="8446" cap="flat" cmpd="sng" algn="ctr">
                      <a:solidFill>
                        <a:srgbClr val="000000"/>
                      </a:solidFill>
                      <a:prstDash val="solid"/>
                      <a:round/>
                      <a:headEnd type="none" w="med" len="med"/>
                      <a:tailEnd type="none" w="med" len="med"/>
                    </a:lnB>
                    <a:solidFill>
                      <a:srgbClr val="FFFFFF"/>
                    </a:solidFill>
                  </a:tcPr>
                </a:tc>
                <a:tc>
                  <a:txBody>
                    <a:bodyPr/>
                    <a:lstStyle/>
                    <a:p>
                      <a:pPr algn="l" rtl="0"/>
                      <a:r>
                        <a:rPr lang="fr-FR" sz="1400" b="0" i="0" dirty="0">
                          <a:solidFill>
                            <a:srgbClr val="000000"/>
                          </a:solidFill>
                          <a:effectLst/>
                        </a:rPr>
                        <a:t>2 développeurs informaticiens./3 marketer/</a:t>
                      </a:r>
                      <a:endParaRPr lang="fr-FR" sz="1400" dirty="0">
                        <a:effectLst/>
                      </a:endParaRPr>
                    </a:p>
                    <a:p>
                      <a:pPr algn="l" rtl="0"/>
                      <a:r>
                        <a:rPr lang="fr-FR" sz="1400" b="0" i="0" dirty="0">
                          <a:solidFill>
                            <a:srgbClr val="000000"/>
                          </a:solidFill>
                          <a:effectLst/>
                        </a:rPr>
                        <a:t>10 équipes de 10 de main d’auvres = 100 p/</a:t>
                      </a:r>
                      <a:endParaRPr lang="fr-FR" sz="1400" dirty="0">
                        <a:effectLst/>
                      </a:endParaRPr>
                    </a:p>
                    <a:p>
                      <a:pPr algn="l" rtl="0"/>
                      <a:r>
                        <a:rPr lang="fr-FR" sz="1400" b="0" i="0" dirty="0">
                          <a:solidFill>
                            <a:srgbClr val="000000"/>
                          </a:solidFill>
                          <a:effectLst/>
                        </a:rPr>
                        <a:t>1 contable /5 experts agricole</a:t>
                      </a:r>
                      <a:endParaRPr lang="fr-FR" sz="1400" dirty="0">
                        <a:effectLst/>
                      </a:endParaRPr>
                    </a:p>
                  </a:txBody>
                  <a:tcPr marL="22736" marR="22736" marT="11368" marB="11368" anchor="ctr">
                    <a:lnL w="8446" cap="flat" cmpd="sng" algn="ctr">
                      <a:solidFill>
                        <a:srgbClr val="000000"/>
                      </a:solidFill>
                      <a:prstDash val="solid"/>
                      <a:round/>
                      <a:headEnd type="none" w="med" len="med"/>
                      <a:tailEnd type="none" w="med" len="med"/>
                    </a:lnL>
                    <a:lnR w="8446" cap="flat" cmpd="sng" algn="ctr">
                      <a:solidFill>
                        <a:srgbClr val="000000"/>
                      </a:solidFill>
                      <a:prstDash val="solid"/>
                      <a:round/>
                      <a:headEnd type="none" w="med" len="med"/>
                      <a:tailEnd type="none" w="med" len="med"/>
                    </a:lnR>
                    <a:lnT w="8446" cap="flat" cmpd="sng" algn="ctr">
                      <a:solidFill>
                        <a:srgbClr val="000000"/>
                      </a:solidFill>
                      <a:prstDash val="solid"/>
                      <a:round/>
                      <a:headEnd type="none" w="med" len="med"/>
                      <a:tailEnd type="none" w="med" len="med"/>
                    </a:lnT>
                    <a:lnB w="8446" cap="flat" cmpd="sng" algn="ctr">
                      <a:solidFill>
                        <a:srgbClr val="000000"/>
                      </a:solidFill>
                      <a:prstDash val="solid"/>
                      <a:round/>
                      <a:headEnd type="none" w="med" len="med"/>
                      <a:tailEnd type="none" w="med" len="med"/>
                    </a:lnB>
                    <a:solidFill>
                      <a:srgbClr val="FFFFFF"/>
                    </a:solidFill>
                  </a:tcPr>
                </a:tc>
                <a:tc>
                  <a:txBody>
                    <a:bodyPr/>
                    <a:lstStyle/>
                    <a:p>
                      <a:pPr algn="l" rtl="0"/>
                      <a:r>
                        <a:rPr lang="fr-FR" sz="1400" b="0" i="0" dirty="0">
                          <a:solidFill>
                            <a:srgbClr val="000000"/>
                          </a:solidFill>
                          <a:effectLst/>
                        </a:rPr>
                        <a:t>10 développerus informaticiens / 10 marketer / </a:t>
                      </a:r>
                      <a:endParaRPr lang="fr-FR" sz="1400" dirty="0">
                        <a:effectLst/>
                      </a:endParaRPr>
                    </a:p>
                    <a:p>
                      <a:pPr algn="l" rtl="0"/>
                      <a:r>
                        <a:rPr lang="fr-FR" sz="1400" b="0" i="0" dirty="0">
                          <a:solidFill>
                            <a:srgbClr val="000000"/>
                          </a:solidFill>
                          <a:effectLst/>
                        </a:rPr>
                        <a:t>1000 main d’auvres de el ghella </a:t>
                      </a:r>
                      <a:endParaRPr lang="fr-FR" sz="1400" dirty="0">
                        <a:effectLst/>
                      </a:endParaRPr>
                    </a:p>
                    <a:p>
                      <a:pPr algn="l" rtl="0"/>
                      <a:r>
                        <a:rPr lang="fr-FR" sz="1400" b="0" i="0" dirty="0">
                          <a:solidFill>
                            <a:srgbClr val="000000"/>
                          </a:solidFill>
                          <a:effectLst/>
                        </a:rPr>
                        <a:t>2 contable/ 10 expert agricoles specialit télédétection</a:t>
                      </a:r>
                      <a:endParaRPr lang="fr-FR" sz="1400" dirty="0">
                        <a:effectLst/>
                      </a:endParaRPr>
                    </a:p>
                  </a:txBody>
                  <a:tcPr marL="22736" marR="22736" marT="11368" marB="11368" anchor="ctr">
                    <a:lnL w="8446" cap="flat" cmpd="sng" algn="ctr">
                      <a:solidFill>
                        <a:srgbClr val="000000"/>
                      </a:solidFill>
                      <a:prstDash val="solid"/>
                      <a:round/>
                      <a:headEnd type="none" w="med" len="med"/>
                      <a:tailEnd type="none" w="med" len="med"/>
                    </a:lnL>
                    <a:lnR w="8446" cap="flat" cmpd="sng" algn="ctr">
                      <a:solidFill>
                        <a:srgbClr val="000000"/>
                      </a:solidFill>
                      <a:prstDash val="solid"/>
                      <a:round/>
                      <a:headEnd type="none" w="med" len="med"/>
                      <a:tailEnd type="none" w="med" len="med"/>
                    </a:lnR>
                    <a:lnT w="8446" cap="flat" cmpd="sng" algn="ctr">
                      <a:solidFill>
                        <a:srgbClr val="000000"/>
                      </a:solidFill>
                      <a:prstDash val="solid"/>
                      <a:round/>
                      <a:headEnd type="none" w="med" len="med"/>
                      <a:tailEnd type="none" w="med" len="med"/>
                    </a:lnT>
                    <a:lnB w="8446"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xmlns="" val="162560760"/>
                  </a:ext>
                </a:extLst>
              </a:tr>
              <a:tr h="938832">
                <a:tc>
                  <a:txBody>
                    <a:bodyPr/>
                    <a:lstStyle/>
                    <a:p>
                      <a:pPr algn="ctr"/>
                      <a:r>
                        <a:rPr lang="fr-FR" sz="1400" b="1" dirty="0">
                          <a:effectLst/>
                        </a:rPr>
                        <a:t>Ressources techniques</a:t>
                      </a:r>
                    </a:p>
                  </a:txBody>
                  <a:tcPr marL="22736" marR="22736" marT="11368" marB="11368" anchor="ctr">
                    <a:lnL w="8446" cap="flat" cmpd="sng" algn="ctr">
                      <a:solidFill>
                        <a:srgbClr val="000000"/>
                      </a:solidFill>
                      <a:prstDash val="solid"/>
                      <a:round/>
                      <a:headEnd type="none" w="med" len="med"/>
                      <a:tailEnd type="none" w="med" len="med"/>
                    </a:lnL>
                    <a:lnR w="8446" cap="flat" cmpd="sng" algn="ctr">
                      <a:solidFill>
                        <a:srgbClr val="000000"/>
                      </a:solidFill>
                      <a:prstDash val="solid"/>
                      <a:round/>
                      <a:headEnd type="none" w="med" len="med"/>
                      <a:tailEnd type="none" w="med" len="med"/>
                    </a:lnR>
                    <a:lnT w="8446" cap="flat" cmpd="sng" algn="ctr">
                      <a:solidFill>
                        <a:srgbClr val="000000"/>
                      </a:solidFill>
                      <a:prstDash val="solid"/>
                      <a:round/>
                      <a:headEnd type="none" w="med" len="med"/>
                      <a:tailEnd type="none" w="med" len="med"/>
                    </a:lnT>
                    <a:lnB w="8446" cap="flat" cmpd="sng" algn="ctr">
                      <a:solidFill>
                        <a:srgbClr val="000000"/>
                      </a:solidFill>
                      <a:prstDash val="solid"/>
                      <a:round/>
                      <a:headEnd type="none" w="med" len="med"/>
                      <a:tailEnd type="none" w="med" len="med"/>
                    </a:lnB>
                    <a:solidFill>
                      <a:srgbClr val="E7E7E7"/>
                    </a:solidFill>
                  </a:tcPr>
                </a:tc>
                <a:tc>
                  <a:txBody>
                    <a:bodyPr/>
                    <a:lstStyle/>
                    <a:p>
                      <a:r>
                        <a:rPr lang="fr-FR" sz="1400" dirty="0">
                          <a:effectLst/>
                        </a:rPr>
                        <a:t>une base de données fiable (Firebase) .</a:t>
                      </a:r>
                    </a:p>
                  </a:txBody>
                  <a:tcPr marL="22736" marR="22736" marT="11368" marB="11368" anchor="ctr">
                    <a:lnL w="8446" cap="flat" cmpd="sng" algn="ctr">
                      <a:solidFill>
                        <a:srgbClr val="000000"/>
                      </a:solidFill>
                      <a:prstDash val="solid"/>
                      <a:round/>
                      <a:headEnd type="none" w="med" len="med"/>
                      <a:tailEnd type="none" w="med" len="med"/>
                    </a:lnL>
                    <a:lnR w="8446" cap="flat" cmpd="sng" algn="ctr">
                      <a:solidFill>
                        <a:srgbClr val="000000"/>
                      </a:solidFill>
                      <a:prstDash val="solid"/>
                      <a:round/>
                      <a:headEnd type="none" w="med" len="med"/>
                      <a:tailEnd type="none" w="med" len="med"/>
                    </a:lnR>
                    <a:lnT w="8446" cap="flat" cmpd="sng" algn="ctr">
                      <a:solidFill>
                        <a:srgbClr val="000000"/>
                      </a:solidFill>
                      <a:prstDash val="solid"/>
                      <a:round/>
                      <a:headEnd type="none" w="med" len="med"/>
                      <a:tailEnd type="none" w="med" len="med"/>
                    </a:lnT>
                    <a:lnB w="8446" cap="flat" cmpd="sng" algn="ctr">
                      <a:solidFill>
                        <a:srgbClr val="000000"/>
                      </a:solidFill>
                      <a:prstDash val="solid"/>
                      <a:round/>
                      <a:headEnd type="none" w="med" len="med"/>
                      <a:tailEnd type="none" w="med" len="med"/>
                    </a:lnB>
                    <a:solidFill>
                      <a:srgbClr val="E7E7E7"/>
                    </a:solidFill>
                  </a:tcPr>
                </a:tc>
                <a:tc>
                  <a:txBody>
                    <a:bodyPr/>
                    <a:lstStyle/>
                    <a:p>
                      <a:r>
                        <a:rPr lang="fr-FR" sz="1400" dirty="0">
                          <a:effectLst/>
                        </a:rPr>
                        <a:t>Accès à des données hyperspectrales pour analyses fines</a:t>
                      </a:r>
                    </a:p>
                  </a:txBody>
                  <a:tcPr marL="22736" marR="22736" marT="11368" marB="11368" anchor="ctr">
                    <a:lnL w="8446" cap="flat" cmpd="sng" algn="ctr">
                      <a:solidFill>
                        <a:srgbClr val="000000"/>
                      </a:solidFill>
                      <a:prstDash val="solid"/>
                      <a:round/>
                      <a:headEnd type="none" w="med" len="med"/>
                      <a:tailEnd type="none" w="med" len="med"/>
                    </a:lnL>
                    <a:lnR w="8446" cap="flat" cmpd="sng" algn="ctr">
                      <a:solidFill>
                        <a:srgbClr val="000000"/>
                      </a:solidFill>
                      <a:prstDash val="solid"/>
                      <a:round/>
                      <a:headEnd type="none" w="med" len="med"/>
                      <a:tailEnd type="none" w="med" len="med"/>
                    </a:lnR>
                    <a:lnT w="8446" cap="flat" cmpd="sng" algn="ctr">
                      <a:solidFill>
                        <a:srgbClr val="000000"/>
                      </a:solidFill>
                      <a:prstDash val="solid"/>
                      <a:round/>
                      <a:headEnd type="none" w="med" len="med"/>
                      <a:tailEnd type="none" w="med" len="med"/>
                    </a:lnT>
                    <a:lnB w="8446" cap="flat" cmpd="sng" algn="ctr">
                      <a:solidFill>
                        <a:srgbClr val="000000"/>
                      </a:solidFill>
                      <a:prstDash val="solid"/>
                      <a:round/>
                      <a:headEnd type="none" w="med" len="med"/>
                      <a:tailEnd type="none" w="med" len="med"/>
                    </a:lnB>
                    <a:solidFill>
                      <a:srgbClr val="E7E7E7"/>
                    </a:solidFill>
                  </a:tcPr>
                </a:tc>
                <a:tc>
                  <a:txBody>
                    <a:bodyPr/>
                    <a:lstStyle/>
                    <a:p>
                      <a:pPr algn="l" rtl="0"/>
                      <a:r>
                        <a:rPr lang="en-US" sz="1400" b="0" i="0" dirty="0">
                          <a:solidFill>
                            <a:srgbClr val="000000"/>
                          </a:solidFill>
                          <a:effectLst/>
                        </a:rPr>
                        <a:t>Infrastructure big data &amp; cloud évolutive</a:t>
                      </a:r>
                      <a:endParaRPr lang="en-US" sz="1400" dirty="0">
                        <a:effectLst/>
                      </a:endParaRPr>
                    </a:p>
                    <a:p>
                      <a:pPr algn="l" rtl="0"/>
                      <a:r>
                        <a:rPr lang="en-US" sz="1400" b="0" i="0" dirty="0">
                          <a:solidFill>
                            <a:srgbClr val="000000"/>
                          </a:solidFill>
                          <a:effectLst/>
                        </a:rPr>
                        <a:t>(AWS Elastic, Google BigQuery).</a:t>
                      </a:r>
                      <a:endParaRPr lang="en-US" sz="1400" dirty="0">
                        <a:effectLst/>
                      </a:endParaRPr>
                    </a:p>
                  </a:txBody>
                  <a:tcPr marL="22736" marR="22736" marT="11368" marB="11368" anchor="ctr">
                    <a:lnL w="8446" cap="flat" cmpd="sng" algn="ctr">
                      <a:solidFill>
                        <a:srgbClr val="000000"/>
                      </a:solidFill>
                      <a:prstDash val="solid"/>
                      <a:round/>
                      <a:headEnd type="none" w="med" len="med"/>
                      <a:tailEnd type="none" w="med" len="med"/>
                    </a:lnL>
                    <a:lnR w="8446" cap="flat" cmpd="sng" algn="ctr">
                      <a:solidFill>
                        <a:srgbClr val="000000"/>
                      </a:solidFill>
                      <a:prstDash val="solid"/>
                      <a:round/>
                      <a:headEnd type="none" w="med" len="med"/>
                      <a:tailEnd type="none" w="med" len="med"/>
                    </a:lnR>
                    <a:lnT w="8446" cap="flat" cmpd="sng" algn="ctr">
                      <a:solidFill>
                        <a:srgbClr val="000000"/>
                      </a:solidFill>
                      <a:prstDash val="solid"/>
                      <a:round/>
                      <a:headEnd type="none" w="med" len="med"/>
                      <a:tailEnd type="none" w="med" len="med"/>
                    </a:lnT>
                    <a:lnB w="8446" cap="flat" cmpd="sng" algn="ctr">
                      <a:solidFill>
                        <a:srgbClr val="000000"/>
                      </a:solidFill>
                      <a:prstDash val="solid"/>
                      <a:round/>
                      <a:headEnd type="none" w="med" len="med"/>
                      <a:tailEnd type="none" w="med" len="med"/>
                    </a:lnB>
                    <a:solidFill>
                      <a:srgbClr val="E7E7E7"/>
                    </a:solidFill>
                  </a:tcPr>
                </a:tc>
                <a:extLst>
                  <a:ext uri="{0D108BD9-81ED-4DB2-BD59-A6C34878D82A}">
                    <a16:rowId xmlns:a16="http://schemas.microsoft.com/office/drawing/2014/main" xmlns="" val="3678836756"/>
                  </a:ext>
                </a:extLst>
              </a:tr>
            </a:tbl>
          </a:graphicData>
        </a:graphic>
      </p:graphicFrame>
      <p:sp>
        <p:nvSpPr>
          <p:cNvPr id="10" name="Rectangle 6">
            <a:extLst>
              <a:ext uri="{FF2B5EF4-FFF2-40B4-BE49-F238E27FC236}">
                <a16:creationId xmlns:a16="http://schemas.microsoft.com/office/drawing/2014/main" xmlns="" id="{CBAF36D8-1EAF-45DE-BD30-4EFAF141E95D}"/>
              </a:ext>
            </a:extLst>
          </p:cNvPr>
          <p:cNvSpPr>
            <a:spLocks noChangeArrowheads="1"/>
          </p:cNvSpPr>
          <p:nvPr/>
        </p:nvSpPr>
        <p:spPr bwMode="auto">
          <a:xfrm>
            <a:off x="3549649" y="1600199"/>
            <a:ext cx="99598503" cy="64767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fr-FR"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AFAFA"/>
        </a:solidFill>
        <a:effectLst/>
      </p:bgPr>
    </p:bg>
    <p:spTree>
      <p:nvGrpSpPr>
        <p:cNvPr id="1" name=""/>
        <p:cNvGrpSpPr/>
        <p:nvPr/>
      </p:nvGrpSpPr>
      <p:grpSpPr>
        <a:xfrm>
          <a:off x="0" y="0"/>
          <a:ext cx="0" cy="0"/>
          <a:chOff x="0" y="0"/>
          <a:chExt cx="0" cy="0"/>
        </a:xfrm>
      </p:grpSpPr>
      <p:sp>
        <p:nvSpPr>
          <p:cNvPr id="2" name="Freeform 2"/>
          <p:cNvSpPr/>
          <p:nvPr/>
        </p:nvSpPr>
        <p:spPr>
          <a:xfrm rot="-1199392">
            <a:off x="7427971" y="5537399"/>
            <a:ext cx="13171332" cy="7441803"/>
          </a:xfrm>
          <a:custGeom>
            <a:avLst/>
            <a:gdLst/>
            <a:ahLst/>
            <a:cxnLst/>
            <a:rect l="l" t="t" r="r" b="b"/>
            <a:pathLst>
              <a:path w="13171332" h="7441803">
                <a:moveTo>
                  <a:pt x="0" y="0"/>
                </a:moveTo>
                <a:lnTo>
                  <a:pt x="13171333" y="0"/>
                </a:lnTo>
                <a:lnTo>
                  <a:pt x="13171333" y="7441802"/>
                </a:lnTo>
                <a:lnTo>
                  <a:pt x="0" y="7441802"/>
                </a:lnTo>
                <a:lnTo>
                  <a:pt x="0" y="0"/>
                </a:lnTo>
                <a:close/>
              </a:path>
            </a:pathLst>
          </a:custGeom>
          <a:blipFill>
            <a:blip r:embed="rId2">
              <a:alphaModFix amt="10999"/>
              <a:extLst>
                <a:ext uri="{96DAC541-7B7A-43D3-8B79-37D633B846F1}">
                  <asvg:svgBlip xmlns:asvg="http://schemas.microsoft.com/office/drawing/2016/SVG/main" xmlns="" r:embed="rId3"/>
                </a:ext>
              </a:extLst>
            </a:blip>
            <a:stretch>
              <a:fillRect/>
            </a:stretch>
          </a:blipFill>
        </p:spPr>
      </p:sp>
      <p:grpSp>
        <p:nvGrpSpPr>
          <p:cNvPr id="3" name="Group 3"/>
          <p:cNvGrpSpPr/>
          <p:nvPr/>
        </p:nvGrpSpPr>
        <p:grpSpPr>
          <a:xfrm>
            <a:off x="0" y="0"/>
            <a:ext cx="18288000" cy="7072457"/>
            <a:chOff x="0" y="0"/>
            <a:chExt cx="4816593" cy="1862705"/>
          </a:xfrm>
        </p:grpSpPr>
        <p:sp>
          <p:nvSpPr>
            <p:cNvPr id="4" name="Freeform 4"/>
            <p:cNvSpPr/>
            <p:nvPr/>
          </p:nvSpPr>
          <p:spPr>
            <a:xfrm>
              <a:off x="0" y="0"/>
              <a:ext cx="4816592" cy="1862705"/>
            </a:xfrm>
            <a:custGeom>
              <a:avLst/>
              <a:gdLst/>
              <a:ahLst/>
              <a:cxnLst/>
              <a:rect l="l" t="t" r="r" b="b"/>
              <a:pathLst>
                <a:path w="4816592" h="1862705">
                  <a:moveTo>
                    <a:pt x="0" y="0"/>
                  </a:moveTo>
                  <a:lnTo>
                    <a:pt x="4816592" y="0"/>
                  </a:lnTo>
                  <a:lnTo>
                    <a:pt x="4816592" y="1862705"/>
                  </a:lnTo>
                  <a:lnTo>
                    <a:pt x="0" y="1862705"/>
                  </a:lnTo>
                  <a:close/>
                </a:path>
              </a:pathLst>
            </a:custGeom>
            <a:solidFill>
              <a:srgbClr val="1E7042"/>
            </a:solidFill>
          </p:spPr>
        </p:sp>
        <p:sp>
          <p:nvSpPr>
            <p:cNvPr id="5" name="TextBox 5"/>
            <p:cNvSpPr txBox="1"/>
            <p:nvPr/>
          </p:nvSpPr>
          <p:spPr>
            <a:xfrm>
              <a:off x="0" y="-66675"/>
              <a:ext cx="4816593" cy="1929380"/>
            </a:xfrm>
            <a:prstGeom prst="rect">
              <a:avLst/>
            </a:prstGeom>
          </p:spPr>
          <p:txBody>
            <a:bodyPr lIns="50800" tIns="50800" rIns="50800" bIns="50800" rtlCol="0" anchor="ctr"/>
            <a:lstStyle/>
            <a:p>
              <a:pPr algn="ctr">
                <a:lnSpc>
                  <a:spcPts val="2520"/>
                </a:lnSpc>
              </a:pPr>
              <a:endParaRPr dirty="0"/>
            </a:p>
          </p:txBody>
        </p:sp>
      </p:grpSp>
      <p:sp>
        <p:nvSpPr>
          <p:cNvPr id="6" name="Freeform 6"/>
          <p:cNvSpPr/>
          <p:nvPr/>
        </p:nvSpPr>
        <p:spPr>
          <a:xfrm flipH="1">
            <a:off x="14605030" y="1212281"/>
            <a:ext cx="2340540" cy="2483331"/>
          </a:xfrm>
          <a:custGeom>
            <a:avLst/>
            <a:gdLst/>
            <a:ahLst/>
            <a:cxnLst/>
            <a:rect l="l" t="t" r="r" b="b"/>
            <a:pathLst>
              <a:path w="2340540" h="2483331">
                <a:moveTo>
                  <a:pt x="2340540" y="0"/>
                </a:moveTo>
                <a:lnTo>
                  <a:pt x="0" y="0"/>
                </a:lnTo>
                <a:lnTo>
                  <a:pt x="0" y="2483331"/>
                </a:lnTo>
                <a:lnTo>
                  <a:pt x="2340540" y="2483331"/>
                </a:lnTo>
                <a:lnTo>
                  <a:pt x="2340540" y="0"/>
                </a:lnTo>
                <a:close/>
              </a:path>
            </a:pathLst>
          </a:custGeom>
          <a:blipFill>
            <a:blip r:embed="rId4">
              <a:alphaModFix amt="25000"/>
              <a:extLst>
                <a:ext uri="{96DAC541-7B7A-43D3-8B79-37D633B846F1}">
                  <asvg:svgBlip xmlns:asvg="http://schemas.microsoft.com/office/drawing/2016/SVG/main" xmlns="" r:embed="rId5"/>
                </a:ext>
              </a:extLst>
            </a:blip>
            <a:stretch>
              <a:fillRect/>
            </a:stretch>
          </a:blipFill>
        </p:spPr>
      </p:sp>
      <p:grpSp>
        <p:nvGrpSpPr>
          <p:cNvPr id="7" name="Group 7"/>
          <p:cNvGrpSpPr/>
          <p:nvPr/>
        </p:nvGrpSpPr>
        <p:grpSpPr>
          <a:xfrm>
            <a:off x="1585523" y="4109046"/>
            <a:ext cx="122392" cy="429165"/>
            <a:chOff x="0" y="0"/>
            <a:chExt cx="159850" cy="560512"/>
          </a:xfrm>
        </p:grpSpPr>
        <p:sp>
          <p:nvSpPr>
            <p:cNvPr id="8" name="Freeform 8"/>
            <p:cNvSpPr/>
            <p:nvPr/>
          </p:nvSpPr>
          <p:spPr>
            <a:xfrm>
              <a:off x="0" y="0"/>
              <a:ext cx="159850" cy="560512"/>
            </a:xfrm>
            <a:custGeom>
              <a:avLst/>
              <a:gdLst/>
              <a:ahLst/>
              <a:cxnLst/>
              <a:rect l="l" t="t" r="r" b="b"/>
              <a:pathLst>
                <a:path w="159850" h="560512">
                  <a:moveTo>
                    <a:pt x="0" y="0"/>
                  </a:moveTo>
                  <a:lnTo>
                    <a:pt x="159850" y="0"/>
                  </a:lnTo>
                  <a:lnTo>
                    <a:pt x="159850" y="560512"/>
                  </a:lnTo>
                  <a:lnTo>
                    <a:pt x="0" y="560512"/>
                  </a:lnTo>
                  <a:close/>
                </a:path>
              </a:pathLst>
            </a:custGeom>
            <a:solidFill>
              <a:srgbClr val="9CC453"/>
            </a:solidFill>
          </p:spPr>
        </p:sp>
        <p:sp>
          <p:nvSpPr>
            <p:cNvPr id="9" name="TextBox 9"/>
            <p:cNvSpPr txBox="1"/>
            <p:nvPr/>
          </p:nvSpPr>
          <p:spPr>
            <a:xfrm>
              <a:off x="0" y="-66675"/>
              <a:ext cx="159850" cy="627187"/>
            </a:xfrm>
            <a:prstGeom prst="rect">
              <a:avLst/>
            </a:prstGeom>
          </p:spPr>
          <p:txBody>
            <a:bodyPr lIns="50800" tIns="50800" rIns="50800" bIns="50800" rtlCol="0" anchor="ctr"/>
            <a:lstStyle/>
            <a:p>
              <a:pPr algn="ctr">
                <a:lnSpc>
                  <a:spcPts val="2520"/>
                </a:lnSpc>
              </a:pPr>
              <a:endParaRPr dirty="0"/>
            </a:p>
          </p:txBody>
        </p:sp>
      </p:grpSp>
      <p:sp>
        <p:nvSpPr>
          <p:cNvPr id="10" name="TextBox 10"/>
          <p:cNvSpPr txBox="1"/>
          <p:nvPr/>
        </p:nvSpPr>
        <p:spPr>
          <a:xfrm>
            <a:off x="1741969" y="3269529"/>
            <a:ext cx="7402031" cy="1812926"/>
          </a:xfrm>
          <a:prstGeom prst="rect">
            <a:avLst/>
          </a:prstGeom>
        </p:spPr>
        <p:txBody>
          <a:bodyPr lIns="0" tIns="0" rIns="0" bIns="0" rtlCol="0" anchor="t">
            <a:spAutoFit/>
          </a:bodyPr>
          <a:lstStyle/>
          <a:p>
            <a:pPr algn="l">
              <a:lnSpc>
                <a:spcPts val="13999"/>
              </a:lnSpc>
              <a:spcBef>
                <a:spcPct val="0"/>
              </a:spcBef>
            </a:pPr>
            <a:r>
              <a:rPr lang="en-US" sz="9999" b="1" dirty="0">
                <a:solidFill>
                  <a:srgbClr val="FAFAFA"/>
                </a:solidFill>
                <a:latin typeface="Telegraf Bold"/>
                <a:ea typeface="Telegraf Bold"/>
                <a:cs typeface="Telegraf Bold"/>
                <a:sym typeface="Telegraf Bold"/>
              </a:rPr>
              <a:t>Merci</a:t>
            </a:r>
          </a:p>
        </p:txBody>
      </p:sp>
      <p:sp>
        <p:nvSpPr>
          <p:cNvPr id="11" name="Freeform 8">
            <a:extLst>
              <a:ext uri="{FF2B5EF4-FFF2-40B4-BE49-F238E27FC236}">
                <a16:creationId xmlns:a16="http://schemas.microsoft.com/office/drawing/2014/main" xmlns="" id="{C8DEBF6C-9044-4A8D-A38D-4DA0A8051F49}"/>
              </a:ext>
            </a:extLst>
          </p:cNvPr>
          <p:cNvSpPr/>
          <p:nvPr/>
        </p:nvSpPr>
        <p:spPr>
          <a:xfrm>
            <a:off x="15741911" y="7557221"/>
            <a:ext cx="2407317" cy="2407317"/>
          </a:xfrm>
          <a:custGeom>
            <a:avLst/>
            <a:gdLst/>
            <a:ahLst/>
            <a:cxnLst/>
            <a:rect l="l" t="t" r="r" b="b"/>
            <a:pathLst>
              <a:path w="2407317" h="2407317">
                <a:moveTo>
                  <a:pt x="0" y="0"/>
                </a:moveTo>
                <a:lnTo>
                  <a:pt x="2407318" y="0"/>
                </a:lnTo>
                <a:lnTo>
                  <a:pt x="2407318" y="2407317"/>
                </a:lnTo>
                <a:lnTo>
                  <a:pt x="0" y="2407317"/>
                </a:lnTo>
                <a:lnTo>
                  <a:pt x="0" y="0"/>
                </a:lnTo>
                <a:close/>
              </a:path>
            </a:pathLst>
          </a:custGeom>
          <a:blipFill>
            <a:blip r:embed="rId6"/>
            <a:stretch>
              <a:fillRect/>
            </a:stretch>
          </a:blipFill>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2735</TotalTime>
  <Words>2135</Words>
  <Application>Microsoft Office PowerPoint</Application>
  <PresentationFormat>Personnalisé</PresentationFormat>
  <Paragraphs>302</Paragraphs>
  <Slides>18</Slides>
  <Notes>1</Notes>
  <HiddenSlides>0</HiddenSlides>
  <MMClips>0</MMClips>
  <ScaleCrop>false</ScaleCrop>
  <HeadingPairs>
    <vt:vector size="6" baseType="variant">
      <vt:variant>
        <vt:lpstr>Polices utilisées</vt:lpstr>
      </vt:variant>
      <vt:variant>
        <vt:i4>8</vt:i4>
      </vt:variant>
      <vt:variant>
        <vt:lpstr>Thème</vt:lpstr>
      </vt:variant>
      <vt:variant>
        <vt:i4>1</vt:i4>
      </vt:variant>
      <vt:variant>
        <vt:lpstr>Titres des diapositives</vt:lpstr>
      </vt:variant>
      <vt:variant>
        <vt:i4>18</vt:i4>
      </vt:variant>
    </vt:vector>
  </HeadingPairs>
  <TitlesOfParts>
    <vt:vector size="27" baseType="lpstr">
      <vt:lpstr>Arial</vt:lpstr>
      <vt:lpstr>Calibri</vt:lpstr>
      <vt:lpstr>Telegraf Bold</vt:lpstr>
      <vt:lpstr>Telegraf</vt:lpstr>
      <vt:lpstr>Telegraf Ultra-Bold</vt:lpstr>
      <vt:lpstr>Poppins Bold</vt:lpstr>
      <vt:lpstr>Poppins</vt:lpstr>
      <vt:lpstr>Arimo</vt:lpstr>
      <vt:lpstr>Office Theme</vt:lpstr>
      <vt:lpstr>Diapositive 1</vt:lpstr>
      <vt:lpstr>Diapositive 2</vt:lpstr>
      <vt:lpstr>Diapositive 3</vt:lpstr>
      <vt:lpstr>Diapositive 4</vt:lpstr>
      <vt:lpstr>Diapositive 5</vt:lpstr>
      <vt:lpstr>Diapositive 6</vt:lpstr>
      <vt:lpstr>Diapositive 7</vt:lpstr>
      <vt:lpstr>Diapositive 8</vt:lpstr>
      <vt:lpstr>Diapositive 9</vt:lpstr>
      <vt:lpstr>Diapositive 10</vt:lpstr>
      <vt:lpstr>Diapositive 11</vt:lpstr>
      <vt:lpstr>Diapositive 12</vt:lpstr>
      <vt:lpstr>Diapositive 13</vt:lpstr>
      <vt:lpstr>Diapositive 14</vt:lpstr>
      <vt:lpstr>Diapositive 15</vt:lpstr>
      <vt:lpstr>Diapositive 16</vt:lpstr>
      <vt:lpstr>Diapositive 17</vt:lpstr>
      <vt:lpstr>Diapositive 18</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Copie de Black Elegant and Modern Startup Pitch Deck Presentation</dc:title>
  <dc:creator>26</dc:creator>
  <cp:lastModifiedBy>mza</cp:lastModifiedBy>
  <cp:revision>32</cp:revision>
  <dcterms:created xsi:type="dcterms:W3CDTF">2006-08-16T00:00:00Z</dcterms:created>
  <dcterms:modified xsi:type="dcterms:W3CDTF">2025-12-20T20:40:45Z</dcterms:modified>
  <dc:identifier>DAG0F0opumo</dc:identifier>
</cp:coreProperties>
</file>